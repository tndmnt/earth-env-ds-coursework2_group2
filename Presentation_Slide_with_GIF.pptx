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Glacial Indifference Bold" charset="1" panose="00000800000000000000"/>
      <p:regular r:id="rId35"/>
    </p:embeddedFont>
    <p:embeddedFont>
      <p:font typeface="Glacial Indifference" charset="1" panose="00000000000000000000"/>
      <p:regular r:id="rId36"/>
    </p:embeddedFont>
    <p:embeddedFont>
      <p:font typeface="HK Grotesk Bold" charset="1" panose="00000800000000000000"/>
      <p:regular r:id="rId41"/>
    </p:embeddedFont>
    <p:embeddedFont>
      <p:font typeface="HK Grotesk" charset="1" panose="00000500000000000000"/>
      <p:regular r:id="rId42"/>
    </p:embeddedFont>
    <p:embeddedFont>
      <p:font typeface="Poppins Bold" charset="1" panose="0000080000000000000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notesMasters/notesMaster1.xml" Type="http://schemas.openxmlformats.org/officeDocument/2006/relationships/notesMaster"/><Relationship Id="rId38" Target="theme/theme2.xml" Type="http://schemas.openxmlformats.org/officeDocument/2006/relationships/theme"/><Relationship Id="rId39" Target="notesSlides/notesSlide1.xml" Type="http://schemas.openxmlformats.org/officeDocument/2006/relationships/notesSlide"/><Relationship Id="rId4" Target="theme/theme1.xml" Type="http://schemas.openxmlformats.org/officeDocument/2006/relationships/theme"/><Relationship Id="rId40" Target="notesSlides/notesSlide2.xml" Type="http://schemas.openxmlformats.org/officeDocument/2006/relationships/note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this section, we will talk through the approach in selecting the top four European markets for expansion. Our goal was to ensure that only countries with strong legal frameworks and viable market conditions were prioritised and considered for further analysis.</a:t>
            </a:r>
          </a:p>
          <a:p>
            <a:r>
              <a:rPr lang="en-US"/>
              <a:t/>
            </a:r>
          </a:p>
          <a:p>
            <a:r>
              <a:rPr lang="en-US"/>
              <a:t>We started with an initial selection of the 10 European countries provided by the Papilo team —Austria, Belgium, France, Germany, Hungary, Italy, the Netherlands, Poland, and Spain. Our evaluation process was based on two key factors: Regulatory Analysis and Market Opportunities.</a:t>
            </a:r>
          </a:p>
          <a:p>
            <a:r>
              <a:rPr lang="en-US"/>
              <a:t/>
            </a:r>
          </a:p>
          <a:p>
            <a:r>
              <a:rPr lang="en-US"/>
              <a:t>Regulatory analysis included aspects like environmental compliance, taxation, operational requirements, and political stability. Meanwhile, market viability assessed factors such as market size, cultural readiness, workforce availability, and competitive intensity. Data for these metrics were collected from Eurostat, the World Bank, and the European Environmental Agency.</a:t>
            </a:r>
          </a:p>
          <a:p>
            <a:r>
              <a:rPr lang="en-US"/>
              <a:t/>
            </a:r>
          </a:p>
          <a:p>
            <a:r>
              <a:rPr lang="en-US"/>
              <a:t>By applying equal weight to both regulatory strength and market potential, we systematically ranked these countries to identify the top four that offer the best conditions for expansion.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following is the overview of the project scope and deliverables. </a:t>
            </a:r>
          </a:p>
          <a:p>
            <a:r>
              <a:rPr lang="en-US"/>
              <a:t> </a:t>
            </a:r>
          </a:p>
          <a:p>
            <a:r>
              <a:rPr lang="en-US"/>
              <a:t/>
            </a:r>
          </a:p>
          <a:p>
            <a:r>
              <a:rPr lang="en-US"/>
              <a:t>In the next few slides our team will focus on each phase's activities and data collection methodology in detail. </a:t>
            </a:r>
          </a:p>
          <a:p>
            <a:r>
              <a:rPr lang="en-US"/>
              <a:t/>
            </a:r>
          </a:p>
          <a:p>
            <a:r>
              <a:rPr lang="en-US"/>
              <a:t>Phase 1:</a:t>
            </a:r>
          </a:p>
          <a:p>
            <a:r>
              <a:rPr lang="en-US"/>
              <a:t>10 Markets namely Austria, Belgium, France, Germany, Hungary, Italy, The Netherlands, Poland, Spain, and Switzerland (henceforth refer to as ‘the Ten Markets)</a:t>
            </a:r>
          </a:p>
          <a:p>
            <a:r>
              <a:rPr lang="en-US"/>
              <a:t/>
            </a:r>
          </a:p>
          <a:p>
            <a:r>
              <a:rPr lang="en-US"/>
              <a:t>From Phase 2 onwards: </a:t>
            </a:r>
          </a:p>
          <a:p>
            <a:r>
              <a:rPr lang="en-US"/>
              <a:t>(Explain what we'll be doing for Phase 2 and 4) </a:t>
            </a:r>
          </a:p>
          <a:p>
            <a:r>
              <a:rPr lang="en-US"/>
              <a:t/>
            </a:r>
          </a:p>
          <a:p>
            <a:r>
              <a:rPr lang="en-US"/>
              <a:t>We will focus on the top few countries based on our analysis on Phase 1, as well as according to your inputs on which markets you are the most keen on entering based on existing resources and client base. </a:t>
            </a:r>
          </a:p>
          <a:p>
            <a:r>
              <a:rPr lang="en-US"/>
              <a:t>Based on the meetings the team had with Papilo, we understand that the 4 you would like to focus on are: Netherlands, Germany, France and Belgium</a:t>
            </a:r>
          </a:p>
          <a:p>
            <a:r>
              <a:rPr lang="en-US"/>
              <a:t/>
            </a:r>
          </a:p>
          <a:p>
            <a:r>
              <a:rPr lang="en-US"/>
              <a:t>At this point we just want to confirm with the team - would you like us to focus on these 4 countries with primary research and go to market plans? Or would you like us to determine the countries based on our secondary research analysis in Phase 1?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https://docs.google.com/spreadsheets/d/1DUF2isFWsqVSYhbaACYtbgcLi_YjDqpE3GLQIVgkKQg/edit#gid=69851113"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7.png" Type="http://schemas.openxmlformats.org/officeDocument/2006/relationships/image"/><Relationship Id="rId4"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 Id="rId3" Target="../media/VAGilmX7yRs.mp4" Type="http://schemas.openxmlformats.org/officeDocument/2006/relationships/video"/><Relationship Id="rId4" Target="../media/VAGilmX7yRs.mp4" Type="http://schemas.microsoft.com/office/2007/relationships/media"/><Relationship Id="rId5" Target="../media/image37.png" Type="http://schemas.openxmlformats.org/officeDocument/2006/relationships/image"/><Relationship Id="rId6" Target="../media/image3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jpeg" Type="http://schemas.openxmlformats.org/officeDocument/2006/relationships/image"/><Relationship Id="rId3" Target="../media/image40.png" Type="http://schemas.openxmlformats.org/officeDocument/2006/relationships/image"/><Relationship Id="rId4" Target="../media/image4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 Id="rId5" Target="../media/image45.png" Type="http://schemas.openxmlformats.org/officeDocument/2006/relationships/image"/><Relationship Id="rId6" Target="../media/image4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jpeg" Type="http://schemas.openxmlformats.org/officeDocument/2006/relationships/image"/><Relationship Id="rId3" Target="../media/image51.jpeg" Type="http://schemas.openxmlformats.org/officeDocument/2006/relationships/image"/><Relationship Id="rId4" Target="../media/image52.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jpeg" Type="http://schemas.openxmlformats.org/officeDocument/2006/relationships/image"/><Relationship Id="rId3" Target="../media/image55.jpeg" Type="http://schemas.openxmlformats.org/officeDocument/2006/relationships/image"/><Relationship Id="rId4" Target="../media/image56.jpeg" Type="http://schemas.openxmlformats.org/officeDocument/2006/relationships/image"/><Relationship Id="rId5" Target="../media/image57.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 Id="rId3" Target="../media/image63.svg" Type="http://schemas.openxmlformats.org/officeDocument/2006/relationships/image"/><Relationship Id="rId4" Target="../media/image6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71150" y="-1106859"/>
            <a:ext cx="12500768" cy="12500718"/>
            <a:chOff x="0" y="0"/>
            <a:chExt cx="6350000" cy="6349975"/>
          </a:xfrm>
        </p:grpSpPr>
        <p:sp>
          <p:nvSpPr>
            <p:cNvPr name="Freeform 3" id="3"/>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39086" t="0" r="-39086" b="0"/>
              </a:stretch>
            </a:blipFill>
          </p:spPr>
        </p:sp>
      </p:grpSp>
      <p:sp>
        <p:nvSpPr>
          <p:cNvPr name="Freeform 4" id="4"/>
          <p:cNvSpPr/>
          <p:nvPr/>
        </p:nvSpPr>
        <p:spPr>
          <a:xfrm flipH="false" flipV="false" rot="0">
            <a:off x="7973751" y="6415110"/>
            <a:ext cx="8727621" cy="7743780"/>
          </a:xfrm>
          <a:custGeom>
            <a:avLst/>
            <a:gdLst/>
            <a:ahLst/>
            <a:cxnLst/>
            <a:rect r="r" b="b" t="t" l="l"/>
            <a:pathLst>
              <a:path h="7743780" w="8727621">
                <a:moveTo>
                  <a:pt x="0" y="0"/>
                </a:moveTo>
                <a:lnTo>
                  <a:pt x="8727621" y="0"/>
                </a:lnTo>
                <a:lnTo>
                  <a:pt x="8727621" y="7743780"/>
                </a:lnTo>
                <a:lnTo>
                  <a:pt x="0" y="7743780"/>
                </a:lnTo>
                <a:lnTo>
                  <a:pt x="0" y="0"/>
                </a:lnTo>
                <a:close/>
              </a:path>
            </a:pathLst>
          </a:custGeom>
          <a:blipFill>
            <a:blip r:embed="rId3">
              <a:alphaModFix amt="19999"/>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28700" y="1019175"/>
            <a:ext cx="6945051" cy="4819650"/>
          </a:xfrm>
          <a:prstGeom prst="rect">
            <a:avLst/>
          </a:prstGeom>
        </p:spPr>
        <p:txBody>
          <a:bodyPr anchor="t" rtlCol="false" tIns="0" lIns="0" bIns="0" rIns="0">
            <a:spAutoFit/>
          </a:bodyPr>
          <a:lstStyle/>
          <a:p>
            <a:pPr algn="l" marL="0" indent="0" lvl="0">
              <a:lnSpc>
                <a:spcPts val="7623"/>
              </a:lnSpc>
            </a:pPr>
            <a:r>
              <a:rPr lang="en-US" b="true" sz="6352">
                <a:solidFill>
                  <a:srgbClr val="004247"/>
                </a:solidFill>
                <a:latin typeface="Glacial Indifference Bold"/>
                <a:ea typeface="Glacial Indifference Bold"/>
                <a:cs typeface="Glacial Indifference Bold"/>
                <a:sym typeface="Glacial Indifference Bold"/>
              </a:rPr>
              <a:t>Modelling the Impact of Climate Change on Soil Moisture and UK’s Future Agriculture</a:t>
            </a:r>
          </a:p>
        </p:txBody>
      </p:sp>
      <p:grpSp>
        <p:nvGrpSpPr>
          <p:cNvPr name="Group 6" id="6"/>
          <p:cNvGrpSpPr/>
          <p:nvPr/>
        </p:nvGrpSpPr>
        <p:grpSpPr>
          <a:xfrm rot="0">
            <a:off x="1028700" y="6525052"/>
            <a:ext cx="6620084" cy="2733248"/>
            <a:chOff x="0" y="0"/>
            <a:chExt cx="8826779" cy="3644331"/>
          </a:xfrm>
        </p:grpSpPr>
        <p:sp>
          <p:nvSpPr>
            <p:cNvPr name="TextBox 7" id="7"/>
            <p:cNvSpPr txBox="true"/>
            <p:nvPr/>
          </p:nvSpPr>
          <p:spPr>
            <a:xfrm rot="0">
              <a:off x="0" y="2461326"/>
              <a:ext cx="8826779" cy="1183005"/>
            </a:xfrm>
            <a:prstGeom prst="rect">
              <a:avLst/>
            </a:prstGeom>
          </p:spPr>
          <p:txBody>
            <a:bodyPr anchor="t" rtlCol="false" tIns="0" lIns="0" bIns="0" rIns="0">
              <a:spAutoFit/>
            </a:bodyPr>
            <a:lstStyle/>
            <a:p>
              <a:pPr algn="l" marL="0" indent="0" lvl="0">
                <a:lnSpc>
                  <a:spcPts val="3600"/>
                </a:lnSpc>
              </a:pPr>
              <a:r>
                <a:rPr lang="en-US" sz="2400">
                  <a:solidFill>
                    <a:srgbClr val="004247"/>
                  </a:solidFill>
                  <a:latin typeface="Glacial Indifference"/>
                  <a:ea typeface="Glacial Indifference"/>
                  <a:cs typeface="Glacial Indifference"/>
                  <a:sym typeface="Glacial Indifference"/>
                  <a:hlinkClick r:id="rId5" tooltip="https://docs.google.com/spreadsheets/d/1DUF2isFWsqVSYhbaACYtbgcLi_YjDqpE3GLQIVgkKQg/edit#gid=69851113"/>
                </a:rPr>
                <a:t>Group 2: Cameron Meekums-Spence, Huabin Ye, Tania Diamanta</a:t>
              </a:r>
            </a:p>
          </p:txBody>
        </p:sp>
        <p:sp>
          <p:nvSpPr>
            <p:cNvPr name="TextBox 8" id="8"/>
            <p:cNvSpPr txBox="true"/>
            <p:nvPr/>
          </p:nvSpPr>
          <p:spPr>
            <a:xfrm rot="0">
              <a:off x="0" y="-47625"/>
              <a:ext cx="8826779" cy="1805305"/>
            </a:xfrm>
            <a:prstGeom prst="rect">
              <a:avLst/>
            </a:prstGeom>
          </p:spPr>
          <p:txBody>
            <a:bodyPr anchor="t" rtlCol="false" tIns="0" lIns="0" bIns="0" rIns="0">
              <a:spAutoFit/>
            </a:bodyPr>
            <a:lstStyle/>
            <a:p>
              <a:pPr algn="l" marL="0" indent="0" lvl="0">
                <a:lnSpc>
                  <a:spcPts val="5460"/>
                </a:lnSpc>
              </a:pPr>
              <a:r>
                <a:rPr lang="en-US" sz="4200">
                  <a:solidFill>
                    <a:srgbClr val="004247"/>
                  </a:solidFill>
                  <a:latin typeface="Glacial Indifference"/>
                  <a:ea typeface="Glacial Indifference"/>
                  <a:cs typeface="Glacial Indifference"/>
                  <a:sym typeface="Glacial Indifference"/>
                </a:rPr>
                <a:t>Project 2</a:t>
              </a:r>
            </a:p>
            <a:p>
              <a:pPr algn="l" marL="0" indent="0" lvl="0">
                <a:lnSpc>
                  <a:spcPts val="5460"/>
                </a:lnSpc>
              </a:pPr>
              <a:r>
                <a:rPr lang="en-US" sz="4200">
                  <a:solidFill>
                    <a:srgbClr val="004247"/>
                  </a:solidFill>
                  <a:latin typeface="Glacial Indifference"/>
                  <a:ea typeface="Glacial Indifference"/>
                  <a:cs typeface="Glacial Indifference"/>
                  <a:sym typeface="Glacial Indifference"/>
                </a:rPr>
                <a:t>27 February 2025</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86806" y="2307906"/>
            <a:ext cx="573153" cy="57315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4D24"/>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1</a:t>
              </a:r>
            </a:p>
          </p:txBody>
        </p:sp>
      </p:grpSp>
      <p:sp>
        <p:nvSpPr>
          <p:cNvPr name="TextBox 5" id="5"/>
          <p:cNvSpPr txBox="true"/>
          <p:nvPr/>
        </p:nvSpPr>
        <p:spPr>
          <a:xfrm rot="0">
            <a:off x="1786806" y="581025"/>
            <a:ext cx="16262613" cy="1149348"/>
          </a:xfrm>
          <a:prstGeom prst="rect">
            <a:avLst/>
          </a:prstGeom>
        </p:spPr>
        <p:txBody>
          <a:bodyPr anchor="t" rtlCol="false" tIns="0" lIns="0" bIns="0" rIns="0">
            <a:spAutoFit/>
          </a:bodyPr>
          <a:lstStyle/>
          <a:p>
            <a:pPr algn="l" marL="0" indent="0" lvl="0">
              <a:lnSpc>
                <a:spcPts val="8799"/>
              </a:lnSpc>
            </a:pPr>
            <a:r>
              <a:rPr lang="en-US" b="true" sz="7999">
                <a:solidFill>
                  <a:srgbClr val="004247"/>
                </a:solidFill>
                <a:latin typeface="Glacial Indifference Bold"/>
                <a:ea typeface="Glacial Indifference Bold"/>
                <a:cs typeface="Glacial Indifference Bold"/>
                <a:sym typeface="Glacial Indifference Bold"/>
              </a:rPr>
              <a:t>Agenda</a:t>
            </a:r>
          </a:p>
        </p:txBody>
      </p:sp>
      <p:sp>
        <p:nvSpPr>
          <p:cNvPr name="TextBox 6" id="6"/>
          <p:cNvSpPr txBox="true"/>
          <p:nvPr/>
        </p:nvSpPr>
        <p:spPr>
          <a:xfrm rot="0">
            <a:off x="2854410" y="2410014"/>
            <a:ext cx="7063703" cy="397510"/>
          </a:xfrm>
          <a:prstGeom prst="rect">
            <a:avLst/>
          </a:prstGeom>
        </p:spPr>
        <p:txBody>
          <a:bodyPr anchor="t" rtlCol="false" tIns="0" lIns="0" bIns="0" rIns="0">
            <a:spAutoFit/>
          </a:bodyPr>
          <a:lstStyle/>
          <a:p>
            <a:pPr algn="l" marL="0" indent="0" lvl="0">
              <a:lnSpc>
                <a:spcPts val="3080"/>
              </a:lnSpc>
            </a:pPr>
            <a:r>
              <a:rPr lang="en-US" b="true" sz="2800">
                <a:solidFill>
                  <a:srgbClr val="004247"/>
                </a:solidFill>
                <a:latin typeface="Glacial Indifference Bold"/>
                <a:ea typeface="Glacial Indifference Bold"/>
                <a:cs typeface="Glacial Indifference Bold"/>
                <a:sym typeface="Glacial Indifference Bold"/>
              </a:rPr>
              <a:t>Project Background</a:t>
            </a:r>
          </a:p>
        </p:txBody>
      </p:sp>
      <p:sp>
        <p:nvSpPr>
          <p:cNvPr name="TextBox 7" id="7"/>
          <p:cNvSpPr txBox="true"/>
          <p:nvPr/>
        </p:nvSpPr>
        <p:spPr>
          <a:xfrm rot="0">
            <a:off x="2854410" y="3089656"/>
            <a:ext cx="11195719"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Scope</a:t>
            </a:r>
          </a:p>
        </p:txBody>
      </p:sp>
      <p:sp>
        <p:nvSpPr>
          <p:cNvPr name="TextBox 8" id="8"/>
          <p:cNvSpPr txBox="true"/>
          <p:nvPr/>
        </p:nvSpPr>
        <p:spPr>
          <a:xfrm rot="0">
            <a:off x="2854410" y="3772916"/>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Methodology</a:t>
            </a:r>
          </a:p>
        </p:txBody>
      </p:sp>
      <p:sp>
        <p:nvSpPr>
          <p:cNvPr name="TextBox 9" id="9"/>
          <p:cNvSpPr txBox="true"/>
          <p:nvPr/>
        </p:nvSpPr>
        <p:spPr>
          <a:xfrm rot="0">
            <a:off x="2854410" y="4445511"/>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The Datasets</a:t>
            </a:r>
          </a:p>
        </p:txBody>
      </p:sp>
      <p:sp>
        <p:nvSpPr>
          <p:cNvPr name="TextBox 10" id="10"/>
          <p:cNvSpPr txBox="true"/>
          <p:nvPr/>
        </p:nvSpPr>
        <p:spPr>
          <a:xfrm rot="0">
            <a:off x="2854410" y="518077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Data Preprocessing</a:t>
            </a:r>
          </a:p>
        </p:txBody>
      </p:sp>
      <p:sp>
        <p:nvSpPr>
          <p:cNvPr name="TextBox 11" id="11"/>
          <p:cNvSpPr txBox="true"/>
          <p:nvPr/>
        </p:nvSpPr>
        <p:spPr>
          <a:xfrm rot="0">
            <a:off x="2854410" y="5911662"/>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Exploratory Data Analysis</a:t>
            </a:r>
          </a:p>
        </p:txBody>
      </p:sp>
      <p:sp>
        <p:nvSpPr>
          <p:cNvPr name="TextBox 12" id="12"/>
          <p:cNvSpPr txBox="true"/>
          <p:nvPr/>
        </p:nvSpPr>
        <p:spPr>
          <a:xfrm rot="0">
            <a:off x="2854410" y="6589590"/>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Model Development</a:t>
            </a:r>
          </a:p>
        </p:txBody>
      </p:sp>
      <p:sp>
        <p:nvSpPr>
          <p:cNvPr name="TextBox 13" id="13"/>
          <p:cNvSpPr txBox="true"/>
          <p:nvPr/>
        </p:nvSpPr>
        <p:spPr>
          <a:xfrm rot="0">
            <a:off x="2854410" y="732466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Key Findings </a:t>
            </a:r>
          </a:p>
        </p:txBody>
      </p:sp>
      <p:sp>
        <p:nvSpPr>
          <p:cNvPr name="TextBox 14" id="14"/>
          <p:cNvSpPr txBox="true"/>
          <p:nvPr/>
        </p:nvSpPr>
        <p:spPr>
          <a:xfrm rot="0">
            <a:off x="2854410" y="8023604"/>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Further Research</a:t>
            </a:r>
          </a:p>
        </p:txBody>
      </p:sp>
      <p:grpSp>
        <p:nvGrpSpPr>
          <p:cNvPr name="Group 15" id="15"/>
          <p:cNvGrpSpPr/>
          <p:nvPr/>
        </p:nvGrpSpPr>
        <p:grpSpPr>
          <a:xfrm rot="0">
            <a:off x="1786806" y="2987547"/>
            <a:ext cx="573153" cy="57315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2</a:t>
              </a:r>
            </a:p>
          </p:txBody>
        </p:sp>
      </p:grpSp>
      <p:grpSp>
        <p:nvGrpSpPr>
          <p:cNvPr name="Group 18" id="18"/>
          <p:cNvGrpSpPr/>
          <p:nvPr/>
        </p:nvGrpSpPr>
        <p:grpSpPr>
          <a:xfrm rot="0">
            <a:off x="1786806" y="3665475"/>
            <a:ext cx="573153" cy="57315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0" id="20"/>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3</a:t>
              </a:r>
            </a:p>
          </p:txBody>
        </p:sp>
      </p:grpSp>
      <p:grpSp>
        <p:nvGrpSpPr>
          <p:cNvPr name="Group 21" id="21"/>
          <p:cNvGrpSpPr/>
          <p:nvPr/>
        </p:nvGrpSpPr>
        <p:grpSpPr>
          <a:xfrm rot="0">
            <a:off x="1786806" y="4343402"/>
            <a:ext cx="573153" cy="57315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3" id="23"/>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4</a:t>
              </a:r>
            </a:p>
          </p:txBody>
        </p:sp>
      </p:grpSp>
      <p:grpSp>
        <p:nvGrpSpPr>
          <p:cNvPr name="Group 24" id="24"/>
          <p:cNvGrpSpPr/>
          <p:nvPr/>
        </p:nvGrpSpPr>
        <p:grpSpPr>
          <a:xfrm rot="0">
            <a:off x="1786806" y="5074476"/>
            <a:ext cx="573153" cy="57315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6" id="26"/>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5</a:t>
              </a:r>
            </a:p>
          </p:txBody>
        </p:sp>
      </p:grpSp>
      <p:grpSp>
        <p:nvGrpSpPr>
          <p:cNvPr name="Group 27" id="27"/>
          <p:cNvGrpSpPr/>
          <p:nvPr/>
        </p:nvGrpSpPr>
        <p:grpSpPr>
          <a:xfrm rot="0">
            <a:off x="1786806" y="5809553"/>
            <a:ext cx="573153" cy="57315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9" id="29"/>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6</a:t>
              </a:r>
            </a:p>
          </p:txBody>
        </p:sp>
      </p:grpSp>
      <p:grpSp>
        <p:nvGrpSpPr>
          <p:cNvPr name="Group 30" id="30"/>
          <p:cNvGrpSpPr/>
          <p:nvPr/>
        </p:nvGrpSpPr>
        <p:grpSpPr>
          <a:xfrm rot="0">
            <a:off x="1786806" y="6487481"/>
            <a:ext cx="573153" cy="57315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2" id="32"/>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7</a:t>
              </a:r>
            </a:p>
          </p:txBody>
        </p:sp>
      </p:grpSp>
      <p:grpSp>
        <p:nvGrpSpPr>
          <p:cNvPr name="Group 33" id="33"/>
          <p:cNvGrpSpPr/>
          <p:nvPr/>
        </p:nvGrpSpPr>
        <p:grpSpPr>
          <a:xfrm rot="0">
            <a:off x="1786806" y="7222558"/>
            <a:ext cx="573153" cy="573153"/>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5" id="35"/>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8</a:t>
              </a:r>
            </a:p>
          </p:txBody>
        </p:sp>
      </p:grpSp>
      <p:grpSp>
        <p:nvGrpSpPr>
          <p:cNvPr name="Group 36" id="36"/>
          <p:cNvGrpSpPr/>
          <p:nvPr/>
        </p:nvGrpSpPr>
        <p:grpSpPr>
          <a:xfrm rot="0">
            <a:off x="1786806" y="7921495"/>
            <a:ext cx="573153" cy="57315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8" id="38"/>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9</a:t>
              </a:r>
            </a:p>
          </p:txBody>
        </p:sp>
      </p:grpSp>
      <p:pic>
        <p:nvPicPr>
          <p:cNvPr name="Picture 39" id="39"/>
          <p:cNvPicPr>
            <a:picLocks noChangeAspect="true"/>
          </p:cNvPicPr>
          <p:nvPr/>
        </p:nvPicPr>
        <p:blipFill>
          <a:blip r:embed="rId2"/>
          <a:stretch>
            <a:fillRect/>
          </a:stretch>
        </p:blipFill>
        <p:spPr>
          <a:xfrm rot="0">
            <a:off x="5718054" y="312264"/>
            <a:ext cx="5116406" cy="1620195"/>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400000">
            <a:off x="947290" y="6860683"/>
            <a:ext cx="6843109" cy="0"/>
          </a:xfrm>
          <a:prstGeom prst="line">
            <a:avLst/>
          </a:prstGeom>
          <a:ln cap="rnd" w="9525">
            <a:solidFill>
              <a:srgbClr val="000000"/>
            </a:solidFill>
            <a:prstDash val="solid"/>
            <a:headEnd type="none" len="sm" w="sm"/>
            <a:tailEnd type="none" len="sm" w="sm"/>
          </a:ln>
        </p:spPr>
      </p:sp>
      <p:sp>
        <p:nvSpPr>
          <p:cNvPr name="AutoShape 3" id="3"/>
          <p:cNvSpPr/>
          <p:nvPr/>
        </p:nvSpPr>
        <p:spPr>
          <a:xfrm rot="0">
            <a:off x="0" y="3443891"/>
            <a:ext cx="18246628" cy="0"/>
          </a:xfrm>
          <a:prstGeom prst="line">
            <a:avLst/>
          </a:prstGeom>
          <a:ln cap="rnd" w="9525">
            <a:solidFill>
              <a:srgbClr val="000000"/>
            </a:solidFill>
            <a:prstDash val="solid"/>
            <a:headEnd type="none" len="sm" w="sm"/>
            <a:tailEnd type="none" len="sm" w="sm"/>
          </a:ln>
        </p:spPr>
      </p:sp>
      <p:sp>
        <p:nvSpPr>
          <p:cNvPr name="AutoShape 4" id="4"/>
          <p:cNvSpPr/>
          <p:nvPr/>
        </p:nvSpPr>
        <p:spPr>
          <a:xfrm rot="5400000">
            <a:off x="5243715" y="7053476"/>
            <a:ext cx="7228694" cy="0"/>
          </a:xfrm>
          <a:prstGeom prst="line">
            <a:avLst/>
          </a:prstGeom>
          <a:ln cap="rnd" w="9525">
            <a:solidFill>
              <a:srgbClr val="000000"/>
            </a:solidFill>
            <a:prstDash val="solid"/>
            <a:headEnd type="none" len="sm" w="sm"/>
            <a:tailEnd type="none" len="sm" w="sm"/>
          </a:ln>
        </p:spPr>
      </p:sp>
      <p:sp>
        <p:nvSpPr>
          <p:cNvPr name="AutoShape 5" id="5"/>
          <p:cNvSpPr/>
          <p:nvPr/>
        </p:nvSpPr>
        <p:spPr>
          <a:xfrm rot="5400000">
            <a:off x="10172548" y="6860683"/>
            <a:ext cx="6843109" cy="0"/>
          </a:xfrm>
          <a:prstGeom prst="line">
            <a:avLst/>
          </a:prstGeom>
          <a:ln cap="rnd" w="9525">
            <a:solidFill>
              <a:srgbClr val="000000"/>
            </a:solidFill>
            <a:prstDash val="solid"/>
            <a:headEnd type="none" len="sm" w="sm"/>
            <a:tailEnd type="none" len="sm" w="sm"/>
          </a:ln>
        </p:spPr>
      </p:sp>
      <p:sp>
        <p:nvSpPr>
          <p:cNvPr name="TextBox 6" id="6"/>
          <p:cNvSpPr txBox="true"/>
          <p:nvPr/>
        </p:nvSpPr>
        <p:spPr>
          <a:xfrm rot="0">
            <a:off x="2730426" y="1019175"/>
            <a:ext cx="12827148" cy="1381125"/>
          </a:xfrm>
          <a:prstGeom prst="rect">
            <a:avLst/>
          </a:prstGeom>
        </p:spPr>
        <p:txBody>
          <a:bodyPr anchor="t" rtlCol="false" tIns="0" lIns="0" bIns="0" rIns="0">
            <a:spAutoFit/>
          </a:bodyPr>
          <a:lstStyle/>
          <a:p>
            <a:pPr algn="ctr" marL="0" indent="0" lvl="0">
              <a:lnSpc>
                <a:spcPts val="10800"/>
              </a:lnSpc>
            </a:pPr>
            <a:r>
              <a:rPr lang="en-US" b="true" sz="9000">
                <a:solidFill>
                  <a:srgbClr val="000000"/>
                </a:solidFill>
                <a:latin typeface="Glacial Indifference Bold"/>
                <a:ea typeface="Glacial Indifference Bold"/>
                <a:cs typeface="Glacial Indifference Bold"/>
                <a:sym typeface="Glacial Indifference Bold"/>
              </a:rPr>
              <a:t>Project Background</a:t>
            </a:r>
          </a:p>
        </p:txBody>
      </p:sp>
      <p:grpSp>
        <p:nvGrpSpPr>
          <p:cNvPr name="Group 7" id="7"/>
          <p:cNvGrpSpPr/>
          <p:nvPr/>
        </p:nvGrpSpPr>
        <p:grpSpPr>
          <a:xfrm rot="0">
            <a:off x="526516" y="4809269"/>
            <a:ext cx="3373149" cy="4340512"/>
            <a:chOff x="0" y="0"/>
            <a:chExt cx="4497532" cy="5787349"/>
          </a:xfrm>
        </p:grpSpPr>
        <p:sp>
          <p:nvSpPr>
            <p:cNvPr name="Freeform 8" id="8"/>
            <p:cNvSpPr/>
            <p:nvPr/>
          </p:nvSpPr>
          <p:spPr>
            <a:xfrm flipH="false" flipV="false" rot="0">
              <a:off x="1626777" y="0"/>
              <a:ext cx="1243978" cy="1810021"/>
            </a:xfrm>
            <a:custGeom>
              <a:avLst/>
              <a:gdLst/>
              <a:ahLst/>
              <a:cxnLst/>
              <a:rect r="r" b="b" t="t" l="l"/>
              <a:pathLst>
                <a:path h="1810021" w="1243978">
                  <a:moveTo>
                    <a:pt x="0" y="0"/>
                  </a:moveTo>
                  <a:lnTo>
                    <a:pt x="1243978" y="0"/>
                  </a:lnTo>
                  <a:lnTo>
                    <a:pt x="1243978" y="1810021"/>
                  </a:lnTo>
                  <a:lnTo>
                    <a:pt x="0" y="18100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0" y="2813116"/>
              <a:ext cx="4497532" cy="2974233"/>
            </a:xfrm>
            <a:prstGeom prst="rect">
              <a:avLst/>
            </a:prstGeom>
          </p:spPr>
          <p:txBody>
            <a:bodyPr anchor="t" rtlCol="false" tIns="0" lIns="0" bIns="0" rIns="0">
              <a:spAutoFit/>
            </a:bodyPr>
            <a:lstStyle/>
            <a:p>
              <a:pPr algn="ctr" marL="0" indent="0" lvl="0">
                <a:lnSpc>
                  <a:spcPts val="2006"/>
                </a:lnSpc>
              </a:pPr>
              <a:r>
                <a:rPr lang="en-US" b="true" sz="1543" spc="30">
                  <a:solidFill>
                    <a:srgbClr val="000000"/>
                  </a:solidFill>
                  <a:latin typeface="Glacial Indifference Bold"/>
                  <a:ea typeface="Glacial Indifference Bold"/>
                  <a:cs typeface="Glacial Indifference Bold"/>
                  <a:sym typeface="Glacial Indifference Bold"/>
                </a:rPr>
                <a:t>This project focuses on understanding near-surface air temperature (TREFHT) trends in the UK using ensemble climate model simulations from 2006 to 2080. The analysis is based on six NetCDF datasets generated by the same climate model under slightly varied conditions (ensembles).</a:t>
              </a:r>
            </a:p>
          </p:txBody>
        </p:sp>
      </p:grpSp>
      <p:grpSp>
        <p:nvGrpSpPr>
          <p:cNvPr name="Group 10" id="10"/>
          <p:cNvGrpSpPr/>
          <p:nvPr/>
        </p:nvGrpSpPr>
        <p:grpSpPr>
          <a:xfrm rot="0">
            <a:off x="4926879" y="4714461"/>
            <a:ext cx="3373149" cy="3444720"/>
            <a:chOff x="0" y="0"/>
            <a:chExt cx="4497532" cy="4592960"/>
          </a:xfrm>
        </p:grpSpPr>
        <p:sp>
          <p:nvSpPr>
            <p:cNvPr name="Freeform 11" id="11"/>
            <p:cNvSpPr/>
            <p:nvPr/>
          </p:nvSpPr>
          <p:spPr>
            <a:xfrm flipH="false" flipV="false" rot="0">
              <a:off x="1508303" y="0"/>
              <a:ext cx="1480926" cy="1810021"/>
            </a:xfrm>
            <a:custGeom>
              <a:avLst/>
              <a:gdLst/>
              <a:ahLst/>
              <a:cxnLst/>
              <a:rect r="r" b="b" t="t" l="l"/>
              <a:pathLst>
                <a:path h="1810021" w="1480926">
                  <a:moveTo>
                    <a:pt x="0" y="0"/>
                  </a:moveTo>
                  <a:lnTo>
                    <a:pt x="1480926" y="0"/>
                  </a:lnTo>
                  <a:lnTo>
                    <a:pt x="1480926" y="1810021"/>
                  </a:lnTo>
                  <a:lnTo>
                    <a:pt x="0" y="1810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0" y="2939527"/>
              <a:ext cx="4497532" cy="1653433"/>
            </a:xfrm>
            <a:prstGeom prst="rect">
              <a:avLst/>
            </a:prstGeom>
          </p:spPr>
          <p:txBody>
            <a:bodyPr anchor="t" rtlCol="false" tIns="0" lIns="0" bIns="0" rIns="0">
              <a:spAutoFit/>
            </a:bodyPr>
            <a:lstStyle/>
            <a:p>
              <a:pPr algn="ctr" marL="0" indent="0" lvl="0">
                <a:lnSpc>
                  <a:spcPts val="2006"/>
                </a:lnSpc>
              </a:pPr>
              <a:r>
                <a:rPr lang="en-US" b="true" sz="1543" spc="30">
                  <a:solidFill>
                    <a:srgbClr val="000000"/>
                  </a:solidFill>
                  <a:latin typeface="Glacial Indifference Bold"/>
                  <a:ea typeface="Glacial Indifference Bold"/>
                  <a:cs typeface="Glacial Indifference Bold"/>
                  <a:sym typeface="Glacial Indifference Bold"/>
                </a:rPr>
                <a:t>IPCC states that global temperatures could increase by up to 4.8°C by the end of the century, substantially raising the risk of severe climate-related impacts.</a:t>
              </a:r>
            </a:p>
          </p:txBody>
        </p:sp>
      </p:grpSp>
      <p:grpSp>
        <p:nvGrpSpPr>
          <p:cNvPr name="Group 13" id="13"/>
          <p:cNvGrpSpPr/>
          <p:nvPr/>
        </p:nvGrpSpPr>
        <p:grpSpPr>
          <a:xfrm rot="0">
            <a:off x="9539508" y="4714461"/>
            <a:ext cx="3373149" cy="3444720"/>
            <a:chOff x="0" y="0"/>
            <a:chExt cx="4497532" cy="4592960"/>
          </a:xfrm>
        </p:grpSpPr>
        <p:sp>
          <p:nvSpPr>
            <p:cNvPr name="Freeform 14" id="14"/>
            <p:cNvSpPr/>
            <p:nvPr/>
          </p:nvSpPr>
          <p:spPr>
            <a:xfrm flipH="false" flipV="false" rot="0">
              <a:off x="1343756" y="0"/>
              <a:ext cx="1810021" cy="1717874"/>
            </a:xfrm>
            <a:custGeom>
              <a:avLst/>
              <a:gdLst/>
              <a:ahLst/>
              <a:cxnLst/>
              <a:rect r="r" b="b" t="t" l="l"/>
              <a:pathLst>
                <a:path h="1717874" w="1810021">
                  <a:moveTo>
                    <a:pt x="0" y="0"/>
                  </a:moveTo>
                  <a:lnTo>
                    <a:pt x="1810020" y="0"/>
                  </a:lnTo>
                  <a:lnTo>
                    <a:pt x="1810020" y="1717874"/>
                  </a:lnTo>
                  <a:lnTo>
                    <a:pt x="0" y="17178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0" y="2939527"/>
              <a:ext cx="4497532" cy="1653433"/>
            </a:xfrm>
            <a:prstGeom prst="rect">
              <a:avLst/>
            </a:prstGeom>
          </p:spPr>
          <p:txBody>
            <a:bodyPr anchor="t" rtlCol="false" tIns="0" lIns="0" bIns="0" rIns="0">
              <a:spAutoFit/>
            </a:bodyPr>
            <a:lstStyle/>
            <a:p>
              <a:pPr algn="ctr" marL="0" indent="0" lvl="0">
                <a:lnSpc>
                  <a:spcPts val="2006"/>
                </a:lnSpc>
              </a:pPr>
              <a:r>
                <a:rPr lang="en-US" b="true" sz="1543" spc="30">
                  <a:solidFill>
                    <a:srgbClr val="000000"/>
                  </a:solidFill>
                  <a:latin typeface="Glacial Indifference Bold"/>
                  <a:ea typeface="Glacial Indifference Bold"/>
                  <a:cs typeface="Glacial Indifference Bold"/>
                  <a:sym typeface="Glacial Indifference Bold"/>
                </a:rPr>
                <a:t>This study leverages 6 datasets containing 3 dimensional data across the UK, including variables such as TREFHT amongst several others.</a:t>
              </a:r>
            </a:p>
          </p:txBody>
        </p:sp>
      </p:grpSp>
      <p:grpSp>
        <p:nvGrpSpPr>
          <p:cNvPr name="Group 16" id="16"/>
          <p:cNvGrpSpPr/>
          <p:nvPr/>
        </p:nvGrpSpPr>
        <p:grpSpPr>
          <a:xfrm rot="0">
            <a:off x="14216310" y="4809269"/>
            <a:ext cx="3373149" cy="3349912"/>
            <a:chOff x="0" y="0"/>
            <a:chExt cx="4497532" cy="4466549"/>
          </a:xfrm>
        </p:grpSpPr>
        <p:sp>
          <p:nvSpPr>
            <p:cNvPr name="Freeform 17" id="17"/>
            <p:cNvSpPr/>
            <p:nvPr/>
          </p:nvSpPr>
          <p:spPr>
            <a:xfrm flipH="false" flipV="false" rot="0">
              <a:off x="1422738" y="0"/>
              <a:ext cx="1652055" cy="1810021"/>
            </a:xfrm>
            <a:custGeom>
              <a:avLst/>
              <a:gdLst/>
              <a:ahLst/>
              <a:cxnLst/>
              <a:rect r="r" b="b" t="t" l="l"/>
              <a:pathLst>
                <a:path h="1810021" w="1652055">
                  <a:moveTo>
                    <a:pt x="0" y="0"/>
                  </a:moveTo>
                  <a:lnTo>
                    <a:pt x="1652056" y="0"/>
                  </a:lnTo>
                  <a:lnTo>
                    <a:pt x="1652056" y="1810021"/>
                  </a:lnTo>
                  <a:lnTo>
                    <a:pt x="0" y="18100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0" y="2813116"/>
              <a:ext cx="4497532" cy="1653433"/>
            </a:xfrm>
            <a:prstGeom prst="rect">
              <a:avLst/>
            </a:prstGeom>
          </p:spPr>
          <p:txBody>
            <a:bodyPr anchor="t" rtlCol="false" tIns="0" lIns="0" bIns="0" rIns="0">
              <a:spAutoFit/>
            </a:bodyPr>
            <a:lstStyle/>
            <a:p>
              <a:pPr algn="ctr" marL="0" indent="0" lvl="0">
                <a:lnSpc>
                  <a:spcPts val="2006"/>
                </a:lnSpc>
              </a:pPr>
              <a:r>
                <a:rPr lang="en-US" b="true" sz="1543" spc="30">
                  <a:solidFill>
                    <a:srgbClr val="000000"/>
                  </a:solidFill>
                  <a:latin typeface="Glacial Indifference Bold"/>
                  <a:ea typeface="Glacial Indifference Bold"/>
                  <a:cs typeface="Glacial Indifference Bold"/>
                  <a:sym typeface="Glacial Indifference Bold"/>
                </a:rPr>
                <a:t>ERA5 data on topsoil temperature and moisture was also used across the same coordinates and merged to analyse the impact on agriculture.</a:t>
              </a:r>
            </a:p>
          </p:txBody>
        </p:sp>
      </p:grpSp>
      <p:sp>
        <p:nvSpPr>
          <p:cNvPr name="TextBox 19" id="19"/>
          <p:cNvSpPr txBox="true"/>
          <p:nvPr/>
        </p:nvSpPr>
        <p:spPr>
          <a:xfrm rot="0">
            <a:off x="17259300" y="983137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Glacial Indifference Bold"/>
                <a:ea typeface="Glacial Indifference Bold"/>
                <a:cs typeface="Glacial Indifference Bold"/>
                <a:sym typeface="Glacial Indifference Bold"/>
              </a:rPr>
              <a:t>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86806" y="2307906"/>
            <a:ext cx="573153" cy="57315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1</a:t>
              </a:r>
            </a:p>
          </p:txBody>
        </p:sp>
      </p:grpSp>
      <p:sp>
        <p:nvSpPr>
          <p:cNvPr name="TextBox 5" id="5"/>
          <p:cNvSpPr txBox="true"/>
          <p:nvPr/>
        </p:nvSpPr>
        <p:spPr>
          <a:xfrm rot="0">
            <a:off x="1786806" y="581025"/>
            <a:ext cx="16262613" cy="1149348"/>
          </a:xfrm>
          <a:prstGeom prst="rect">
            <a:avLst/>
          </a:prstGeom>
        </p:spPr>
        <p:txBody>
          <a:bodyPr anchor="t" rtlCol="false" tIns="0" lIns="0" bIns="0" rIns="0">
            <a:spAutoFit/>
          </a:bodyPr>
          <a:lstStyle/>
          <a:p>
            <a:pPr algn="l" marL="0" indent="0" lvl="0">
              <a:lnSpc>
                <a:spcPts val="8799"/>
              </a:lnSpc>
            </a:pPr>
            <a:r>
              <a:rPr lang="en-US" b="true" sz="7999">
                <a:solidFill>
                  <a:srgbClr val="004247"/>
                </a:solidFill>
                <a:latin typeface="Glacial Indifference Bold"/>
                <a:ea typeface="Glacial Indifference Bold"/>
                <a:cs typeface="Glacial Indifference Bold"/>
                <a:sym typeface="Glacial Indifference Bold"/>
              </a:rPr>
              <a:t>Agenda</a:t>
            </a:r>
          </a:p>
        </p:txBody>
      </p:sp>
      <p:sp>
        <p:nvSpPr>
          <p:cNvPr name="TextBox 6" id="6"/>
          <p:cNvSpPr txBox="true"/>
          <p:nvPr/>
        </p:nvSpPr>
        <p:spPr>
          <a:xfrm rot="0">
            <a:off x="2854410" y="2410014"/>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Background</a:t>
            </a:r>
          </a:p>
        </p:txBody>
      </p:sp>
      <p:sp>
        <p:nvSpPr>
          <p:cNvPr name="TextBox 7" id="7"/>
          <p:cNvSpPr txBox="true"/>
          <p:nvPr/>
        </p:nvSpPr>
        <p:spPr>
          <a:xfrm rot="0">
            <a:off x="2854410" y="3089656"/>
            <a:ext cx="11195719" cy="397510"/>
          </a:xfrm>
          <a:prstGeom prst="rect">
            <a:avLst/>
          </a:prstGeom>
        </p:spPr>
        <p:txBody>
          <a:bodyPr anchor="t" rtlCol="false" tIns="0" lIns="0" bIns="0" rIns="0">
            <a:spAutoFit/>
          </a:bodyPr>
          <a:lstStyle/>
          <a:p>
            <a:pPr algn="l" marL="0" indent="0" lvl="0">
              <a:lnSpc>
                <a:spcPts val="3080"/>
              </a:lnSpc>
            </a:pPr>
            <a:r>
              <a:rPr lang="en-US" b="true" sz="2800">
                <a:solidFill>
                  <a:srgbClr val="000000"/>
                </a:solidFill>
                <a:latin typeface="Glacial Indifference Bold"/>
                <a:ea typeface="Glacial Indifference Bold"/>
                <a:cs typeface="Glacial Indifference Bold"/>
                <a:sym typeface="Glacial Indifference Bold"/>
              </a:rPr>
              <a:t>Project Scope</a:t>
            </a:r>
          </a:p>
        </p:txBody>
      </p:sp>
      <p:sp>
        <p:nvSpPr>
          <p:cNvPr name="TextBox 8" id="8"/>
          <p:cNvSpPr txBox="true"/>
          <p:nvPr/>
        </p:nvSpPr>
        <p:spPr>
          <a:xfrm rot="0">
            <a:off x="2854410" y="3772916"/>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Methodology</a:t>
            </a:r>
          </a:p>
        </p:txBody>
      </p:sp>
      <p:sp>
        <p:nvSpPr>
          <p:cNvPr name="TextBox 9" id="9"/>
          <p:cNvSpPr txBox="true"/>
          <p:nvPr/>
        </p:nvSpPr>
        <p:spPr>
          <a:xfrm rot="0">
            <a:off x="2854410" y="4445511"/>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The Datasets</a:t>
            </a:r>
          </a:p>
        </p:txBody>
      </p:sp>
      <p:sp>
        <p:nvSpPr>
          <p:cNvPr name="TextBox 10" id="10"/>
          <p:cNvSpPr txBox="true"/>
          <p:nvPr/>
        </p:nvSpPr>
        <p:spPr>
          <a:xfrm rot="0">
            <a:off x="2854410" y="518077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Data Preprocessing</a:t>
            </a:r>
          </a:p>
        </p:txBody>
      </p:sp>
      <p:sp>
        <p:nvSpPr>
          <p:cNvPr name="TextBox 11" id="11"/>
          <p:cNvSpPr txBox="true"/>
          <p:nvPr/>
        </p:nvSpPr>
        <p:spPr>
          <a:xfrm rot="0">
            <a:off x="2854410" y="5911662"/>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Exploratory Data Analysis</a:t>
            </a:r>
          </a:p>
        </p:txBody>
      </p:sp>
      <p:sp>
        <p:nvSpPr>
          <p:cNvPr name="TextBox 12" id="12"/>
          <p:cNvSpPr txBox="true"/>
          <p:nvPr/>
        </p:nvSpPr>
        <p:spPr>
          <a:xfrm rot="0">
            <a:off x="2854410" y="6589590"/>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Model Development</a:t>
            </a:r>
          </a:p>
        </p:txBody>
      </p:sp>
      <p:sp>
        <p:nvSpPr>
          <p:cNvPr name="TextBox 13" id="13"/>
          <p:cNvSpPr txBox="true"/>
          <p:nvPr/>
        </p:nvSpPr>
        <p:spPr>
          <a:xfrm rot="0">
            <a:off x="2854410" y="732466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Key Findings </a:t>
            </a:r>
          </a:p>
        </p:txBody>
      </p:sp>
      <p:sp>
        <p:nvSpPr>
          <p:cNvPr name="TextBox 14" id="14"/>
          <p:cNvSpPr txBox="true"/>
          <p:nvPr/>
        </p:nvSpPr>
        <p:spPr>
          <a:xfrm rot="0">
            <a:off x="2854410" y="8023604"/>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Further Research</a:t>
            </a:r>
          </a:p>
        </p:txBody>
      </p:sp>
      <p:grpSp>
        <p:nvGrpSpPr>
          <p:cNvPr name="Group 15" id="15"/>
          <p:cNvGrpSpPr/>
          <p:nvPr/>
        </p:nvGrpSpPr>
        <p:grpSpPr>
          <a:xfrm rot="0">
            <a:off x="1786806" y="2987547"/>
            <a:ext cx="573153" cy="57315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4D24"/>
            </a:solidFill>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2</a:t>
              </a:r>
            </a:p>
          </p:txBody>
        </p:sp>
      </p:grpSp>
      <p:grpSp>
        <p:nvGrpSpPr>
          <p:cNvPr name="Group 18" id="18"/>
          <p:cNvGrpSpPr/>
          <p:nvPr/>
        </p:nvGrpSpPr>
        <p:grpSpPr>
          <a:xfrm rot="0">
            <a:off x="1786806" y="3665475"/>
            <a:ext cx="573153" cy="57315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0" id="20"/>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3</a:t>
              </a:r>
            </a:p>
          </p:txBody>
        </p:sp>
      </p:grpSp>
      <p:grpSp>
        <p:nvGrpSpPr>
          <p:cNvPr name="Group 21" id="21"/>
          <p:cNvGrpSpPr/>
          <p:nvPr/>
        </p:nvGrpSpPr>
        <p:grpSpPr>
          <a:xfrm rot="0">
            <a:off x="1786806" y="4343402"/>
            <a:ext cx="573153" cy="57315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3" id="23"/>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4</a:t>
              </a:r>
            </a:p>
          </p:txBody>
        </p:sp>
      </p:grpSp>
      <p:grpSp>
        <p:nvGrpSpPr>
          <p:cNvPr name="Group 24" id="24"/>
          <p:cNvGrpSpPr/>
          <p:nvPr/>
        </p:nvGrpSpPr>
        <p:grpSpPr>
          <a:xfrm rot="0">
            <a:off x="1786806" y="5074476"/>
            <a:ext cx="573153" cy="57315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6" id="26"/>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5</a:t>
              </a:r>
            </a:p>
          </p:txBody>
        </p:sp>
      </p:grpSp>
      <p:grpSp>
        <p:nvGrpSpPr>
          <p:cNvPr name="Group 27" id="27"/>
          <p:cNvGrpSpPr/>
          <p:nvPr/>
        </p:nvGrpSpPr>
        <p:grpSpPr>
          <a:xfrm rot="0">
            <a:off x="1786806" y="5809553"/>
            <a:ext cx="573153" cy="57315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9" id="29"/>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6</a:t>
              </a:r>
            </a:p>
          </p:txBody>
        </p:sp>
      </p:grpSp>
      <p:grpSp>
        <p:nvGrpSpPr>
          <p:cNvPr name="Group 30" id="30"/>
          <p:cNvGrpSpPr/>
          <p:nvPr/>
        </p:nvGrpSpPr>
        <p:grpSpPr>
          <a:xfrm rot="0">
            <a:off x="1786806" y="6487481"/>
            <a:ext cx="573153" cy="57315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2" id="32"/>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7</a:t>
              </a:r>
            </a:p>
          </p:txBody>
        </p:sp>
      </p:grpSp>
      <p:grpSp>
        <p:nvGrpSpPr>
          <p:cNvPr name="Group 33" id="33"/>
          <p:cNvGrpSpPr/>
          <p:nvPr/>
        </p:nvGrpSpPr>
        <p:grpSpPr>
          <a:xfrm rot="0">
            <a:off x="1786806" y="7222558"/>
            <a:ext cx="573153" cy="573153"/>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5" id="35"/>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8</a:t>
              </a:r>
            </a:p>
          </p:txBody>
        </p:sp>
      </p:grpSp>
      <p:grpSp>
        <p:nvGrpSpPr>
          <p:cNvPr name="Group 36" id="36"/>
          <p:cNvGrpSpPr/>
          <p:nvPr/>
        </p:nvGrpSpPr>
        <p:grpSpPr>
          <a:xfrm rot="0">
            <a:off x="1786806" y="7921495"/>
            <a:ext cx="573153" cy="57315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8" id="38"/>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9</a:t>
              </a:r>
            </a:p>
          </p:txBody>
        </p:sp>
      </p:grpSp>
      <p:pic>
        <p:nvPicPr>
          <p:cNvPr name="Picture 39" id="39"/>
          <p:cNvPicPr>
            <a:picLocks noChangeAspect="true"/>
          </p:cNvPicPr>
          <p:nvPr/>
        </p:nvPicPr>
        <p:blipFill>
          <a:blip r:embed="rId2"/>
          <a:stretch>
            <a:fillRect/>
          </a:stretch>
        </p:blipFill>
        <p:spPr>
          <a:xfrm rot="0">
            <a:off x="5718054" y="312264"/>
            <a:ext cx="5116406" cy="1620195"/>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17265" y="328371"/>
            <a:ext cx="0" cy="815143"/>
          </a:xfrm>
          <a:prstGeom prst="line">
            <a:avLst/>
          </a:prstGeom>
          <a:ln cap="flat" w="47625">
            <a:solidFill>
              <a:srgbClr val="206648"/>
            </a:solidFill>
            <a:prstDash val="solid"/>
            <a:headEnd type="none" len="sm" w="sm"/>
            <a:tailEnd type="none" len="sm" w="sm"/>
          </a:ln>
        </p:spPr>
      </p:sp>
      <p:grpSp>
        <p:nvGrpSpPr>
          <p:cNvPr name="Group 3" id="3"/>
          <p:cNvGrpSpPr/>
          <p:nvPr/>
        </p:nvGrpSpPr>
        <p:grpSpPr>
          <a:xfrm rot="-10800000">
            <a:off x="9608941" y="2658612"/>
            <a:ext cx="8196474" cy="1039874"/>
            <a:chOff x="0" y="0"/>
            <a:chExt cx="650460" cy="82523"/>
          </a:xfrm>
        </p:grpSpPr>
        <p:sp>
          <p:nvSpPr>
            <p:cNvPr name="Freeform 4" id="4"/>
            <p:cNvSpPr/>
            <p:nvPr/>
          </p:nvSpPr>
          <p:spPr>
            <a:xfrm flipH="false" flipV="false" rot="0">
              <a:off x="0" y="0"/>
              <a:ext cx="650460" cy="82523"/>
            </a:xfrm>
            <a:custGeom>
              <a:avLst/>
              <a:gdLst/>
              <a:ahLst/>
              <a:cxnLst/>
              <a:rect r="r" b="b" t="t" l="l"/>
              <a:pathLst>
                <a:path h="82523" w="650460">
                  <a:moveTo>
                    <a:pt x="13224" y="0"/>
                  </a:moveTo>
                  <a:lnTo>
                    <a:pt x="637236" y="0"/>
                  </a:lnTo>
                  <a:cubicBezTo>
                    <a:pt x="640743" y="0"/>
                    <a:pt x="644107" y="1393"/>
                    <a:pt x="646587" y="3873"/>
                  </a:cubicBezTo>
                  <a:cubicBezTo>
                    <a:pt x="649066" y="6353"/>
                    <a:pt x="650460" y="9716"/>
                    <a:pt x="650460" y="13224"/>
                  </a:cubicBezTo>
                  <a:lnTo>
                    <a:pt x="650460" y="69299"/>
                  </a:lnTo>
                  <a:cubicBezTo>
                    <a:pt x="650460" y="76602"/>
                    <a:pt x="644539" y="82523"/>
                    <a:pt x="637236" y="82523"/>
                  </a:cubicBezTo>
                  <a:lnTo>
                    <a:pt x="13224" y="82523"/>
                  </a:lnTo>
                  <a:cubicBezTo>
                    <a:pt x="5920" y="82523"/>
                    <a:pt x="0" y="76602"/>
                    <a:pt x="0" y="69299"/>
                  </a:cubicBezTo>
                  <a:lnTo>
                    <a:pt x="0" y="13224"/>
                  </a:lnTo>
                  <a:cubicBezTo>
                    <a:pt x="0" y="5920"/>
                    <a:pt x="5920" y="0"/>
                    <a:pt x="13224" y="0"/>
                  </a:cubicBezTo>
                  <a:close/>
                </a:path>
              </a:pathLst>
            </a:custGeom>
            <a:solidFill>
              <a:srgbClr val="DCEEF3"/>
            </a:solidFill>
          </p:spPr>
        </p:sp>
        <p:sp>
          <p:nvSpPr>
            <p:cNvPr name="TextBox 5" id="5"/>
            <p:cNvSpPr txBox="true"/>
            <p:nvPr/>
          </p:nvSpPr>
          <p:spPr>
            <a:xfrm>
              <a:off x="0" y="19050"/>
              <a:ext cx="650460" cy="63473"/>
            </a:xfrm>
            <a:prstGeom prst="rect">
              <a:avLst/>
            </a:prstGeom>
          </p:spPr>
          <p:txBody>
            <a:bodyPr anchor="ctr" rtlCol="false" tIns="50800" lIns="50800" bIns="50800" rIns="50800"/>
            <a:lstStyle/>
            <a:p>
              <a:pPr algn="ctr">
                <a:lnSpc>
                  <a:spcPts val="1895"/>
                </a:lnSpc>
              </a:pPr>
            </a:p>
          </p:txBody>
        </p:sp>
      </p:grpSp>
      <p:sp>
        <p:nvSpPr>
          <p:cNvPr name="AutoShape 6" id="6"/>
          <p:cNvSpPr/>
          <p:nvPr/>
        </p:nvSpPr>
        <p:spPr>
          <a:xfrm>
            <a:off x="417273" y="2819116"/>
            <a:ext cx="6454381" cy="0"/>
          </a:xfrm>
          <a:prstGeom prst="line">
            <a:avLst/>
          </a:prstGeom>
          <a:ln cap="flat" w="38100">
            <a:solidFill>
              <a:srgbClr val="F34D24"/>
            </a:solidFill>
            <a:prstDash val="solid"/>
            <a:headEnd type="none" len="sm" w="sm"/>
            <a:tailEnd type="none" len="sm" w="sm"/>
          </a:ln>
        </p:spPr>
      </p:sp>
      <p:grpSp>
        <p:nvGrpSpPr>
          <p:cNvPr name="Group 7" id="7"/>
          <p:cNvGrpSpPr/>
          <p:nvPr/>
        </p:nvGrpSpPr>
        <p:grpSpPr>
          <a:xfrm rot="-10800000">
            <a:off x="9585139" y="4861059"/>
            <a:ext cx="8196474" cy="943362"/>
            <a:chOff x="0" y="0"/>
            <a:chExt cx="650460" cy="74864"/>
          </a:xfrm>
        </p:grpSpPr>
        <p:sp>
          <p:nvSpPr>
            <p:cNvPr name="Freeform 8" id="8"/>
            <p:cNvSpPr/>
            <p:nvPr/>
          </p:nvSpPr>
          <p:spPr>
            <a:xfrm flipH="false" flipV="false" rot="0">
              <a:off x="0" y="0"/>
              <a:ext cx="650460" cy="74864"/>
            </a:xfrm>
            <a:custGeom>
              <a:avLst/>
              <a:gdLst/>
              <a:ahLst/>
              <a:cxnLst/>
              <a:rect r="r" b="b" t="t" l="l"/>
              <a:pathLst>
                <a:path h="74864" w="650460">
                  <a:moveTo>
                    <a:pt x="13224" y="0"/>
                  </a:moveTo>
                  <a:lnTo>
                    <a:pt x="637236" y="0"/>
                  </a:lnTo>
                  <a:cubicBezTo>
                    <a:pt x="640743" y="0"/>
                    <a:pt x="644107" y="1393"/>
                    <a:pt x="646587" y="3873"/>
                  </a:cubicBezTo>
                  <a:cubicBezTo>
                    <a:pt x="649066" y="6353"/>
                    <a:pt x="650460" y="9716"/>
                    <a:pt x="650460" y="13224"/>
                  </a:cubicBezTo>
                  <a:lnTo>
                    <a:pt x="650460" y="61640"/>
                  </a:lnTo>
                  <a:cubicBezTo>
                    <a:pt x="650460" y="68943"/>
                    <a:pt x="644539" y="74864"/>
                    <a:pt x="637236" y="74864"/>
                  </a:cubicBezTo>
                  <a:lnTo>
                    <a:pt x="13224" y="74864"/>
                  </a:lnTo>
                  <a:cubicBezTo>
                    <a:pt x="5920" y="74864"/>
                    <a:pt x="0" y="68943"/>
                    <a:pt x="0" y="61640"/>
                  </a:cubicBezTo>
                  <a:lnTo>
                    <a:pt x="0" y="13224"/>
                  </a:lnTo>
                  <a:cubicBezTo>
                    <a:pt x="0" y="5920"/>
                    <a:pt x="5920" y="0"/>
                    <a:pt x="13224" y="0"/>
                  </a:cubicBezTo>
                  <a:close/>
                </a:path>
              </a:pathLst>
            </a:custGeom>
            <a:solidFill>
              <a:srgbClr val="C6EFF7"/>
            </a:solidFill>
          </p:spPr>
        </p:sp>
        <p:sp>
          <p:nvSpPr>
            <p:cNvPr name="TextBox 9" id="9"/>
            <p:cNvSpPr txBox="true"/>
            <p:nvPr/>
          </p:nvSpPr>
          <p:spPr>
            <a:xfrm>
              <a:off x="0" y="19050"/>
              <a:ext cx="650460" cy="55814"/>
            </a:xfrm>
            <a:prstGeom prst="rect">
              <a:avLst/>
            </a:prstGeom>
          </p:spPr>
          <p:txBody>
            <a:bodyPr anchor="ctr" rtlCol="false" tIns="50800" lIns="50800" bIns="50800" rIns="50800"/>
            <a:lstStyle/>
            <a:p>
              <a:pPr algn="ctr">
                <a:lnSpc>
                  <a:spcPts val="1895"/>
                </a:lnSpc>
              </a:pPr>
            </a:p>
          </p:txBody>
        </p:sp>
      </p:grpSp>
      <p:grpSp>
        <p:nvGrpSpPr>
          <p:cNvPr name="Group 10" id="10"/>
          <p:cNvGrpSpPr/>
          <p:nvPr/>
        </p:nvGrpSpPr>
        <p:grpSpPr>
          <a:xfrm rot="-10800000">
            <a:off x="9585139" y="7091814"/>
            <a:ext cx="8196474" cy="1039874"/>
            <a:chOff x="0" y="0"/>
            <a:chExt cx="650460" cy="82523"/>
          </a:xfrm>
        </p:grpSpPr>
        <p:sp>
          <p:nvSpPr>
            <p:cNvPr name="Freeform 11" id="11"/>
            <p:cNvSpPr/>
            <p:nvPr/>
          </p:nvSpPr>
          <p:spPr>
            <a:xfrm flipH="false" flipV="false" rot="0">
              <a:off x="0" y="0"/>
              <a:ext cx="650460" cy="82523"/>
            </a:xfrm>
            <a:custGeom>
              <a:avLst/>
              <a:gdLst/>
              <a:ahLst/>
              <a:cxnLst/>
              <a:rect r="r" b="b" t="t" l="l"/>
              <a:pathLst>
                <a:path h="82523" w="650460">
                  <a:moveTo>
                    <a:pt x="13224" y="0"/>
                  </a:moveTo>
                  <a:lnTo>
                    <a:pt x="637236" y="0"/>
                  </a:lnTo>
                  <a:cubicBezTo>
                    <a:pt x="640743" y="0"/>
                    <a:pt x="644107" y="1393"/>
                    <a:pt x="646587" y="3873"/>
                  </a:cubicBezTo>
                  <a:cubicBezTo>
                    <a:pt x="649066" y="6353"/>
                    <a:pt x="650460" y="9716"/>
                    <a:pt x="650460" y="13224"/>
                  </a:cubicBezTo>
                  <a:lnTo>
                    <a:pt x="650460" y="69299"/>
                  </a:lnTo>
                  <a:cubicBezTo>
                    <a:pt x="650460" y="76602"/>
                    <a:pt x="644539" y="82523"/>
                    <a:pt x="637236" y="82523"/>
                  </a:cubicBezTo>
                  <a:lnTo>
                    <a:pt x="13224" y="82523"/>
                  </a:lnTo>
                  <a:cubicBezTo>
                    <a:pt x="5920" y="82523"/>
                    <a:pt x="0" y="76602"/>
                    <a:pt x="0" y="69299"/>
                  </a:cubicBezTo>
                  <a:lnTo>
                    <a:pt x="0" y="13224"/>
                  </a:lnTo>
                  <a:cubicBezTo>
                    <a:pt x="0" y="5920"/>
                    <a:pt x="5920" y="0"/>
                    <a:pt x="13224" y="0"/>
                  </a:cubicBezTo>
                  <a:close/>
                </a:path>
              </a:pathLst>
            </a:custGeom>
            <a:solidFill>
              <a:srgbClr val="9FBCF8"/>
            </a:solidFill>
          </p:spPr>
        </p:sp>
        <p:sp>
          <p:nvSpPr>
            <p:cNvPr name="TextBox 12" id="12"/>
            <p:cNvSpPr txBox="true"/>
            <p:nvPr/>
          </p:nvSpPr>
          <p:spPr>
            <a:xfrm>
              <a:off x="0" y="19050"/>
              <a:ext cx="650460" cy="63473"/>
            </a:xfrm>
            <a:prstGeom prst="rect">
              <a:avLst/>
            </a:prstGeom>
          </p:spPr>
          <p:txBody>
            <a:bodyPr anchor="ctr" rtlCol="false" tIns="50800" lIns="50800" bIns="50800" rIns="50800"/>
            <a:lstStyle/>
            <a:p>
              <a:pPr algn="ctr">
                <a:lnSpc>
                  <a:spcPts val="1895"/>
                </a:lnSpc>
              </a:pPr>
            </a:p>
          </p:txBody>
        </p:sp>
      </p:grpSp>
      <p:sp>
        <p:nvSpPr>
          <p:cNvPr name="AutoShape 13" id="13"/>
          <p:cNvSpPr/>
          <p:nvPr/>
        </p:nvSpPr>
        <p:spPr>
          <a:xfrm flipH="true">
            <a:off x="13683376" y="3698486"/>
            <a:ext cx="23801" cy="1162572"/>
          </a:xfrm>
          <a:prstGeom prst="line">
            <a:avLst/>
          </a:prstGeom>
          <a:ln cap="flat" w="47625">
            <a:solidFill>
              <a:srgbClr val="F34D24"/>
            </a:solidFill>
            <a:prstDash val="solid"/>
            <a:headEnd type="none" len="sm" w="sm"/>
            <a:tailEnd type="triangle" len="med" w="lg"/>
          </a:ln>
        </p:spPr>
      </p:sp>
      <p:sp>
        <p:nvSpPr>
          <p:cNvPr name="AutoShape 14" id="14"/>
          <p:cNvSpPr/>
          <p:nvPr/>
        </p:nvSpPr>
        <p:spPr>
          <a:xfrm>
            <a:off x="13683376" y="5804421"/>
            <a:ext cx="0" cy="1287393"/>
          </a:xfrm>
          <a:prstGeom prst="line">
            <a:avLst/>
          </a:prstGeom>
          <a:ln cap="flat" w="47625">
            <a:solidFill>
              <a:srgbClr val="F34D24"/>
            </a:solidFill>
            <a:prstDash val="solid"/>
            <a:headEnd type="none" len="sm" w="sm"/>
            <a:tailEnd type="triangle" len="med" w="lg"/>
          </a:ln>
        </p:spPr>
      </p:sp>
      <p:sp>
        <p:nvSpPr>
          <p:cNvPr name="AutoShape 15" id="15"/>
          <p:cNvSpPr/>
          <p:nvPr/>
        </p:nvSpPr>
        <p:spPr>
          <a:xfrm flipV="true">
            <a:off x="13683376" y="4979927"/>
            <a:ext cx="0" cy="824494"/>
          </a:xfrm>
          <a:prstGeom prst="line">
            <a:avLst/>
          </a:prstGeom>
          <a:ln cap="flat" w="38100">
            <a:solidFill>
              <a:srgbClr val="000000"/>
            </a:solidFill>
            <a:prstDash val="sysDash"/>
            <a:headEnd type="none" len="sm" w="sm"/>
            <a:tailEnd type="none" len="sm" w="sm"/>
          </a:ln>
        </p:spPr>
      </p:sp>
      <p:sp>
        <p:nvSpPr>
          <p:cNvPr name="Freeform 16" id="16"/>
          <p:cNvSpPr/>
          <p:nvPr/>
        </p:nvSpPr>
        <p:spPr>
          <a:xfrm flipH="false" flipV="false" rot="0">
            <a:off x="16063274" y="2187454"/>
            <a:ext cx="351100" cy="1163283"/>
          </a:xfrm>
          <a:custGeom>
            <a:avLst/>
            <a:gdLst/>
            <a:ahLst/>
            <a:cxnLst/>
            <a:rect r="r" b="b" t="t" l="l"/>
            <a:pathLst>
              <a:path h="1163283" w="351100">
                <a:moveTo>
                  <a:pt x="0" y="0"/>
                </a:moveTo>
                <a:lnTo>
                  <a:pt x="351100" y="0"/>
                </a:lnTo>
                <a:lnTo>
                  <a:pt x="351100" y="1163283"/>
                </a:lnTo>
                <a:lnTo>
                  <a:pt x="0" y="1163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7" id="17"/>
          <p:cNvSpPr/>
          <p:nvPr/>
        </p:nvSpPr>
        <p:spPr>
          <a:xfrm>
            <a:off x="417273" y="5089958"/>
            <a:ext cx="6454381" cy="0"/>
          </a:xfrm>
          <a:prstGeom prst="line">
            <a:avLst/>
          </a:prstGeom>
          <a:ln cap="flat" w="38100">
            <a:solidFill>
              <a:srgbClr val="F34D24"/>
            </a:solidFill>
            <a:prstDash val="solid"/>
            <a:headEnd type="none" len="sm" w="sm"/>
            <a:tailEnd type="none" len="sm" w="sm"/>
          </a:ln>
        </p:spPr>
      </p:sp>
      <p:sp>
        <p:nvSpPr>
          <p:cNvPr name="AutoShape 18" id="18"/>
          <p:cNvSpPr/>
          <p:nvPr/>
        </p:nvSpPr>
        <p:spPr>
          <a:xfrm>
            <a:off x="417281" y="7532280"/>
            <a:ext cx="6454381" cy="0"/>
          </a:xfrm>
          <a:prstGeom prst="line">
            <a:avLst/>
          </a:prstGeom>
          <a:ln cap="flat" w="38100">
            <a:solidFill>
              <a:srgbClr val="F34D24"/>
            </a:solidFill>
            <a:prstDash val="solid"/>
            <a:headEnd type="none" len="sm" w="sm"/>
            <a:tailEnd type="none" len="sm" w="sm"/>
          </a:ln>
        </p:spPr>
      </p:sp>
      <p:sp>
        <p:nvSpPr>
          <p:cNvPr name="TextBox 19" id="19"/>
          <p:cNvSpPr txBox="true"/>
          <p:nvPr/>
        </p:nvSpPr>
        <p:spPr>
          <a:xfrm rot="0">
            <a:off x="10255582" y="3012751"/>
            <a:ext cx="7003718" cy="276479"/>
          </a:xfrm>
          <a:prstGeom prst="rect">
            <a:avLst/>
          </a:prstGeom>
        </p:spPr>
        <p:txBody>
          <a:bodyPr anchor="t" rtlCol="false" tIns="0" lIns="0" bIns="0" rIns="0">
            <a:spAutoFit/>
          </a:bodyPr>
          <a:lstStyle/>
          <a:p>
            <a:pPr algn="ctr">
              <a:lnSpc>
                <a:spcPts val="2128"/>
              </a:lnSpc>
              <a:spcBef>
                <a:spcPct val="0"/>
              </a:spcBef>
            </a:pPr>
            <a:r>
              <a:rPr lang="en-US" b="true" sz="1900" spc="38">
                <a:solidFill>
                  <a:srgbClr val="000000"/>
                </a:solidFill>
                <a:latin typeface="Glacial Indifference Bold"/>
                <a:ea typeface="Glacial Indifference Bold"/>
                <a:cs typeface="Glacial Indifference Bold"/>
                <a:sym typeface="Glacial Indifference Bold"/>
              </a:rPr>
              <a:t>Average daily temperature (TREFHT)</a:t>
            </a:r>
          </a:p>
        </p:txBody>
      </p:sp>
      <p:sp>
        <p:nvSpPr>
          <p:cNvPr name="TextBox 20" id="20"/>
          <p:cNvSpPr txBox="true"/>
          <p:nvPr/>
        </p:nvSpPr>
        <p:spPr>
          <a:xfrm rot="0">
            <a:off x="417265" y="2420861"/>
            <a:ext cx="6227476" cy="348234"/>
          </a:xfrm>
          <a:prstGeom prst="rect">
            <a:avLst/>
          </a:prstGeom>
        </p:spPr>
        <p:txBody>
          <a:bodyPr anchor="t" rtlCol="false" tIns="0" lIns="0" bIns="0" rIns="0">
            <a:spAutoFit/>
          </a:bodyPr>
          <a:lstStyle/>
          <a:p>
            <a:pPr algn="just">
              <a:lnSpc>
                <a:spcPts val="2688"/>
              </a:lnSpc>
              <a:spcBef>
                <a:spcPct val="0"/>
              </a:spcBef>
            </a:pPr>
            <a:r>
              <a:rPr lang="en-US" b="true" sz="2400" spc="48">
                <a:solidFill>
                  <a:srgbClr val="000000"/>
                </a:solidFill>
                <a:latin typeface="Glacial Indifference Bold"/>
                <a:ea typeface="Glacial Indifference Bold"/>
                <a:cs typeface="Glacial Indifference Bold"/>
                <a:sym typeface="Glacial Indifference Bold"/>
              </a:rPr>
              <a:t>(1) Analyse Trend &amp; Patterns of TREFHT</a:t>
            </a:r>
          </a:p>
        </p:txBody>
      </p:sp>
      <p:sp>
        <p:nvSpPr>
          <p:cNvPr name="TextBox 21" id="21"/>
          <p:cNvSpPr txBox="true"/>
          <p:nvPr/>
        </p:nvSpPr>
        <p:spPr>
          <a:xfrm rot="0">
            <a:off x="417265" y="2990566"/>
            <a:ext cx="7958553" cy="819324"/>
          </a:xfrm>
          <a:prstGeom prst="rect">
            <a:avLst/>
          </a:prstGeom>
        </p:spPr>
        <p:txBody>
          <a:bodyPr anchor="t" rtlCol="false" tIns="0" lIns="0" bIns="0" rIns="0">
            <a:spAutoFit/>
          </a:bodyPr>
          <a:lstStyle/>
          <a:p>
            <a:pPr algn="l">
              <a:lnSpc>
                <a:spcPts val="2119"/>
              </a:lnSpc>
              <a:spcBef>
                <a:spcPct val="0"/>
              </a:spcBef>
            </a:pPr>
            <a:r>
              <a:rPr lang="en-US" sz="1892" spc="37">
                <a:solidFill>
                  <a:srgbClr val="000000"/>
                </a:solidFill>
                <a:latin typeface="Glacial Indifference"/>
                <a:ea typeface="Glacial Indifference"/>
                <a:cs typeface="Glacial Indifference"/>
                <a:sym typeface="Glacial Indifference"/>
              </a:rPr>
              <a:t>Combine the six given datasets and analyse seasonal, long-term and regional trends of TREFHT over time. TREFHT was chose over TREFMAX_U due to its cover of rural regions, and therefore relevance to agriculture.</a:t>
            </a:r>
          </a:p>
        </p:txBody>
      </p:sp>
      <p:sp>
        <p:nvSpPr>
          <p:cNvPr name="TextBox 22" id="22"/>
          <p:cNvSpPr txBox="true"/>
          <p:nvPr/>
        </p:nvSpPr>
        <p:spPr>
          <a:xfrm rot="0">
            <a:off x="9608941" y="5127931"/>
            <a:ext cx="3913289" cy="543179"/>
          </a:xfrm>
          <a:prstGeom prst="rect">
            <a:avLst/>
          </a:prstGeom>
        </p:spPr>
        <p:txBody>
          <a:bodyPr anchor="t" rtlCol="false" tIns="0" lIns="0" bIns="0" rIns="0">
            <a:spAutoFit/>
          </a:bodyPr>
          <a:lstStyle/>
          <a:p>
            <a:pPr algn="ctr">
              <a:lnSpc>
                <a:spcPts val="2128"/>
              </a:lnSpc>
            </a:pPr>
            <a:r>
              <a:rPr lang="en-US" b="true" sz="1900" spc="38">
                <a:solidFill>
                  <a:srgbClr val="000000"/>
                </a:solidFill>
                <a:latin typeface="Glacial Indifference Bold"/>
                <a:ea typeface="Glacial Indifference Bold"/>
                <a:cs typeface="Glacial Indifference Bold"/>
                <a:sym typeface="Glacial Indifference Bold"/>
              </a:rPr>
              <a:t>Soil Temperature at Layer 1</a:t>
            </a:r>
          </a:p>
          <a:p>
            <a:pPr algn="ctr">
              <a:lnSpc>
                <a:spcPts val="2128"/>
              </a:lnSpc>
              <a:spcBef>
                <a:spcPct val="0"/>
              </a:spcBef>
            </a:pPr>
            <a:r>
              <a:rPr lang="en-US" b="true" sz="1900" spc="38">
                <a:solidFill>
                  <a:srgbClr val="000000"/>
                </a:solidFill>
                <a:latin typeface="Glacial Indifference Bold"/>
                <a:ea typeface="Glacial Indifference Bold"/>
                <a:cs typeface="Glacial Indifference Bold"/>
                <a:sym typeface="Glacial Indifference Bold"/>
              </a:rPr>
              <a:t>(stl1)</a:t>
            </a:r>
          </a:p>
        </p:txBody>
      </p:sp>
      <p:sp>
        <p:nvSpPr>
          <p:cNvPr name="TextBox 23" id="23"/>
          <p:cNvSpPr txBox="true"/>
          <p:nvPr/>
        </p:nvSpPr>
        <p:spPr>
          <a:xfrm rot="0">
            <a:off x="10255582" y="7444239"/>
            <a:ext cx="6763580" cy="276479"/>
          </a:xfrm>
          <a:prstGeom prst="rect">
            <a:avLst/>
          </a:prstGeom>
        </p:spPr>
        <p:txBody>
          <a:bodyPr anchor="t" rtlCol="false" tIns="0" lIns="0" bIns="0" rIns="0">
            <a:spAutoFit/>
          </a:bodyPr>
          <a:lstStyle/>
          <a:p>
            <a:pPr algn="ctr">
              <a:lnSpc>
                <a:spcPts val="2128"/>
              </a:lnSpc>
              <a:spcBef>
                <a:spcPct val="0"/>
              </a:spcBef>
            </a:pPr>
            <a:r>
              <a:rPr lang="en-US" b="true" sz="1900" spc="38">
                <a:solidFill>
                  <a:srgbClr val="000000"/>
                </a:solidFill>
                <a:latin typeface="Glacial Indifference Bold"/>
                <a:ea typeface="Glacial Indifference Bold"/>
                <a:cs typeface="Glacial Indifference Bold"/>
                <a:sym typeface="Glacial Indifference Bold"/>
              </a:rPr>
              <a:t>Long Term Effect</a:t>
            </a:r>
          </a:p>
        </p:txBody>
      </p:sp>
      <p:sp>
        <p:nvSpPr>
          <p:cNvPr name="TextBox 24" id="24"/>
          <p:cNvSpPr txBox="true"/>
          <p:nvPr/>
        </p:nvSpPr>
        <p:spPr>
          <a:xfrm rot="0">
            <a:off x="13757441" y="5127931"/>
            <a:ext cx="3913289" cy="543179"/>
          </a:xfrm>
          <a:prstGeom prst="rect">
            <a:avLst/>
          </a:prstGeom>
        </p:spPr>
        <p:txBody>
          <a:bodyPr anchor="t" rtlCol="false" tIns="0" lIns="0" bIns="0" rIns="0">
            <a:spAutoFit/>
          </a:bodyPr>
          <a:lstStyle/>
          <a:p>
            <a:pPr algn="ctr">
              <a:lnSpc>
                <a:spcPts val="2128"/>
              </a:lnSpc>
            </a:pPr>
            <a:r>
              <a:rPr lang="en-US" b="true" sz="1900" spc="38">
                <a:solidFill>
                  <a:srgbClr val="000000"/>
                </a:solidFill>
                <a:latin typeface="Glacial Indifference Bold"/>
                <a:ea typeface="Glacial Indifference Bold"/>
                <a:cs typeface="Glacial Indifference Bold"/>
                <a:sym typeface="Glacial Indifference Bold"/>
              </a:rPr>
              <a:t>Volumetric Soil Moistre at Layer 1</a:t>
            </a:r>
          </a:p>
          <a:p>
            <a:pPr algn="ctr">
              <a:lnSpc>
                <a:spcPts val="2128"/>
              </a:lnSpc>
              <a:spcBef>
                <a:spcPct val="0"/>
              </a:spcBef>
            </a:pPr>
            <a:r>
              <a:rPr lang="en-US" b="true" sz="1900" spc="38">
                <a:solidFill>
                  <a:srgbClr val="000000"/>
                </a:solidFill>
                <a:latin typeface="Glacial Indifference Bold"/>
                <a:ea typeface="Glacial Indifference Bold"/>
                <a:cs typeface="Glacial Indifference Bold"/>
                <a:sym typeface="Glacial Indifference Bold"/>
              </a:rPr>
              <a:t>(swv1)</a:t>
            </a:r>
          </a:p>
        </p:txBody>
      </p:sp>
      <p:sp>
        <p:nvSpPr>
          <p:cNvPr name="TextBox 25" id="25"/>
          <p:cNvSpPr txBox="true"/>
          <p:nvPr/>
        </p:nvSpPr>
        <p:spPr>
          <a:xfrm rot="0">
            <a:off x="583098" y="527316"/>
            <a:ext cx="15130386"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Project Scope</a:t>
            </a:r>
          </a:p>
        </p:txBody>
      </p:sp>
      <p:sp>
        <p:nvSpPr>
          <p:cNvPr name="TextBox 26" id="26"/>
          <p:cNvSpPr txBox="true"/>
          <p:nvPr/>
        </p:nvSpPr>
        <p:spPr>
          <a:xfrm rot="0">
            <a:off x="17259300" y="977422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Glacial Indifference Bold"/>
                <a:ea typeface="Glacial Indifference Bold"/>
                <a:cs typeface="Glacial Indifference Bold"/>
                <a:sym typeface="Glacial Indifference Bold"/>
              </a:rPr>
              <a:t>5</a:t>
            </a:r>
          </a:p>
        </p:txBody>
      </p:sp>
      <p:sp>
        <p:nvSpPr>
          <p:cNvPr name="TextBox 27" id="27"/>
          <p:cNvSpPr txBox="true"/>
          <p:nvPr/>
        </p:nvSpPr>
        <p:spPr>
          <a:xfrm rot="0">
            <a:off x="417265" y="4691704"/>
            <a:ext cx="6227476" cy="348234"/>
          </a:xfrm>
          <a:prstGeom prst="rect">
            <a:avLst/>
          </a:prstGeom>
        </p:spPr>
        <p:txBody>
          <a:bodyPr anchor="t" rtlCol="false" tIns="0" lIns="0" bIns="0" rIns="0">
            <a:spAutoFit/>
          </a:bodyPr>
          <a:lstStyle/>
          <a:p>
            <a:pPr algn="just">
              <a:lnSpc>
                <a:spcPts val="2688"/>
              </a:lnSpc>
              <a:spcBef>
                <a:spcPct val="0"/>
              </a:spcBef>
            </a:pPr>
            <a:r>
              <a:rPr lang="en-US" b="true" sz="2400" spc="48">
                <a:solidFill>
                  <a:srgbClr val="000000"/>
                </a:solidFill>
                <a:latin typeface="Glacial Indifference Bold"/>
                <a:ea typeface="Glacial Indifference Bold"/>
                <a:cs typeface="Glacial Indifference Bold"/>
                <a:sym typeface="Glacial Indifference Bold"/>
              </a:rPr>
              <a:t>(2) Analyse Trend &amp; Patterns of Topsoil</a:t>
            </a:r>
          </a:p>
        </p:txBody>
      </p:sp>
      <p:sp>
        <p:nvSpPr>
          <p:cNvPr name="TextBox 28" id="28"/>
          <p:cNvSpPr txBox="true"/>
          <p:nvPr/>
        </p:nvSpPr>
        <p:spPr>
          <a:xfrm rot="0">
            <a:off x="417265" y="5261408"/>
            <a:ext cx="7958553" cy="1086024"/>
          </a:xfrm>
          <a:prstGeom prst="rect">
            <a:avLst/>
          </a:prstGeom>
        </p:spPr>
        <p:txBody>
          <a:bodyPr anchor="t" rtlCol="false" tIns="0" lIns="0" bIns="0" rIns="0">
            <a:spAutoFit/>
          </a:bodyPr>
          <a:lstStyle/>
          <a:p>
            <a:pPr algn="l">
              <a:lnSpc>
                <a:spcPts val="2119"/>
              </a:lnSpc>
              <a:spcBef>
                <a:spcPct val="0"/>
              </a:spcBef>
            </a:pPr>
            <a:r>
              <a:rPr lang="en-US" sz="1892" spc="37">
                <a:solidFill>
                  <a:srgbClr val="000000"/>
                </a:solidFill>
                <a:latin typeface="Glacial Indifference"/>
                <a:ea typeface="Glacial Indifference"/>
                <a:cs typeface="Glacial Indifference"/>
                <a:sym typeface="Glacial Indifference"/>
              </a:rPr>
              <a:t>Analyse soil temperature at layer 1 (stl1) and volumetric soil water at layer 1 (swvl1) due to their strong influence on biological processes such as seed germination, availability of nutrients, root development and several others.</a:t>
            </a:r>
          </a:p>
        </p:txBody>
      </p:sp>
      <p:sp>
        <p:nvSpPr>
          <p:cNvPr name="TextBox 29" id="29"/>
          <p:cNvSpPr txBox="true"/>
          <p:nvPr/>
        </p:nvSpPr>
        <p:spPr>
          <a:xfrm rot="0">
            <a:off x="417273" y="7134025"/>
            <a:ext cx="6227476" cy="348234"/>
          </a:xfrm>
          <a:prstGeom prst="rect">
            <a:avLst/>
          </a:prstGeom>
        </p:spPr>
        <p:txBody>
          <a:bodyPr anchor="t" rtlCol="false" tIns="0" lIns="0" bIns="0" rIns="0">
            <a:spAutoFit/>
          </a:bodyPr>
          <a:lstStyle/>
          <a:p>
            <a:pPr algn="just">
              <a:lnSpc>
                <a:spcPts val="2688"/>
              </a:lnSpc>
              <a:spcBef>
                <a:spcPct val="0"/>
              </a:spcBef>
            </a:pPr>
            <a:r>
              <a:rPr lang="en-US" b="true" sz="2400" spc="48">
                <a:solidFill>
                  <a:srgbClr val="000000"/>
                </a:solidFill>
                <a:latin typeface="Glacial Indifference Bold"/>
                <a:ea typeface="Glacial Indifference Bold"/>
                <a:cs typeface="Glacial Indifference Bold"/>
                <a:sym typeface="Glacial Indifference Bold"/>
              </a:rPr>
              <a:t>(3) What Is The Long-Term Effect?</a:t>
            </a:r>
          </a:p>
        </p:txBody>
      </p:sp>
      <p:sp>
        <p:nvSpPr>
          <p:cNvPr name="TextBox 30" id="30"/>
          <p:cNvSpPr txBox="true"/>
          <p:nvPr/>
        </p:nvSpPr>
        <p:spPr>
          <a:xfrm rot="0">
            <a:off x="417273" y="7703730"/>
            <a:ext cx="7958553" cy="552624"/>
          </a:xfrm>
          <a:prstGeom prst="rect">
            <a:avLst/>
          </a:prstGeom>
        </p:spPr>
        <p:txBody>
          <a:bodyPr anchor="t" rtlCol="false" tIns="0" lIns="0" bIns="0" rIns="0">
            <a:spAutoFit/>
          </a:bodyPr>
          <a:lstStyle/>
          <a:p>
            <a:pPr algn="l">
              <a:lnSpc>
                <a:spcPts val="2119"/>
              </a:lnSpc>
              <a:spcBef>
                <a:spcPct val="0"/>
              </a:spcBef>
            </a:pPr>
            <a:r>
              <a:rPr lang="en-US" sz="1892" spc="37">
                <a:solidFill>
                  <a:srgbClr val="000000"/>
                </a:solidFill>
                <a:latin typeface="Glacial Indifference"/>
                <a:ea typeface="Glacial Indifference"/>
                <a:cs typeface="Glacial Indifference"/>
                <a:sym typeface="Glacial Indifference"/>
              </a:rPr>
              <a:t>Build a model to analyse the long-term effect of temperature on topsoil and its potential impacts on the agriculture industry.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86806" y="2307906"/>
            <a:ext cx="573153" cy="57315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1</a:t>
              </a:r>
            </a:p>
          </p:txBody>
        </p:sp>
      </p:grpSp>
      <p:sp>
        <p:nvSpPr>
          <p:cNvPr name="TextBox 5" id="5"/>
          <p:cNvSpPr txBox="true"/>
          <p:nvPr/>
        </p:nvSpPr>
        <p:spPr>
          <a:xfrm rot="0">
            <a:off x="1786806" y="581025"/>
            <a:ext cx="16262613" cy="1149348"/>
          </a:xfrm>
          <a:prstGeom prst="rect">
            <a:avLst/>
          </a:prstGeom>
        </p:spPr>
        <p:txBody>
          <a:bodyPr anchor="t" rtlCol="false" tIns="0" lIns="0" bIns="0" rIns="0">
            <a:spAutoFit/>
          </a:bodyPr>
          <a:lstStyle/>
          <a:p>
            <a:pPr algn="l" marL="0" indent="0" lvl="0">
              <a:lnSpc>
                <a:spcPts val="8799"/>
              </a:lnSpc>
            </a:pPr>
            <a:r>
              <a:rPr lang="en-US" b="true" sz="7999">
                <a:solidFill>
                  <a:srgbClr val="004247"/>
                </a:solidFill>
                <a:latin typeface="Glacial Indifference Bold"/>
                <a:ea typeface="Glacial Indifference Bold"/>
                <a:cs typeface="Glacial Indifference Bold"/>
                <a:sym typeface="Glacial Indifference Bold"/>
              </a:rPr>
              <a:t>Agenda</a:t>
            </a:r>
          </a:p>
        </p:txBody>
      </p:sp>
      <p:sp>
        <p:nvSpPr>
          <p:cNvPr name="TextBox 6" id="6"/>
          <p:cNvSpPr txBox="true"/>
          <p:nvPr/>
        </p:nvSpPr>
        <p:spPr>
          <a:xfrm rot="0">
            <a:off x="2854410" y="2410014"/>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Background</a:t>
            </a:r>
          </a:p>
        </p:txBody>
      </p:sp>
      <p:sp>
        <p:nvSpPr>
          <p:cNvPr name="TextBox 7" id="7"/>
          <p:cNvSpPr txBox="true"/>
          <p:nvPr/>
        </p:nvSpPr>
        <p:spPr>
          <a:xfrm rot="0">
            <a:off x="2854410" y="3089656"/>
            <a:ext cx="11195719"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Scope</a:t>
            </a:r>
          </a:p>
        </p:txBody>
      </p:sp>
      <p:sp>
        <p:nvSpPr>
          <p:cNvPr name="TextBox 8" id="8"/>
          <p:cNvSpPr txBox="true"/>
          <p:nvPr/>
        </p:nvSpPr>
        <p:spPr>
          <a:xfrm rot="0">
            <a:off x="2854410" y="3772916"/>
            <a:ext cx="7063703" cy="397510"/>
          </a:xfrm>
          <a:prstGeom prst="rect">
            <a:avLst/>
          </a:prstGeom>
        </p:spPr>
        <p:txBody>
          <a:bodyPr anchor="t" rtlCol="false" tIns="0" lIns="0" bIns="0" rIns="0">
            <a:spAutoFit/>
          </a:bodyPr>
          <a:lstStyle/>
          <a:p>
            <a:pPr algn="l" marL="0" indent="0" lvl="0">
              <a:lnSpc>
                <a:spcPts val="3080"/>
              </a:lnSpc>
            </a:pPr>
            <a:r>
              <a:rPr lang="en-US" b="true" sz="2800">
                <a:solidFill>
                  <a:srgbClr val="000000"/>
                </a:solidFill>
                <a:latin typeface="Glacial Indifference Bold"/>
                <a:ea typeface="Glacial Indifference Bold"/>
                <a:cs typeface="Glacial Indifference Bold"/>
                <a:sym typeface="Glacial Indifference Bold"/>
              </a:rPr>
              <a:t>Methodology</a:t>
            </a:r>
          </a:p>
        </p:txBody>
      </p:sp>
      <p:sp>
        <p:nvSpPr>
          <p:cNvPr name="TextBox 9" id="9"/>
          <p:cNvSpPr txBox="true"/>
          <p:nvPr/>
        </p:nvSpPr>
        <p:spPr>
          <a:xfrm rot="0">
            <a:off x="2854410" y="4445511"/>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The Datasets</a:t>
            </a:r>
          </a:p>
        </p:txBody>
      </p:sp>
      <p:sp>
        <p:nvSpPr>
          <p:cNvPr name="TextBox 10" id="10"/>
          <p:cNvSpPr txBox="true"/>
          <p:nvPr/>
        </p:nvSpPr>
        <p:spPr>
          <a:xfrm rot="0">
            <a:off x="2854410" y="518077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Data Preprocessing</a:t>
            </a:r>
          </a:p>
        </p:txBody>
      </p:sp>
      <p:sp>
        <p:nvSpPr>
          <p:cNvPr name="TextBox 11" id="11"/>
          <p:cNvSpPr txBox="true"/>
          <p:nvPr/>
        </p:nvSpPr>
        <p:spPr>
          <a:xfrm rot="0">
            <a:off x="2854410" y="5911662"/>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Exploratory Data Analysis</a:t>
            </a:r>
          </a:p>
        </p:txBody>
      </p:sp>
      <p:sp>
        <p:nvSpPr>
          <p:cNvPr name="TextBox 12" id="12"/>
          <p:cNvSpPr txBox="true"/>
          <p:nvPr/>
        </p:nvSpPr>
        <p:spPr>
          <a:xfrm rot="0">
            <a:off x="2854410" y="6589590"/>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Model Development</a:t>
            </a:r>
          </a:p>
        </p:txBody>
      </p:sp>
      <p:sp>
        <p:nvSpPr>
          <p:cNvPr name="TextBox 13" id="13"/>
          <p:cNvSpPr txBox="true"/>
          <p:nvPr/>
        </p:nvSpPr>
        <p:spPr>
          <a:xfrm rot="0">
            <a:off x="2854410" y="732466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Key Findings </a:t>
            </a:r>
          </a:p>
        </p:txBody>
      </p:sp>
      <p:sp>
        <p:nvSpPr>
          <p:cNvPr name="TextBox 14" id="14"/>
          <p:cNvSpPr txBox="true"/>
          <p:nvPr/>
        </p:nvSpPr>
        <p:spPr>
          <a:xfrm rot="0">
            <a:off x="2854410" y="8023604"/>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Further Research</a:t>
            </a:r>
          </a:p>
        </p:txBody>
      </p:sp>
      <p:grpSp>
        <p:nvGrpSpPr>
          <p:cNvPr name="Group 15" id="15"/>
          <p:cNvGrpSpPr/>
          <p:nvPr/>
        </p:nvGrpSpPr>
        <p:grpSpPr>
          <a:xfrm rot="0">
            <a:off x="1786806" y="2987547"/>
            <a:ext cx="573153" cy="57315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2</a:t>
              </a:r>
            </a:p>
          </p:txBody>
        </p:sp>
      </p:grpSp>
      <p:grpSp>
        <p:nvGrpSpPr>
          <p:cNvPr name="Group 18" id="18"/>
          <p:cNvGrpSpPr/>
          <p:nvPr/>
        </p:nvGrpSpPr>
        <p:grpSpPr>
          <a:xfrm rot="0">
            <a:off x="1786806" y="3665475"/>
            <a:ext cx="573153" cy="57315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4D24"/>
            </a:solidFill>
          </p:spPr>
        </p:sp>
        <p:sp>
          <p:nvSpPr>
            <p:cNvPr name="TextBox 20" id="20"/>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3</a:t>
              </a:r>
            </a:p>
          </p:txBody>
        </p:sp>
      </p:grpSp>
      <p:grpSp>
        <p:nvGrpSpPr>
          <p:cNvPr name="Group 21" id="21"/>
          <p:cNvGrpSpPr/>
          <p:nvPr/>
        </p:nvGrpSpPr>
        <p:grpSpPr>
          <a:xfrm rot="0">
            <a:off x="1786806" y="4343402"/>
            <a:ext cx="573153" cy="57315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3" id="23"/>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4</a:t>
              </a:r>
            </a:p>
          </p:txBody>
        </p:sp>
      </p:grpSp>
      <p:grpSp>
        <p:nvGrpSpPr>
          <p:cNvPr name="Group 24" id="24"/>
          <p:cNvGrpSpPr/>
          <p:nvPr/>
        </p:nvGrpSpPr>
        <p:grpSpPr>
          <a:xfrm rot="0">
            <a:off x="1786806" y="5074476"/>
            <a:ext cx="573153" cy="57315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6" id="26"/>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5</a:t>
              </a:r>
            </a:p>
          </p:txBody>
        </p:sp>
      </p:grpSp>
      <p:grpSp>
        <p:nvGrpSpPr>
          <p:cNvPr name="Group 27" id="27"/>
          <p:cNvGrpSpPr/>
          <p:nvPr/>
        </p:nvGrpSpPr>
        <p:grpSpPr>
          <a:xfrm rot="0">
            <a:off x="1786806" y="5809553"/>
            <a:ext cx="573153" cy="57315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9" id="29"/>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6</a:t>
              </a:r>
            </a:p>
          </p:txBody>
        </p:sp>
      </p:grpSp>
      <p:grpSp>
        <p:nvGrpSpPr>
          <p:cNvPr name="Group 30" id="30"/>
          <p:cNvGrpSpPr/>
          <p:nvPr/>
        </p:nvGrpSpPr>
        <p:grpSpPr>
          <a:xfrm rot="0">
            <a:off x="1786806" y="6487481"/>
            <a:ext cx="573153" cy="57315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2" id="32"/>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7</a:t>
              </a:r>
            </a:p>
          </p:txBody>
        </p:sp>
      </p:grpSp>
      <p:grpSp>
        <p:nvGrpSpPr>
          <p:cNvPr name="Group 33" id="33"/>
          <p:cNvGrpSpPr/>
          <p:nvPr/>
        </p:nvGrpSpPr>
        <p:grpSpPr>
          <a:xfrm rot="0">
            <a:off x="1786806" y="7222558"/>
            <a:ext cx="573153" cy="573153"/>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5" id="35"/>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8</a:t>
              </a:r>
            </a:p>
          </p:txBody>
        </p:sp>
      </p:grpSp>
      <p:grpSp>
        <p:nvGrpSpPr>
          <p:cNvPr name="Group 36" id="36"/>
          <p:cNvGrpSpPr/>
          <p:nvPr/>
        </p:nvGrpSpPr>
        <p:grpSpPr>
          <a:xfrm rot="0">
            <a:off x="1786806" y="7921495"/>
            <a:ext cx="573153" cy="57315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8" id="38"/>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9</a:t>
              </a:r>
            </a:p>
          </p:txBody>
        </p:sp>
      </p:grpSp>
      <p:pic>
        <p:nvPicPr>
          <p:cNvPr name="Picture 39" id="39"/>
          <p:cNvPicPr>
            <a:picLocks noChangeAspect="true"/>
          </p:cNvPicPr>
          <p:nvPr/>
        </p:nvPicPr>
        <p:blipFill>
          <a:blip r:embed="rId2"/>
          <a:stretch>
            <a:fillRect/>
          </a:stretch>
        </p:blipFill>
        <p:spPr>
          <a:xfrm rot="0">
            <a:off x="5718054" y="312264"/>
            <a:ext cx="5116406" cy="1620195"/>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3196" y="1983456"/>
            <a:ext cx="17701608" cy="546215"/>
            <a:chOff x="0" y="0"/>
            <a:chExt cx="23602144" cy="728286"/>
          </a:xfrm>
        </p:grpSpPr>
        <p:grpSp>
          <p:nvGrpSpPr>
            <p:cNvPr name="Group 3" id="3"/>
            <p:cNvGrpSpPr/>
            <p:nvPr/>
          </p:nvGrpSpPr>
          <p:grpSpPr>
            <a:xfrm rot="0">
              <a:off x="0" y="2353"/>
              <a:ext cx="5491245" cy="725933"/>
              <a:chOff x="0" y="0"/>
              <a:chExt cx="1083871" cy="143286"/>
            </a:xfrm>
          </p:grpSpPr>
          <p:sp>
            <p:nvSpPr>
              <p:cNvPr name="Freeform 4" id="4"/>
              <p:cNvSpPr/>
              <p:nvPr/>
            </p:nvSpPr>
            <p:spPr>
              <a:xfrm flipH="false" flipV="false" rot="0">
                <a:off x="0" y="0"/>
                <a:ext cx="1083871" cy="143286"/>
              </a:xfrm>
              <a:custGeom>
                <a:avLst/>
                <a:gdLst/>
                <a:ahLst/>
                <a:cxnLst/>
                <a:rect r="r" b="b" t="t" l="l"/>
                <a:pathLst>
                  <a:path h="143286" w="1083871">
                    <a:moveTo>
                      <a:pt x="0" y="0"/>
                    </a:moveTo>
                    <a:lnTo>
                      <a:pt x="1083871" y="0"/>
                    </a:lnTo>
                    <a:lnTo>
                      <a:pt x="1083871" y="143286"/>
                    </a:lnTo>
                    <a:lnTo>
                      <a:pt x="0" y="143286"/>
                    </a:lnTo>
                    <a:close/>
                  </a:path>
                </a:pathLst>
              </a:custGeom>
              <a:solidFill>
                <a:srgbClr val="CF5151"/>
              </a:solidFill>
            </p:spPr>
          </p:sp>
          <p:sp>
            <p:nvSpPr>
              <p:cNvPr name="TextBox 5" id="5"/>
              <p:cNvSpPr txBox="true"/>
              <p:nvPr/>
            </p:nvSpPr>
            <p:spPr>
              <a:xfrm>
                <a:off x="0" y="-47625"/>
                <a:ext cx="1083871" cy="190911"/>
              </a:xfrm>
              <a:prstGeom prst="rect">
                <a:avLst/>
              </a:prstGeom>
            </p:spPr>
            <p:txBody>
              <a:bodyPr anchor="ctr" rtlCol="false" tIns="50800" lIns="50800" bIns="50800" rIns="50800"/>
              <a:lstStyle/>
              <a:p>
                <a:pPr algn="ctr">
                  <a:lnSpc>
                    <a:spcPts val="3244"/>
                  </a:lnSpc>
                </a:pPr>
                <a:r>
                  <a:rPr lang="en-US" b="true" sz="2317">
                    <a:solidFill>
                      <a:srgbClr val="FFFFFF"/>
                    </a:solidFill>
                    <a:latin typeface="Glacial Indifference Bold"/>
                    <a:ea typeface="Glacial Indifference Bold"/>
                    <a:cs typeface="Glacial Indifference Bold"/>
                    <a:sym typeface="Glacial Indifference Bold"/>
                  </a:rPr>
                  <a:t>Project Phase</a:t>
                </a:r>
              </a:p>
            </p:txBody>
          </p:sp>
        </p:grpSp>
        <p:grpSp>
          <p:nvGrpSpPr>
            <p:cNvPr name="Group 6" id="6"/>
            <p:cNvGrpSpPr/>
            <p:nvPr/>
          </p:nvGrpSpPr>
          <p:grpSpPr>
            <a:xfrm rot="0">
              <a:off x="6656699" y="0"/>
              <a:ext cx="10861511" cy="725933"/>
              <a:chOff x="0" y="0"/>
              <a:chExt cx="2143863" cy="143286"/>
            </a:xfrm>
          </p:grpSpPr>
          <p:sp>
            <p:nvSpPr>
              <p:cNvPr name="Freeform 7" id="7"/>
              <p:cNvSpPr/>
              <p:nvPr/>
            </p:nvSpPr>
            <p:spPr>
              <a:xfrm flipH="false" flipV="false" rot="0">
                <a:off x="0" y="0"/>
                <a:ext cx="2143863" cy="143286"/>
              </a:xfrm>
              <a:custGeom>
                <a:avLst/>
                <a:gdLst/>
                <a:ahLst/>
                <a:cxnLst/>
                <a:rect r="r" b="b" t="t" l="l"/>
                <a:pathLst>
                  <a:path h="143286" w="2143863">
                    <a:moveTo>
                      <a:pt x="0" y="0"/>
                    </a:moveTo>
                    <a:lnTo>
                      <a:pt x="2143863" y="0"/>
                    </a:lnTo>
                    <a:lnTo>
                      <a:pt x="2143863" y="143286"/>
                    </a:lnTo>
                    <a:lnTo>
                      <a:pt x="0" y="143286"/>
                    </a:lnTo>
                    <a:close/>
                  </a:path>
                </a:pathLst>
              </a:custGeom>
              <a:solidFill>
                <a:srgbClr val="CF5151"/>
              </a:solidFill>
            </p:spPr>
          </p:sp>
          <p:sp>
            <p:nvSpPr>
              <p:cNvPr name="TextBox 8" id="8"/>
              <p:cNvSpPr txBox="true"/>
              <p:nvPr/>
            </p:nvSpPr>
            <p:spPr>
              <a:xfrm>
                <a:off x="0" y="-47625"/>
                <a:ext cx="2143863" cy="190911"/>
              </a:xfrm>
              <a:prstGeom prst="rect">
                <a:avLst/>
              </a:prstGeom>
            </p:spPr>
            <p:txBody>
              <a:bodyPr anchor="ctr" rtlCol="false" tIns="50800" lIns="50800" bIns="50800" rIns="50800"/>
              <a:lstStyle/>
              <a:p>
                <a:pPr algn="ctr">
                  <a:lnSpc>
                    <a:spcPts val="3244"/>
                  </a:lnSpc>
                </a:pPr>
                <a:r>
                  <a:rPr lang="en-US" b="true" sz="2317">
                    <a:solidFill>
                      <a:srgbClr val="FFFFFF"/>
                    </a:solidFill>
                    <a:latin typeface="Glacial Indifference Bold"/>
                    <a:ea typeface="Glacial Indifference Bold"/>
                    <a:cs typeface="Glacial Indifference Bold"/>
                    <a:sym typeface="Glacial Indifference Bold"/>
                  </a:rPr>
                  <a:t>Activity Overview</a:t>
                </a:r>
              </a:p>
            </p:txBody>
          </p:sp>
        </p:grpSp>
        <p:grpSp>
          <p:nvGrpSpPr>
            <p:cNvPr name="Group 9" id="9"/>
            <p:cNvGrpSpPr/>
            <p:nvPr/>
          </p:nvGrpSpPr>
          <p:grpSpPr>
            <a:xfrm rot="0">
              <a:off x="18770816" y="2353"/>
              <a:ext cx="4831328" cy="725933"/>
              <a:chOff x="0" y="0"/>
              <a:chExt cx="953615" cy="143286"/>
            </a:xfrm>
          </p:grpSpPr>
          <p:sp>
            <p:nvSpPr>
              <p:cNvPr name="Freeform 10" id="10"/>
              <p:cNvSpPr/>
              <p:nvPr/>
            </p:nvSpPr>
            <p:spPr>
              <a:xfrm flipH="false" flipV="false" rot="0">
                <a:off x="0" y="0"/>
                <a:ext cx="953615" cy="143286"/>
              </a:xfrm>
              <a:custGeom>
                <a:avLst/>
                <a:gdLst/>
                <a:ahLst/>
                <a:cxnLst/>
                <a:rect r="r" b="b" t="t" l="l"/>
                <a:pathLst>
                  <a:path h="143286" w="953615">
                    <a:moveTo>
                      <a:pt x="0" y="0"/>
                    </a:moveTo>
                    <a:lnTo>
                      <a:pt x="953615" y="0"/>
                    </a:lnTo>
                    <a:lnTo>
                      <a:pt x="953615" y="143286"/>
                    </a:lnTo>
                    <a:lnTo>
                      <a:pt x="0" y="143286"/>
                    </a:lnTo>
                    <a:close/>
                  </a:path>
                </a:pathLst>
              </a:custGeom>
              <a:solidFill>
                <a:srgbClr val="CF5151"/>
              </a:solidFill>
            </p:spPr>
          </p:sp>
          <p:sp>
            <p:nvSpPr>
              <p:cNvPr name="TextBox 11" id="11"/>
              <p:cNvSpPr txBox="true"/>
              <p:nvPr/>
            </p:nvSpPr>
            <p:spPr>
              <a:xfrm>
                <a:off x="0" y="-47625"/>
                <a:ext cx="953615" cy="190911"/>
              </a:xfrm>
              <a:prstGeom prst="rect">
                <a:avLst/>
              </a:prstGeom>
            </p:spPr>
            <p:txBody>
              <a:bodyPr anchor="ctr" rtlCol="false" tIns="50800" lIns="50800" bIns="50800" rIns="50800"/>
              <a:lstStyle/>
              <a:p>
                <a:pPr algn="ctr">
                  <a:lnSpc>
                    <a:spcPts val="3244"/>
                  </a:lnSpc>
                </a:pPr>
                <a:r>
                  <a:rPr lang="en-US" b="true" sz="2317">
                    <a:solidFill>
                      <a:srgbClr val="FFFFFF"/>
                    </a:solidFill>
                    <a:latin typeface="Glacial Indifference Bold"/>
                    <a:ea typeface="Glacial Indifference Bold"/>
                    <a:cs typeface="Glacial Indifference Bold"/>
                    <a:sym typeface="Glacial Indifference Bold"/>
                  </a:rPr>
                  <a:t>Deliverable</a:t>
                </a:r>
              </a:p>
            </p:txBody>
          </p:sp>
        </p:grpSp>
      </p:grpSp>
      <p:grpSp>
        <p:nvGrpSpPr>
          <p:cNvPr name="Group 12" id="12"/>
          <p:cNvGrpSpPr/>
          <p:nvPr/>
        </p:nvGrpSpPr>
        <p:grpSpPr>
          <a:xfrm rot="0">
            <a:off x="313494" y="2671618"/>
            <a:ext cx="4114030" cy="747450"/>
            <a:chOff x="0" y="0"/>
            <a:chExt cx="1083871" cy="196921"/>
          </a:xfrm>
        </p:grpSpPr>
        <p:sp>
          <p:nvSpPr>
            <p:cNvPr name="Freeform 13" id="13"/>
            <p:cNvSpPr/>
            <p:nvPr/>
          </p:nvSpPr>
          <p:spPr>
            <a:xfrm flipH="false" flipV="false" rot="0">
              <a:off x="0" y="0"/>
              <a:ext cx="1083871" cy="196921"/>
            </a:xfrm>
            <a:custGeom>
              <a:avLst/>
              <a:gdLst/>
              <a:ahLst/>
              <a:cxnLst/>
              <a:rect r="r" b="b" t="t" l="l"/>
              <a:pathLst>
                <a:path h="196921" w="1083871">
                  <a:moveTo>
                    <a:pt x="0" y="0"/>
                  </a:moveTo>
                  <a:lnTo>
                    <a:pt x="1083871" y="0"/>
                  </a:lnTo>
                  <a:lnTo>
                    <a:pt x="1083871" y="196921"/>
                  </a:lnTo>
                  <a:lnTo>
                    <a:pt x="0" y="196921"/>
                  </a:lnTo>
                  <a:close/>
                </a:path>
              </a:pathLst>
            </a:custGeom>
            <a:solidFill>
              <a:srgbClr val="000000">
                <a:alpha val="0"/>
              </a:srgbClr>
            </a:solidFill>
            <a:ln w="19050" cap="sq">
              <a:solidFill>
                <a:srgbClr val="D15353"/>
              </a:solidFill>
              <a:prstDash val="solid"/>
              <a:miter/>
            </a:ln>
          </p:spPr>
        </p:sp>
        <p:sp>
          <p:nvSpPr>
            <p:cNvPr name="TextBox 14" id="14"/>
            <p:cNvSpPr txBox="true"/>
            <p:nvPr/>
          </p:nvSpPr>
          <p:spPr>
            <a:xfrm>
              <a:off x="0" y="-47625"/>
              <a:ext cx="1083871" cy="244546"/>
            </a:xfrm>
            <a:prstGeom prst="rect">
              <a:avLst/>
            </a:prstGeom>
          </p:spPr>
          <p:txBody>
            <a:bodyPr anchor="ctr" rtlCol="false" tIns="50746" lIns="50746" bIns="50746" rIns="50746"/>
            <a:lstStyle/>
            <a:p>
              <a:pPr algn="ctr">
                <a:lnSpc>
                  <a:spcPts val="3244"/>
                </a:lnSpc>
              </a:pPr>
            </a:p>
          </p:txBody>
        </p:sp>
      </p:grpSp>
      <p:sp>
        <p:nvSpPr>
          <p:cNvPr name="TextBox 15" id="15"/>
          <p:cNvSpPr txBox="true"/>
          <p:nvPr/>
        </p:nvSpPr>
        <p:spPr>
          <a:xfrm rot="0">
            <a:off x="323016" y="2905316"/>
            <a:ext cx="4114030" cy="306418"/>
          </a:xfrm>
          <a:prstGeom prst="rect">
            <a:avLst/>
          </a:prstGeom>
        </p:spPr>
        <p:txBody>
          <a:bodyPr anchor="t" rtlCol="false" tIns="0" lIns="0" bIns="0" rIns="0">
            <a:spAutoFit/>
          </a:bodyPr>
          <a:lstStyle/>
          <a:p>
            <a:pPr algn="ctr">
              <a:lnSpc>
                <a:spcPts val="2517"/>
              </a:lnSpc>
              <a:spcBef>
                <a:spcPct val="0"/>
              </a:spcBef>
            </a:pPr>
            <a:r>
              <a:rPr lang="en-US" b="true" sz="1798">
                <a:solidFill>
                  <a:srgbClr val="000000"/>
                </a:solidFill>
                <a:latin typeface="Glacial Indifference Bold"/>
                <a:ea typeface="Glacial Indifference Bold"/>
                <a:cs typeface="Glacial Indifference Bold"/>
                <a:sym typeface="Glacial Indifference Bold"/>
              </a:rPr>
              <a:t>Combine Provided Datasets</a:t>
            </a:r>
          </a:p>
        </p:txBody>
      </p:sp>
      <p:grpSp>
        <p:nvGrpSpPr>
          <p:cNvPr name="Group 16" id="16"/>
          <p:cNvGrpSpPr/>
          <p:nvPr/>
        </p:nvGrpSpPr>
        <p:grpSpPr>
          <a:xfrm rot="0">
            <a:off x="5307714" y="2663021"/>
            <a:ext cx="8130904" cy="776655"/>
            <a:chOff x="0" y="0"/>
            <a:chExt cx="2142146" cy="204615"/>
          </a:xfrm>
        </p:grpSpPr>
        <p:sp>
          <p:nvSpPr>
            <p:cNvPr name="Freeform 17" id="17"/>
            <p:cNvSpPr/>
            <p:nvPr/>
          </p:nvSpPr>
          <p:spPr>
            <a:xfrm flipH="false" flipV="false" rot="0">
              <a:off x="0" y="0"/>
              <a:ext cx="2142146" cy="204615"/>
            </a:xfrm>
            <a:custGeom>
              <a:avLst/>
              <a:gdLst/>
              <a:ahLst/>
              <a:cxnLst/>
              <a:rect r="r" b="b" t="t" l="l"/>
              <a:pathLst>
                <a:path h="204615" w="2142146">
                  <a:moveTo>
                    <a:pt x="0" y="0"/>
                  </a:moveTo>
                  <a:lnTo>
                    <a:pt x="2142146" y="0"/>
                  </a:lnTo>
                  <a:lnTo>
                    <a:pt x="2142146" y="204615"/>
                  </a:lnTo>
                  <a:lnTo>
                    <a:pt x="0" y="204615"/>
                  </a:lnTo>
                  <a:close/>
                </a:path>
              </a:pathLst>
            </a:custGeom>
            <a:solidFill>
              <a:srgbClr val="000000">
                <a:alpha val="0"/>
              </a:srgbClr>
            </a:solidFill>
            <a:ln w="9525" cap="sq">
              <a:solidFill>
                <a:srgbClr val="D15353"/>
              </a:solidFill>
              <a:prstDash val="lgDash"/>
              <a:miter/>
            </a:ln>
          </p:spPr>
        </p:sp>
        <p:sp>
          <p:nvSpPr>
            <p:cNvPr name="TextBox 18" id="18"/>
            <p:cNvSpPr txBox="true"/>
            <p:nvPr/>
          </p:nvSpPr>
          <p:spPr>
            <a:xfrm>
              <a:off x="0" y="-47625"/>
              <a:ext cx="2142146" cy="252240"/>
            </a:xfrm>
            <a:prstGeom prst="rect">
              <a:avLst/>
            </a:prstGeom>
          </p:spPr>
          <p:txBody>
            <a:bodyPr anchor="ctr" rtlCol="false" tIns="50746" lIns="50746" bIns="50746" rIns="50746"/>
            <a:lstStyle/>
            <a:p>
              <a:pPr algn="ctr">
                <a:lnSpc>
                  <a:spcPts val="3244"/>
                </a:lnSpc>
              </a:pPr>
            </a:p>
          </p:txBody>
        </p:sp>
      </p:grpSp>
      <p:grpSp>
        <p:nvGrpSpPr>
          <p:cNvPr name="Group 19" id="19"/>
          <p:cNvGrpSpPr/>
          <p:nvPr/>
        </p:nvGrpSpPr>
        <p:grpSpPr>
          <a:xfrm rot="0">
            <a:off x="323016" y="3576270"/>
            <a:ext cx="4114030" cy="586873"/>
            <a:chOff x="0" y="0"/>
            <a:chExt cx="1083871" cy="154616"/>
          </a:xfrm>
        </p:grpSpPr>
        <p:sp>
          <p:nvSpPr>
            <p:cNvPr name="Freeform 20" id="20"/>
            <p:cNvSpPr/>
            <p:nvPr/>
          </p:nvSpPr>
          <p:spPr>
            <a:xfrm flipH="false" flipV="false" rot="0">
              <a:off x="0" y="0"/>
              <a:ext cx="1083871" cy="154616"/>
            </a:xfrm>
            <a:custGeom>
              <a:avLst/>
              <a:gdLst/>
              <a:ahLst/>
              <a:cxnLst/>
              <a:rect r="r" b="b" t="t" l="l"/>
              <a:pathLst>
                <a:path h="154616" w="1083871">
                  <a:moveTo>
                    <a:pt x="0" y="0"/>
                  </a:moveTo>
                  <a:lnTo>
                    <a:pt x="1083871" y="0"/>
                  </a:lnTo>
                  <a:lnTo>
                    <a:pt x="1083871" y="154616"/>
                  </a:lnTo>
                  <a:lnTo>
                    <a:pt x="0" y="154616"/>
                  </a:lnTo>
                  <a:close/>
                </a:path>
              </a:pathLst>
            </a:custGeom>
            <a:solidFill>
              <a:srgbClr val="000000">
                <a:alpha val="0"/>
              </a:srgbClr>
            </a:solidFill>
            <a:ln w="19050" cap="sq">
              <a:solidFill>
                <a:srgbClr val="D15353"/>
              </a:solidFill>
              <a:prstDash val="solid"/>
              <a:miter/>
            </a:ln>
          </p:spPr>
        </p:sp>
        <p:sp>
          <p:nvSpPr>
            <p:cNvPr name="TextBox 21" id="21"/>
            <p:cNvSpPr txBox="true"/>
            <p:nvPr/>
          </p:nvSpPr>
          <p:spPr>
            <a:xfrm>
              <a:off x="0" y="-47625"/>
              <a:ext cx="1083871" cy="202241"/>
            </a:xfrm>
            <a:prstGeom prst="rect">
              <a:avLst/>
            </a:prstGeom>
          </p:spPr>
          <p:txBody>
            <a:bodyPr anchor="ctr" rtlCol="false" tIns="50746" lIns="50746" bIns="50746" rIns="50746"/>
            <a:lstStyle/>
            <a:p>
              <a:pPr algn="ctr">
                <a:lnSpc>
                  <a:spcPts val="3244"/>
                </a:lnSpc>
              </a:pPr>
            </a:p>
          </p:txBody>
        </p:sp>
      </p:grpSp>
      <p:grpSp>
        <p:nvGrpSpPr>
          <p:cNvPr name="Group 22" id="22"/>
          <p:cNvGrpSpPr/>
          <p:nvPr/>
        </p:nvGrpSpPr>
        <p:grpSpPr>
          <a:xfrm rot="0">
            <a:off x="5326240" y="3573832"/>
            <a:ext cx="8130904" cy="586873"/>
            <a:chOff x="0" y="0"/>
            <a:chExt cx="2142146" cy="154616"/>
          </a:xfrm>
        </p:grpSpPr>
        <p:sp>
          <p:nvSpPr>
            <p:cNvPr name="Freeform 23" id="23"/>
            <p:cNvSpPr/>
            <p:nvPr/>
          </p:nvSpPr>
          <p:spPr>
            <a:xfrm flipH="false" flipV="false" rot="0">
              <a:off x="0" y="0"/>
              <a:ext cx="2142146" cy="154616"/>
            </a:xfrm>
            <a:custGeom>
              <a:avLst/>
              <a:gdLst/>
              <a:ahLst/>
              <a:cxnLst/>
              <a:rect r="r" b="b" t="t" l="l"/>
              <a:pathLst>
                <a:path h="154616" w="2142146">
                  <a:moveTo>
                    <a:pt x="0" y="0"/>
                  </a:moveTo>
                  <a:lnTo>
                    <a:pt x="2142146" y="0"/>
                  </a:lnTo>
                  <a:lnTo>
                    <a:pt x="2142146" y="154616"/>
                  </a:lnTo>
                  <a:lnTo>
                    <a:pt x="0" y="154616"/>
                  </a:lnTo>
                  <a:close/>
                </a:path>
              </a:pathLst>
            </a:custGeom>
            <a:solidFill>
              <a:srgbClr val="000000">
                <a:alpha val="0"/>
              </a:srgbClr>
            </a:solidFill>
            <a:ln w="9525" cap="sq">
              <a:solidFill>
                <a:srgbClr val="D15353"/>
              </a:solidFill>
              <a:prstDash val="lgDash"/>
              <a:miter/>
            </a:ln>
          </p:spPr>
        </p:sp>
        <p:sp>
          <p:nvSpPr>
            <p:cNvPr name="TextBox 24" id="24"/>
            <p:cNvSpPr txBox="true"/>
            <p:nvPr/>
          </p:nvSpPr>
          <p:spPr>
            <a:xfrm>
              <a:off x="0" y="-47625"/>
              <a:ext cx="2142146" cy="202241"/>
            </a:xfrm>
            <a:prstGeom prst="rect">
              <a:avLst/>
            </a:prstGeom>
          </p:spPr>
          <p:txBody>
            <a:bodyPr anchor="ctr" rtlCol="false" tIns="50746" lIns="50746" bIns="50746" rIns="50746"/>
            <a:lstStyle/>
            <a:p>
              <a:pPr algn="ctr">
                <a:lnSpc>
                  <a:spcPts val="3244"/>
                </a:lnSpc>
              </a:pPr>
            </a:p>
          </p:txBody>
        </p:sp>
      </p:grpSp>
      <p:sp>
        <p:nvSpPr>
          <p:cNvPr name="AutoShape 25" id="25"/>
          <p:cNvSpPr/>
          <p:nvPr/>
        </p:nvSpPr>
        <p:spPr>
          <a:xfrm>
            <a:off x="4420874" y="3093086"/>
            <a:ext cx="877319" cy="0"/>
          </a:xfrm>
          <a:prstGeom prst="line">
            <a:avLst/>
          </a:prstGeom>
          <a:ln cap="flat" w="38100">
            <a:solidFill>
              <a:srgbClr val="D15353"/>
            </a:solidFill>
            <a:prstDash val="sysDot"/>
            <a:headEnd type="triangle" len="med" w="lg"/>
            <a:tailEnd type="triangle" len="med" w="lg"/>
          </a:ln>
        </p:spPr>
      </p:sp>
      <p:sp>
        <p:nvSpPr>
          <p:cNvPr name="AutoShape 26" id="26"/>
          <p:cNvSpPr/>
          <p:nvPr/>
        </p:nvSpPr>
        <p:spPr>
          <a:xfrm>
            <a:off x="4432016" y="3829332"/>
            <a:ext cx="889732" cy="0"/>
          </a:xfrm>
          <a:prstGeom prst="line">
            <a:avLst/>
          </a:prstGeom>
          <a:ln cap="flat" w="38100">
            <a:solidFill>
              <a:srgbClr val="D15353"/>
            </a:solidFill>
            <a:prstDash val="sysDot"/>
            <a:headEnd type="triangle" len="med" w="lg"/>
            <a:tailEnd type="triangle" len="med" w="lg"/>
          </a:ln>
        </p:spPr>
      </p:sp>
      <p:sp>
        <p:nvSpPr>
          <p:cNvPr name="AutoShape 27" id="27"/>
          <p:cNvSpPr/>
          <p:nvPr/>
        </p:nvSpPr>
        <p:spPr>
          <a:xfrm>
            <a:off x="13460372" y="3110309"/>
            <a:ext cx="877319" cy="0"/>
          </a:xfrm>
          <a:prstGeom prst="line">
            <a:avLst/>
          </a:prstGeom>
          <a:ln cap="flat" w="38100">
            <a:solidFill>
              <a:srgbClr val="D15353"/>
            </a:solidFill>
            <a:prstDash val="sysDot"/>
            <a:headEnd type="triangle" len="med" w="lg"/>
            <a:tailEnd type="triangle" len="med" w="lg"/>
          </a:ln>
        </p:spPr>
      </p:sp>
      <p:sp>
        <p:nvSpPr>
          <p:cNvPr name="AutoShape 28" id="28"/>
          <p:cNvSpPr/>
          <p:nvPr/>
        </p:nvSpPr>
        <p:spPr>
          <a:xfrm>
            <a:off x="13447959" y="3869706"/>
            <a:ext cx="889732" cy="0"/>
          </a:xfrm>
          <a:prstGeom prst="line">
            <a:avLst/>
          </a:prstGeom>
          <a:ln cap="flat" w="38100">
            <a:solidFill>
              <a:srgbClr val="D15353"/>
            </a:solidFill>
            <a:prstDash val="sysDot"/>
            <a:headEnd type="triangle" len="med" w="lg"/>
            <a:tailEnd type="triangle" len="med" w="lg"/>
          </a:ln>
        </p:spPr>
      </p:sp>
      <p:grpSp>
        <p:nvGrpSpPr>
          <p:cNvPr name="Group 29" id="29"/>
          <p:cNvGrpSpPr/>
          <p:nvPr/>
        </p:nvGrpSpPr>
        <p:grpSpPr>
          <a:xfrm rot="0">
            <a:off x="14387216" y="2663021"/>
            <a:ext cx="3619621" cy="776655"/>
            <a:chOff x="0" y="0"/>
            <a:chExt cx="953615" cy="204615"/>
          </a:xfrm>
        </p:grpSpPr>
        <p:sp>
          <p:nvSpPr>
            <p:cNvPr name="Freeform 30" id="30"/>
            <p:cNvSpPr/>
            <p:nvPr/>
          </p:nvSpPr>
          <p:spPr>
            <a:xfrm flipH="false" flipV="false" rot="0">
              <a:off x="0" y="0"/>
              <a:ext cx="953615" cy="204615"/>
            </a:xfrm>
            <a:custGeom>
              <a:avLst/>
              <a:gdLst/>
              <a:ahLst/>
              <a:cxnLst/>
              <a:rect r="r" b="b" t="t" l="l"/>
              <a:pathLst>
                <a:path h="204615" w="953615">
                  <a:moveTo>
                    <a:pt x="0" y="0"/>
                  </a:moveTo>
                  <a:lnTo>
                    <a:pt x="953615" y="0"/>
                  </a:lnTo>
                  <a:lnTo>
                    <a:pt x="953615" y="204615"/>
                  </a:lnTo>
                  <a:lnTo>
                    <a:pt x="0" y="204615"/>
                  </a:lnTo>
                  <a:close/>
                </a:path>
              </a:pathLst>
            </a:custGeom>
            <a:solidFill>
              <a:srgbClr val="000000">
                <a:alpha val="0"/>
              </a:srgbClr>
            </a:solidFill>
            <a:ln w="19050" cap="sq">
              <a:solidFill>
                <a:srgbClr val="D15353"/>
              </a:solidFill>
              <a:prstDash val="solid"/>
              <a:miter/>
            </a:ln>
          </p:spPr>
        </p:sp>
        <p:sp>
          <p:nvSpPr>
            <p:cNvPr name="TextBox 31" id="31"/>
            <p:cNvSpPr txBox="true"/>
            <p:nvPr/>
          </p:nvSpPr>
          <p:spPr>
            <a:xfrm>
              <a:off x="0" y="-47625"/>
              <a:ext cx="953615" cy="252240"/>
            </a:xfrm>
            <a:prstGeom prst="rect">
              <a:avLst/>
            </a:prstGeom>
          </p:spPr>
          <p:txBody>
            <a:bodyPr anchor="ctr" rtlCol="false" tIns="50746" lIns="50746" bIns="50746" rIns="50746"/>
            <a:lstStyle/>
            <a:p>
              <a:pPr algn="ctr">
                <a:lnSpc>
                  <a:spcPts val="3244"/>
                </a:lnSpc>
              </a:pPr>
            </a:p>
          </p:txBody>
        </p:sp>
      </p:grpSp>
      <p:grpSp>
        <p:nvGrpSpPr>
          <p:cNvPr name="Group 32" id="32"/>
          <p:cNvGrpSpPr/>
          <p:nvPr/>
        </p:nvGrpSpPr>
        <p:grpSpPr>
          <a:xfrm rot="0">
            <a:off x="5323220" y="4286968"/>
            <a:ext cx="8139609" cy="1070242"/>
            <a:chOff x="0" y="0"/>
            <a:chExt cx="2142146" cy="281662"/>
          </a:xfrm>
        </p:grpSpPr>
        <p:sp>
          <p:nvSpPr>
            <p:cNvPr name="Freeform 33" id="33"/>
            <p:cNvSpPr/>
            <p:nvPr/>
          </p:nvSpPr>
          <p:spPr>
            <a:xfrm flipH="false" flipV="false" rot="0">
              <a:off x="0" y="0"/>
              <a:ext cx="2142146" cy="281662"/>
            </a:xfrm>
            <a:custGeom>
              <a:avLst/>
              <a:gdLst/>
              <a:ahLst/>
              <a:cxnLst/>
              <a:rect r="r" b="b" t="t" l="l"/>
              <a:pathLst>
                <a:path h="281662" w="2142146">
                  <a:moveTo>
                    <a:pt x="0" y="0"/>
                  </a:moveTo>
                  <a:lnTo>
                    <a:pt x="2142146" y="0"/>
                  </a:lnTo>
                  <a:lnTo>
                    <a:pt x="2142146" y="281662"/>
                  </a:lnTo>
                  <a:lnTo>
                    <a:pt x="0" y="281662"/>
                  </a:lnTo>
                  <a:close/>
                </a:path>
              </a:pathLst>
            </a:custGeom>
            <a:solidFill>
              <a:srgbClr val="000000">
                <a:alpha val="0"/>
              </a:srgbClr>
            </a:solidFill>
            <a:ln w="9525" cap="sq">
              <a:solidFill>
                <a:srgbClr val="D15353"/>
              </a:solidFill>
              <a:prstDash val="lgDash"/>
              <a:miter/>
            </a:ln>
          </p:spPr>
        </p:sp>
        <p:sp>
          <p:nvSpPr>
            <p:cNvPr name="TextBox 34" id="34"/>
            <p:cNvSpPr txBox="true"/>
            <p:nvPr/>
          </p:nvSpPr>
          <p:spPr>
            <a:xfrm>
              <a:off x="0" y="-47625"/>
              <a:ext cx="2142146" cy="329287"/>
            </a:xfrm>
            <a:prstGeom prst="rect">
              <a:avLst/>
            </a:prstGeom>
          </p:spPr>
          <p:txBody>
            <a:bodyPr anchor="ctr" rtlCol="false" tIns="50800" lIns="50800" bIns="50800" rIns="50800"/>
            <a:lstStyle/>
            <a:p>
              <a:pPr algn="ctr">
                <a:lnSpc>
                  <a:spcPts val="3244"/>
                </a:lnSpc>
              </a:pPr>
            </a:p>
          </p:txBody>
        </p:sp>
      </p:grpSp>
      <p:grpSp>
        <p:nvGrpSpPr>
          <p:cNvPr name="Group 35" id="35"/>
          <p:cNvGrpSpPr/>
          <p:nvPr/>
        </p:nvGrpSpPr>
        <p:grpSpPr>
          <a:xfrm rot="0">
            <a:off x="324171" y="4288732"/>
            <a:ext cx="4118434" cy="1028129"/>
            <a:chOff x="0" y="0"/>
            <a:chExt cx="1083871" cy="270578"/>
          </a:xfrm>
        </p:grpSpPr>
        <p:sp>
          <p:nvSpPr>
            <p:cNvPr name="Freeform 36" id="36"/>
            <p:cNvSpPr/>
            <p:nvPr/>
          </p:nvSpPr>
          <p:spPr>
            <a:xfrm flipH="false" flipV="false" rot="0">
              <a:off x="0" y="0"/>
              <a:ext cx="1083871" cy="270578"/>
            </a:xfrm>
            <a:custGeom>
              <a:avLst/>
              <a:gdLst/>
              <a:ahLst/>
              <a:cxnLst/>
              <a:rect r="r" b="b" t="t" l="l"/>
              <a:pathLst>
                <a:path h="270578" w="1083871">
                  <a:moveTo>
                    <a:pt x="0" y="0"/>
                  </a:moveTo>
                  <a:lnTo>
                    <a:pt x="1083871" y="0"/>
                  </a:lnTo>
                  <a:lnTo>
                    <a:pt x="1083871" y="270578"/>
                  </a:lnTo>
                  <a:lnTo>
                    <a:pt x="0" y="270578"/>
                  </a:lnTo>
                  <a:close/>
                </a:path>
              </a:pathLst>
            </a:custGeom>
            <a:solidFill>
              <a:srgbClr val="000000">
                <a:alpha val="0"/>
              </a:srgbClr>
            </a:solidFill>
            <a:ln w="19050" cap="sq">
              <a:solidFill>
                <a:srgbClr val="D15353"/>
              </a:solidFill>
              <a:prstDash val="solid"/>
              <a:miter/>
            </a:ln>
          </p:spPr>
        </p:sp>
        <p:sp>
          <p:nvSpPr>
            <p:cNvPr name="TextBox 37" id="37"/>
            <p:cNvSpPr txBox="true"/>
            <p:nvPr/>
          </p:nvSpPr>
          <p:spPr>
            <a:xfrm>
              <a:off x="0" y="-47625"/>
              <a:ext cx="1083871" cy="318203"/>
            </a:xfrm>
            <a:prstGeom prst="rect">
              <a:avLst/>
            </a:prstGeom>
          </p:spPr>
          <p:txBody>
            <a:bodyPr anchor="ctr" rtlCol="false" tIns="50800" lIns="50800" bIns="50800" rIns="50800"/>
            <a:lstStyle/>
            <a:p>
              <a:pPr algn="ctr">
                <a:lnSpc>
                  <a:spcPts val="3244"/>
                </a:lnSpc>
              </a:pPr>
            </a:p>
          </p:txBody>
        </p:sp>
      </p:grpSp>
      <p:sp>
        <p:nvSpPr>
          <p:cNvPr name="AutoShape 38" id="38"/>
          <p:cNvSpPr/>
          <p:nvPr/>
        </p:nvSpPr>
        <p:spPr>
          <a:xfrm flipV="true">
            <a:off x="4423354" y="4812329"/>
            <a:ext cx="900771" cy="0"/>
          </a:xfrm>
          <a:prstGeom prst="line">
            <a:avLst/>
          </a:prstGeom>
          <a:ln cap="flat" w="38100">
            <a:solidFill>
              <a:srgbClr val="D15353"/>
            </a:solidFill>
            <a:prstDash val="sysDot"/>
            <a:headEnd type="triangle" len="med" w="lg"/>
            <a:tailEnd type="triangle" len="med" w="lg"/>
          </a:ln>
        </p:spPr>
      </p:sp>
      <p:sp>
        <p:nvSpPr>
          <p:cNvPr name="AutoShape 39" id="39"/>
          <p:cNvSpPr/>
          <p:nvPr/>
        </p:nvSpPr>
        <p:spPr>
          <a:xfrm>
            <a:off x="13472530" y="4807715"/>
            <a:ext cx="900771" cy="0"/>
          </a:xfrm>
          <a:prstGeom prst="line">
            <a:avLst/>
          </a:prstGeom>
          <a:ln cap="flat" w="38100">
            <a:solidFill>
              <a:srgbClr val="D15353"/>
            </a:solidFill>
            <a:prstDash val="sysDot"/>
            <a:headEnd type="triangle" len="med" w="lg"/>
            <a:tailEnd type="triangle" len="med" w="lg"/>
          </a:ln>
        </p:spPr>
      </p:sp>
      <p:grpSp>
        <p:nvGrpSpPr>
          <p:cNvPr name="Group 40" id="40"/>
          <p:cNvGrpSpPr/>
          <p:nvPr/>
        </p:nvGrpSpPr>
        <p:grpSpPr>
          <a:xfrm rot="0">
            <a:off x="14402283" y="4288732"/>
            <a:ext cx="3623496" cy="1072249"/>
            <a:chOff x="0" y="0"/>
            <a:chExt cx="953615" cy="282190"/>
          </a:xfrm>
        </p:grpSpPr>
        <p:sp>
          <p:nvSpPr>
            <p:cNvPr name="Freeform 41" id="41"/>
            <p:cNvSpPr/>
            <p:nvPr/>
          </p:nvSpPr>
          <p:spPr>
            <a:xfrm flipH="false" flipV="false" rot="0">
              <a:off x="0" y="0"/>
              <a:ext cx="953615" cy="282190"/>
            </a:xfrm>
            <a:custGeom>
              <a:avLst/>
              <a:gdLst/>
              <a:ahLst/>
              <a:cxnLst/>
              <a:rect r="r" b="b" t="t" l="l"/>
              <a:pathLst>
                <a:path h="282190" w="953615">
                  <a:moveTo>
                    <a:pt x="0" y="0"/>
                  </a:moveTo>
                  <a:lnTo>
                    <a:pt x="953615" y="0"/>
                  </a:lnTo>
                  <a:lnTo>
                    <a:pt x="953615" y="282190"/>
                  </a:lnTo>
                  <a:lnTo>
                    <a:pt x="0" y="282190"/>
                  </a:lnTo>
                  <a:close/>
                </a:path>
              </a:pathLst>
            </a:custGeom>
            <a:solidFill>
              <a:srgbClr val="000000">
                <a:alpha val="0"/>
              </a:srgbClr>
            </a:solidFill>
            <a:ln w="19050" cap="sq">
              <a:solidFill>
                <a:srgbClr val="D15353"/>
              </a:solidFill>
              <a:prstDash val="solid"/>
              <a:miter/>
            </a:ln>
          </p:spPr>
        </p:sp>
        <p:sp>
          <p:nvSpPr>
            <p:cNvPr name="TextBox 42" id="42"/>
            <p:cNvSpPr txBox="true"/>
            <p:nvPr/>
          </p:nvSpPr>
          <p:spPr>
            <a:xfrm>
              <a:off x="0" y="-47625"/>
              <a:ext cx="953615" cy="329815"/>
            </a:xfrm>
            <a:prstGeom prst="rect">
              <a:avLst/>
            </a:prstGeom>
          </p:spPr>
          <p:txBody>
            <a:bodyPr anchor="ctr" rtlCol="false" tIns="50800" lIns="50800" bIns="50800" rIns="50800"/>
            <a:lstStyle/>
            <a:p>
              <a:pPr algn="ctr">
                <a:lnSpc>
                  <a:spcPts val="3244"/>
                </a:lnSpc>
              </a:pPr>
            </a:p>
          </p:txBody>
        </p:sp>
      </p:grpSp>
      <p:grpSp>
        <p:nvGrpSpPr>
          <p:cNvPr name="Group 43" id="43"/>
          <p:cNvGrpSpPr/>
          <p:nvPr/>
        </p:nvGrpSpPr>
        <p:grpSpPr>
          <a:xfrm rot="0">
            <a:off x="5309280" y="5481035"/>
            <a:ext cx="8139609" cy="1070242"/>
            <a:chOff x="0" y="0"/>
            <a:chExt cx="2142146" cy="281662"/>
          </a:xfrm>
        </p:grpSpPr>
        <p:sp>
          <p:nvSpPr>
            <p:cNvPr name="Freeform 44" id="44"/>
            <p:cNvSpPr/>
            <p:nvPr/>
          </p:nvSpPr>
          <p:spPr>
            <a:xfrm flipH="false" flipV="false" rot="0">
              <a:off x="0" y="0"/>
              <a:ext cx="2142146" cy="281662"/>
            </a:xfrm>
            <a:custGeom>
              <a:avLst/>
              <a:gdLst/>
              <a:ahLst/>
              <a:cxnLst/>
              <a:rect r="r" b="b" t="t" l="l"/>
              <a:pathLst>
                <a:path h="281662" w="2142146">
                  <a:moveTo>
                    <a:pt x="0" y="0"/>
                  </a:moveTo>
                  <a:lnTo>
                    <a:pt x="2142146" y="0"/>
                  </a:lnTo>
                  <a:lnTo>
                    <a:pt x="2142146" y="281662"/>
                  </a:lnTo>
                  <a:lnTo>
                    <a:pt x="0" y="281662"/>
                  </a:lnTo>
                  <a:close/>
                </a:path>
              </a:pathLst>
            </a:custGeom>
            <a:solidFill>
              <a:srgbClr val="000000">
                <a:alpha val="0"/>
              </a:srgbClr>
            </a:solidFill>
            <a:ln w="9525" cap="sq">
              <a:solidFill>
                <a:srgbClr val="D15353"/>
              </a:solidFill>
              <a:prstDash val="lgDash"/>
              <a:miter/>
            </a:ln>
          </p:spPr>
        </p:sp>
        <p:sp>
          <p:nvSpPr>
            <p:cNvPr name="TextBox 45" id="45"/>
            <p:cNvSpPr txBox="true"/>
            <p:nvPr/>
          </p:nvSpPr>
          <p:spPr>
            <a:xfrm>
              <a:off x="0" y="-47625"/>
              <a:ext cx="2142146" cy="329287"/>
            </a:xfrm>
            <a:prstGeom prst="rect">
              <a:avLst/>
            </a:prstGeom>
          </p:spPr>
          <p:txBody>
            <a:bodyPr anchor="ctr" rtlCol="false" tIns="50800" lIns="50800" bIns="50800" rIns="50800"/>
            <a:lstStyle/>
            <a:p>
              <a:pPr algn="ctr">
                <a:lnSpc>
                  <a:spcPts val="3244"/>
                </a:lnSpc>
              </a:pPr>
            </a:p>
          </p:txBody>
        </p:sp>
      </p:grpSp>
      <p:grpSp>
        <p:nvGrpSpPr>
          <p:cNvPr name="Group 46" id="46"/>
          <p:cNvGrpSpPr/>
          <p:nvPr/>
        </p:nvGrpSpPr>
        <p:grpSpPr>
          <a:xfrm rot="0">
            <a:off x="313494" y="5503856"/>
            <a:ext cx="4118434" cy="1028129"/>
            <a:chOff x="0" y="0"/>
            <a:chExt cx="1083871" cy="270578"/>
          </a:xfrm>
        </p:grpSpPr>
        <p:sp>
          <p:nvSpPr>
            <p:cNvPr name="Freeform 47" id="47"/>
            <p:cNvSpPr/>
            <p:nvPr/>
          </p:nvSpPr>
          <p:spPr>
            <a:xfrm flipH="false" flipV="false" rot="0">
              <a:off x="0" y="0"/>
              <a:ext cx="1083871" cy="270578"/>
            </a:xfrm>
            <a:custGeom>
              <a:avLst/>
              <a:gdLst/>
              <a:ahLst/>
              <a:cxnLst/>
              <a:rect r="r" b="b" t="t" l="l"/>
              <a:pathLst>
                <a:path h="270578" w="1083871">
                  <a:moveTo>
                    <a:pt x="0" y="0"/>
                  </a:moveTo>
                  <a:lnTo>
                    <a:pt x="1083871" y="0"/>
                  </a:lnTo>
                  <a:lnTo>
                    <a:pt x="1083871" y="270578"/>
                  </a:lnTo>
                  <a:lnTo>
                    <a:pt x="0" y="270578"/>
                  </a:lnTo>
                  <a:close/>
                </a:path>
              </a:pathLst>
            </a:custGeom>
            <a:solidFill>
              <a:srgbClr val="000000">
                <a:alpha val="0"/>
              </a:srgbClr>
            </a:solidFill>
            <a:ln w="19050" cap="sq">
              <a:solidFill>
                <a:srgbClr val="D15353"/>
              </a:solidFill>
              <a:prstDash val="solid"/>
              <a:miter/>
            </a:ln>
          </p:spPr>
        </p:sp>
        <p:sp>
          <p:nvSpPr>
            <p:cNvPr name="TextBox 48" id="48"/>
            <p:cNvSpPr txBox="true"/>
            <p:nvPr/>
          </p:nvSpPr>
          <p:spPr>
            <a:xfrm>
              <a:off x="0" y="-47625"/>
              <a:ext cx="1083871" cy="318203"/>
            </a:xfrm>
            <a:prstGeom prst="rect">
              <a:avLst/>
            </a:prstGeom>
          </p:spPr>
          <p:txBody>
            <a:bodyPr anchor="ctr" rtlCol="false" tIns="50800" lIns="50800" bIns="50800" rIns="50800"/>
            <a:lstStyle/>
            <a:p>
              <a:pPr algn="ctr">
                <a:lnSpc>
                  <a:spcPts val="3244"/>
                </a:lnSpc>
              </a:pPr>
            </a:p>
          </p:txBody>
        </p:sp>
      </p:grpSp>
      <p:sp>
        <p:nvSpPr>
          <p:cNvPr name="AutoShape 49" id="49"/>
          <p:cNvSpPr/>
          <p:nvPr/>
        </p:nvSpPr>
        <p:spPr>
          <a:xfrm flipV="true">
            <a:off x="4412507" y="6031681"/>
            <a:ext cx="903448" cy="0"/>
          </a:xfrm>
          <a:prstGeom prst="line">
            <a:avLst/>
          </a:prstGeom>
          <a:ln cap="flat" w="38100">
            <a:solidFill>
              <a:srgbClr val="D15353"/>
            </a:solidFill>
            <a:prstDash val="sysDot"/>
            <a:headEnd type="triangle" len="med" w="lg"/>
            <a:tailEnd type="triangle" len="med" w="lg"/>
          </a:ln>
        </p:spPr>
      </p:sp>
      <p:sp>
        <p:nvSpPr>
          <p:cNvPr name="AutoShape 50" id="50"/>
          <p:cNvSpPr/>
          <p:nvPr/>
        </p:nvSpPr>
        <p:spPr>
          <a:xfrm>
            <a:off x="13461683" y="6027067"/>
            <a:ext cx="903448" cy="0"/>
          </a:xfrm>
          <a:prstGeom prst="line">
            <a:avLst/>
          </a:prstGeom>
          <a:ln cap="flat" w="38100">
            <a:solidFill>
              <a:srgbClr val="D15353"/>
            </a:solidFill>
            <a:prstDash val="sysDot"/>
            <a:headEnd type="triangle" len="med" w="lg"/>
            <a:tailEnd type="triangle" len="med" w="lg"/>
          </a:ln>
        </p:spPr>
      </p:sp>
      <p:grpSp>
        <p:nvGrpSpPr>
          <p:cNvPr name="Group 51" id="51"/>
          <p:cNvGrpSpPr/>
          <p:nvPr/>
        </p:nvGrpSpPr>
        <p:grpSpPr>
          <a:xfrm rot="0">
            <a:off x="14391605" y="5503856"/>
            <a:ext cx="3623496" cy="1028129"/>
            <a:chOff x="0" y="0"/>
            <a:chExt cx="953615" cy="270578"/>
          </a:xfrm>
        </p:grpSpPr>
        <p:sp>
          <p:nvSpPr>
            <p:cNvPr name="Freeform 52" id="52"/>
            <p:cNvSpPr/>
            <p:nvPr/>
          </p:nvSpPr>
          <p:spPr>
            <a:xfrm flipH="false" flipV="false" rot="0">
              <a:off x="0" y="0"/>
              <a:ext cx="953615" cy="270578"/>
            </a:xfrm>
            <a:custGeom>
              <a:avLst/>
              <a:gdLst/>
              <a:ahLst/>
              <a:cxnLst/>
              <a:rect r="r" b="b" t="t" l="l"/>
              <a:pathLst>
                <a:path h="270578" w="953615">
                  <a:moveTo>
                    <a:pt x="0" y="0"/>
                  </a:moveTo>
                  <a:lnTo>
                    <a:pt x="953615" y="0"/>
                  </a:lnTo>
                  <a:lnTo>
                    <a:pt x="953615" y="270578"/>
                  </a:lnTo>
                  <a:lnTo>
                    <a:pt x="0" y="270578"/>
                  </a:lnTo>
                  <a:close/>
                </a:path>
              </a:pathLst>
            </a:custGeom>
            <a:solidFill>
              <a:srgbClr val="000000">
                <a:alpha val="0"/>
              </a:srgbClr>
            </a:solidFill>
            <a:ln w="19050" cap="sq">
              <a:solidFill>
                <a:srgbClr val="D15353"/>
              </a:solidFill>
              <a:prstDash val="solid"/>
              <a:miter/>
            </a:ln>
          </p:spPr>
        </p:sp>
        <p:sp>
          <p:nvSpPr>
            <p:cNvPr name="TextBox 53" id="53"/>
            <p:cNvSpPr txBox="true"/>
            <p:nvPr/>
          </p:nvSpPr>
          <p:spPr>
            <a:xfrm>
              <a:off x="0" y="-47625"/>
              <a:ext cx="953615" cy="318203"/>
            </a:xfrm>
            <a:prstGeom prst="rect">
              <a:avLst/>
            </a:prstGeom>
          </p:spPr>
          <p:txBody>
            <a:bodyPr anchor="ctr" rtlCol="false" tIns="50800" lIns="50800" bIns="50800" rIns="50800"/>
            <a:lstStyle/>
            <a:p>
              <a:pPr algn="ctr">
                <a:lnSpc>
                  <a:spcPts val="3244"/>
                </a:lnSpc>
              </a:pPr>
            </a:p>
          </p:txBody>
        </p:sp>
      </p:grpSp>
      <p:grpSp>
        <p:nvGrpSpPr>
          <p:cNvPr name="Group 54" id="54"/>
          <p:cNvGrpSpPr/>
          <p:nvPr/>
        </p:nvGrpSpPr>
        <p:grpSpPr>
          <a:xfrm rot="0">
            <a:off x="5312542" y="6675102"/>
            <a:ext cx="8139609" cy="1070242"/>
            <a:chOff x="0" y="0"/>
            <a:chExt cx="2142146" cy="281662"/>
          </a:xfrm>
        </p:grpSpPr>
        <p:sp>
          <p:nvSpPr>
            <p:cNvPr name="Freeform 55" id="55"/>
            <p:cNvSpPr/>
            <p:nvPr/>
          </p:nvSpPr>
          <p:spPr>
            <a:xfrm flipH="false" flipV="false" rot="0">
              <a:off x="0" y="0"/>
              <a:ext cx="2142146" cy="281662"/>
            </a:xfrm>
            <a:custGeom>
              <a:avLst/>
              <a:gdLst/>
              <a:ahLst/>
              <a:cxnLst/>
              <a:rect r="r" b="b" t="t" l="l"/>
              <a:pathLst>
                <a:path h="281662" w="2142146">
                  <a:moveTo>
                    <a:pt x="0" y="0"/>
                  </a:moveTo>
                  <a:lnTo>
                    <a:pt x="2142146" y="0"/>
                  </a:lnTo>
                  <a:lnTo>
                    <a:pt x="2142146" y="281662"/>
                  </a:lnTo>
                  <a:lnTo>
                    <a:pt x="0" y="281662"/>
                  </a:lnTo>
                  <a:close/>
                </a:path>
              </a:pathLst>
            </a:custGeom>
            <a:solidFill>
              <a:srgbClr val="000000">
                <a:alpha val="0"/>
              </a:srgbClr>
            </a:solidFill>
            <a:ln w="9525" cap="sq">
              <a:solidFill>
                <a:srgbClr val="D15353"/>
              </a:solidFill>
              <a:prstDash val="lgDash"/>
              <a:miter/>
            </a:ln>
          </p:spPr>
        </p:sp>
        <p:sp>
          <p:nvSpPr>
            <p:cNvPr name="TextBox 56" id="56"/>
            <p:cNvSpPr txBox="true"/>
            <p:nvPr/>
          </p:nvSpPr>
          <p:spPr>
            <a:xfrm>
              <a:off x="0" y="-47625"/>
              <a:ext cx="2142146" cy="329287"/>
            </a:xfrm>
            <a:prstGeom prst="rect">
              <a:avLst/>
            </a:prstGeom>
          </p:spPr>
          <p:txBody>
            <a:bodyPr anchor="ctr" rtlCol="false" tIns="50800" lIns="50800" bIns="50800" rIns="50800"/>
            <a:lstStyle/>
            <a:p>
              <a:pPr algn="ctr">
                <a:lnSpc>
                  <a:spcPts val="3244"/>
                </a:lnSpc>
              </a:pPr>
            </a:p>
          </p:txBody>
        </p:sp>
      </p:grpSp>
      <p:grpSp>
        <p:nvGrpSpPr>
          <p:cNvPr name="Group 57" id="57"/>
          <p:cNvGrpSpPr/>
          <p:nvPr/>
        </p:nvGrpSpPr>
        <p:grpSpPr>
          <a:xfrm rot="0">
            <a:off x="313494" y="6676867"/>
            <a:ext cx="4118434" cy="1028129"/>
            <a:chOff x="0" y="0"/>
            <a:chExt cx="1083871" cy="270578"/>
          </a:xfrm>
        </p:grpSpPr>
        <p:sp>
          <p:nvSpPr>
            <p:cNvPr name="Freeform 58" id="58"/>
            <p:cNvSpPr/>
            <p:nvPr/>
          </p:nvSpPr>
          <p:spPr>
            <a:xfrm flipH="false" flipV="false" rot="0">
              <a:off x="0" y="0"/>
              <a:ext cx="1083871" cy="270578"/>
            </a:xfrm>
            <a:custGeom>
              <a:avLst/>
              <a:gdLst/>
              <a:ahLst/>
              <a:cxnLst/>
              <a:rect r="r" b="b" t="t" l="l"/>
              <a:pathLst>
                <a:path h="270578" w="1083871">
                  <a:moveTo>
                    <a:pt x="0" y="0"/>
                  </a:moveTo>
                  <a:lnTo>
                    <a:pt x="1083871" y="0"/>
                  </a:lnTo>
                  <a:lnTo>
                    <a:pt x="1083871" y="270578"/>
                  </a:lnTo>
                  <a:lnTo>
                    <a:pt x="0" y="270578"/>
                  </a:lnTo>
                  <a:close/>
                </a:path>
              </a:pathLst>
            </a:custGeom>
            <a:solidFill>
              <a:srgbClr val="000000">
                <a:alpha val="0"/>
              </a:srgbClr>
            </a:solidFill>
            <a:ln w="19050" cap="sq">
              <a:solidFill>
                <a:srgbClr val="D15353"/>
              </a:solidFill>
              <a:prstDash val="solid"/>
              <a:miter/>
            </a:ln>
          </p:spPr>
        </p:sp>
        <p:sp>
          <p:nvSpPr>
            <p:cNvPr name="TextBox 59" id="59"/>
            <p:cNvSpPr txBox="true"/>
            <p:nvPr/>
          </p:nvSpPr>
          <p:spPr>
            <a:xfrm>
              <a:off x="0" y="-47625"/>
              <a:ext cx="1083871" cy="318203"/>
            </a:xfrm>
            <a:prstGeom prst="rect">
              <a:avLst/>
            </a:prstGeom>
          </p:spPr>
          <p:txBody>
            <a:bodyPr anchor="ctr" rtlCol="false" tIns="50800" lIns="50800" bIns="50800" rIns="50800"/>
            <a:lstStyle/>
            <a:p>
              <a:pPr algn="ctr">
                <a:lnSpc>
                  <a:spcPts val="3244"/>
                </a:lnSpc>
              </a:pPr>
            </a:p>
          </p:txBody>
        </p:sp>
      </p:grpSp>
      <p:sp>
        <p:nvSpPr>
          <p:cNvPr name="AutoShape 60" id="60"/>
          <p:cNvSpPr/>
          <p:nvPr/>
        </p:nvSpPr>
        <p:spPr>
          <a:xfrm>
            <a:off x="4412339" y="7229058"/>
            <a:ext cx="903617" cy="0"/>
          </a:xfrm>
          <a:prstGeom prst="line">
            <a:avLst/>
          </a:prstGeom>
          <a:ln cap="flat" w="38100">
            <a:solidFill>
              <a:srgbClr val="D15353"/>
            </a:solidFill>
            <a:prstDash val="sysDot"/>
            <a:headEnd type="triangle" len="med" w="lg"/>
            <a:tailEnd type="triangle" len="med" w="lg"/>
          </a:ln>
        </p:spPr>
      </p:sp>
      <p:sp>
        <p:nvSpPr>
          <p:cNvPr name="AutoShape 61" id="61"/>
          <p:cNvSpPr/>
          <p:nvPr/>
        </p:nvSpPr>
        <p:spPr>
          <a:xfrm>
            <a:off x="13461683" y="7312910"/>
            <a:ext cx="903617" cy="0"/>
          </a:xfrm>
          <a:prstGeom prst="line">
            <a:avLst/>
          </a:prstGeom>
          <a:ln cap="flat" w="38100">
            <a:solidFill>
              <a:srgbClr val="D15353"/>
            </a:solidFill>
            <a:prstDash val="sysDot"/>
            <a:headEnd type="triangle" len="med" w="lg"/>
            <a:tailEnd type="triangle" len="med" w="lg"/>
          </a:ln>
        </p:spPr>
      </p:sp>
      <p:grpSp>
        <p:nvGrpSpPr>
          <p:cNvPr name="Group 62" id="62"/>
          <p:cNvGrpSpPr/>
          <p:nvPr/>
        </p:nvGrpSpPr>
        <p:grpSpPr>
          <a:xfrm rot="0">
            <a:off x="14391605" y="6676867"/>
            <a:ext cx="3623496" cy="1028129"/>
            <a:chOff x="0" y="0"/>
            <a:chExt cx="953615" cy="270578"/>
          </a:xfrm>
        </p:grpSpPr>
        <p:sp>
          <p:nvSpPr>
            <p:cNvPr name="Freeform 63" id="63"/>
            <p:cNvSpPr/>
            <p:nvPr/>
          </p:nvSpPr>
          <p:spPr>
            <a:xfrm flipH="false" flipV="false" rot="0">
              <a:off x="0" y="0"/>
              <a:ext cx="953615" cy="270578"/>
            </a:xfrm>
            <a:custGeom>
              <a:avLst/>
              <a:gdLst/>
              <a:ahLst/>
              <a:cxnLst/>
              <a:rect r="r" b="b" t="t" l="l"/>
              <a:pathLst>
                <a:path h="270578" w="953615">
                  <a:moveTo>
                    <a:pt x="0" y="0"/>
                  </a:moveTo>
                  <a:lnTo>
                    <a:pt x="953615" y="0"/>
                  </a:lnTo>
                  <a:lnTo>
                    <a:pt x="953615" y="270578"/>
                  </a:lnTo>
                  <a:lnTo>
                    <a:pt x="0" y="270578"/>
                  </a:lnTo>
                  <a:close/>
                </a:path>
              </a:pathLst>
            </a:custGeom>
            <a:solidFill>
              <a:srgbClr val="000000">
                <a:alpha val="0"/>
              </a:srgbClr>
            </a:solidFill>
            <a:ln w="19050" cap="sq">
              <a:solidFill>
                <a:srgbClr val="D15353"/>
              </a:solidFill>
              <a:prstDash val="solid"/>
              <a:miter/>
            </a:ln>
          </p:spPr>
        </p:sp>
        <p:sp>
          <p:nvSpPr>
            <p:cNvPr name="TextBox 64" id="64"/>
            <p:cNvSpPr txBox="true"/>
            <p:nvPr/>
          </p:nvSpPr>
          <p:spPr>
            <a:xfrm>
              <a:off x="0" y="-47625"/>
              <a:ext cx="953615" cy="318203"/>
            </a:xfrm>
            <a:prstGeom prst="rect">
              <a:avLst/>
            </a:prstGeom>
          </p:spPr>
          <p:txBody>
            <a:bodyPr anchor="ctr" rtlCol="false" tIns="50800" lIns="50800" bIns="50800" rIns="50800"/>
            <a:lstStyle/>
            <a:p>
              <a:pPr algn="ctr">
                <a:lnSpc>
                  <a:spcPts val="3244"/>
                </a:lnSpc>
              </a:pPr>
            </a:p>
          </p:txBody>
        </p:sp>
      </p:grpSp>
      <p:grpSp>
        <p:nvGrpSpPr>
          <p:cNvPr name="Group 65" id="65"/>
          <p:cNvGrpSpPr/>
          <p:nvPr/>
        </p:nvGrpSpPr>
        <p:grpSpPr>
          <a:xfrm rot="0">
            <a:off x="5324124" y="7888220"/>
            <a:ext cx="8139609" cy="1809628"/>
            <a:chOff x="0" y="0"/>
            <a:chExt cx="2142146" cy="476250"/>
          </a:xfrm>
        </p:grpSpPr>
        <p:sp>
          <p:nvSpPr>
            <p:cNvPr name="Freeform 66" id="66"/>
            <p:cNvSpPr/>
            <p:nvPr/>
          </p:nvSpPr>
          <p:spPr>
            <a:xfrm flipH="false" flipV="false" rot="0">
              <a:off x="0" y="0"/>
              <a:ext cx="2142146" cy="476250"/>
            </a:xfrm>
            <a:custGeom>
              <a:avLst/>
              <a:gdLst/>
              <a:ahLst/>
              <a:cxnLst/>
              <a:rect r="r" b="b" t="t" l="l"/>
              <a:pathLst>
                <a:path h="476250" w="2142146">
                  <a:moveTo>
                    <a:pt x="0" y="0"/>
                  </a:moveTo>
                  <a:lnTo>
                    <a:pt x="2142146" y="0"/>
                  </a:lnTo>
                  <a:lnTo>
                    <a:pt x="2142146" y="476250"/>
                  </a:lnTo>
                  <a:lnTo>
                    <a:pt x="0" y="476250"/>
                  </a:lnTo>
                  <a:close/>
                </a:path>
              </a:pathLst>
            </a:custGeom>
            <a:solidFill>
              <a:srgbClr val="000000">
                <a:alpha val="0"/>
              </a:srgbClr>
            </a:solidFill>
            <a:ln w="9525" cap="sq">
              <a:solidFill>
                <a:srgbClr val="D15353"/>
              </a:solidFill>
              <a:prstDash val="lgDash"/>
              <a:miter/>
            </a:ln>
          </p:spPr>
        </p:sp>
        <p:sp>
          <p:nvSpPr>
            <p:cNvPr name="TextBox 67" id="67"/>
            <p:cNvSpPr txBox="true"/>
            <p:nvPr/>
          </p:nvSpPr>
          <p:spPr>
            <a:xfrm>
              <a:off x="0" y="-47625"/>
              <a:ext cx="2142146" cy="523875"/>
            </a:xfrm>
            <a:prstGeom prst="rect">
              <a:avLst/>
            </a:prstGeom>
          </p:spPr>
          <p:txBody>
            <a:bodyPr anchor="ctr" rtlCol="false" tIns="50800" lIns="50800" bIns="50800" rIns="50800"/>
            <a:lstStyle/>
            <a:p>
              <a:pPr algn="ctr">
                <a:lnSpc>
                  <a:spcPts val="3244"/>
                </a:lnSpc>
              </a:pPr>
            </a:p>
          </p:txBody>
        </p:sp>
      </p:grpSp>
      <p:sp>
        <p:nvSpPr>
          <p:cNvPr name="TextBox 68" id="68"/>
          <p:cNvSpPr txBox="true"/>
          <p:nvPr/>
        </p:nvSpPr>
        <p:spPr>
          <a:xfrm rot="0">
            <a:off x="5430736" y="7992219"/>
            <a:ext cx="7973865" cy="620555"/>
          </a:xfrm>
          <a:prstGeom prst="rect">
            <a:avLst/>
          </a:prstGeom>
        </p:spPr>
        <p:txBody>
          <a:bodyPr anchor="t" rtlCol="false" tIns="0" lIns="0" bIns="0" rIns="0">
            <a:spAutoFit/>
          </a:bodyPr>
          <a:lstStyle/>
          <a:p>
            <a:pPr algn="l">
              <a:lnSpc>
                <a:spcPts val="2546"/>
              </a:lnSpc>
            </a:pPr>
            <a:r>
              <a:rPr lang="en-US" sz="1818">
                <a:solidFill>
                  <a:srgbClr val="000000"/>
                </a:solidFill>
                <a:latin typeface="Glacial Indifference"/>
                <a:ea typeface="Glacial Indifference"/>
                <a:cs typeface="Glacial Indifference"/>
                <a:sym typeface="Glacial Indifference"/>
              </a:rPr>
              <a:t>The results will be used to analyse the effect of rising temperatures on agriculture. How will farming conditions look in 2080?</a:t>
            </a:r>
          </a:p>
        </p:txBody>
      </p:sp>
      <p:grpSp>
        <p:nvGrpSpPr>
          <p:cNvPr name="Group 69" id="69"/>
          <p:cNvGrpSpPr/>
          <p:nvPr/>
        </p:nvGrpSpPr>
        <p:grpSpPr>
          <a:xfrm rot="0">
            <a:off x="313494" y="7905273"/>
            <a:ext cx="4118434" cy="1792576"/>
            <a:chOff x="0" y="0"/>
            <a:chExt cx="1083871" cy="471762"/>
          </a:xfrm>
        </p:grpSpPr>
        <p:sp>
          <p:nvSpPr>
            <p:cNvPr name="Freeform 70" id="70"/>
            <p:cNvSpPr/>
            <p:nvPr/>
          </p:nvSpPr>
          <p:spPr>
            <a:xfrm flipH="false" flipV="false" rot="0">
              <a:off x="0" y="0"/>
              <a:ext cx="1083871" cy="471762"/>
            </a:xfrm>
            <a:custGeom>
              <a:avLst/>
              <a:gdLst/>
              <a:ahLst/>
              <a:cxnLst/>
              <a:rect r="r" b="b" t="t" l="l"/>
              <a:pathLst>
                <a:path h="471762" w="1083871">
                  <a:moveTo>
                    <a:pt x="0" y="0"/>
                  </a:moveTo>
                  <a:lnTo>
                    <a:pt x="1083871" y="0"/>
                  </a:lnTo>
                  <a:lnTo>
                    <a:pt x="1083871" y="471762"/>
                  </a:lnTo>
                  <a:lnTo>
                    <a:pt x="0" y="471762"/>
                  </a:lnTo>
                  <a:close/>
                </a:path>
              </a:pathLst>
            </a:custGeom>
            <a:solidFill>
              <a:srgbClr val="000000">
                <a:alpha val="0"/>
              </a:srgbClr>
            </a:solidFill>
            <a:ln w="19050" cap="sq">
              <a:solidFill>
                <a:srgbClr val="D15353"/>
              </a:solidFill>
              <a:prstDash val="solid"/>
              <a:miter/>
            </a:ln>
          </p:spPr>
        </p:sp>
        <p:sp>
          <p:nvSpPr>
            <p:cNvPr name="TextBox 71" id="71"/>
            <p:cNvSpPr txBox="true"/>
            <p:nvPr/>
          </p:nvSpPr>
          <p:spPr>
            <a:xfrm>
              <a:off x="0" y="-47625"/>
              <a:ext cx="1083871" cy="519387"/>
            </a:xfrm>
            <a:prstGeom prst="rect">
              <a:avLst/>
            </a:prstGeom>
          </p:spPr>
          <p:txBody>
            <a:bodyPr anchor="ctr" rtlCol="false" tIns="50800" lIns="50800" bIns="50800" rIns="50800"/>
            <a:lstStyle/>
            <a:p>
              <a:pPr algn="ctr">
                <a:lnSpc>
                  <a:spcPts val="3244"/>
                </a:lnSpc>
              </a:pPr>
            </a:p>
          </p:txBody>
        </p:sp>
      </p:grpSp>
      <p:sp>
        <p:nvSpPr>
          <p:cNvPr name="TextBox 72" id="72"/>
          <p:cNvSpPr txBox="true"/>
          <p:nvPr/>
        </p:nvSpPr>
        <p:spPr>
          <a:xfrm rot="0">
            <a:off x="705798" y="8534427"/>
            <a:ext cx="3293231" cy="306705"/>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Glacial Indifference Bold"/>
                <a:ea typeface="Glacial Indifference Bold"/>
                <a:cs typeface="Glacial Indifference Bold"/>
                <a:sym typeface="Glacial Indifference Bold"/>
              </a:rPr>
              <a:t>Draw Conclusion</a:t>
            </a:r>
          </a:p>
        </p:txBody>
      </p:sp>
      <p:sp>
        <p:nvSpPr>
          <p:cNvPr name="AutoShape 73" id="73"/>
          <p:cNvSpPr/>
          <p:nvPr/>
        </p:nvSpPr>
        <p:spPr>
          <a:xfrm>
            <a:off x="4408925" y="8572527"/>
            <a:ext cx="903617" cy="0"/>
          </a:xfrm>
          <a:prstGeom prst="line">
            <a:avLst/>
          </a:prstGeom>
          <a:ln cap="flat" w="38100">
            <a:solidFill>
              <a:srgbClr val="D15353"/>
            </a:solidFill>
            <a:prstDash val="sysDot"/>
            <a:headEnd type="triangle" len="med" w="lg"/>
            <a:tailEnd type="triangle" len="med" w="lg"/>
          </a:ln>
        </p:spPr>
      </p:sp>
      <p:sp>
        <p:nvSpPr>
          <p:cNvPr name="AutoShape 74" id="74"/>
          <p:cNvSpPr/>
          <p:nvPr/>
        </p:nvSpPr>
        <p:spPr>
          <a:xfrm>
            <a:off x="13442686" y="8591591"/>
            <a:ext cx="903617" cy="0"/>
          </a:xfrm>
          <a:prstGeom prst="line">
            <a:avLst/>
          </a:prstGeom>
          <a:ln cap="flat" w="38100">
            <a:solidFill>
              <a:srgbClr val="D15353"/>
            </a:solidFill>
            <a:prstDash val="sysDot"/>
            <a:headEnd type="triangle" len="med" w="lg"/>
            <a:tailEnd type="triangle" len="med" w="lg"/>
          </a:ln>
        </p:spPr>
      </p:sp>
      <p:grpSp>
        <p:nvGrpSpPr>
          <p:cNvPr name="Group 75" id="75"/>
          <p:cNvGrpSpPr/>
          <p:nvPr/>
        </p:nvGrpSpPr>
        <p:grpSpPr>
          <a:xfrm rot="0">
            <a:off x="14391605" y="7905273"/>
            <a:ext cx="3623496" cy="1792576"/>
            <a:chOff x="0" y="0"/>
            <a:chExt cx="953615" cy="471762"/>
          </a:xfrm>
        </p:grpSpPr>
        <p:sp>
          <p:nvSpPr>
            <p:cNvPr name="Freeform 76" id="76"/>
            <p:cNvSpPr/>
            <p:nvPr/>
          </p:nvSpPr>
          <p:spPr>
            <a:xfrm flipH="false" flipV="false" rot="0">
              <a:off x="0" y="0"/>
              <a:ext cx="953615" cy="471762"/>
            </a:xfrm>
            <a:custGeom>
              <a:avLst/>
              <a:gdLst/>
              <a:ahLst/>
              <a:cxnLst/>
              <a:rect r="r" b="b" t="t" l="l"/>
              <a:pathLst>
                <a:path h="471762" w="953615">
                  <a:moveTo>
                    <a:pt x="0" y="0"/>
                  </a:moveTo>
                  <a:lnTo>
                    <a:pt x="953615" y="0"/>
                  </a:lnTo>
                  <a:lnTo>
                    <a:pt x="953615" y="471762"/>
                  </a:lnTo>
                  <a:lnTo>
                    <a:pt x="0" y="471762"/>
                  </a:lnTo>
                  <a:close/>
                </a:path>
              </a:pathLst>
            </a:custGeom>
            <a:solidFill>
              <a:srgbClr val="000000">
                <a:alpha val="0"/>
              </a:srgbClr>
            </a:solidFill>
            <a:ln w="19050" cap="sq">
              <a:solidFill>
                <a:srgbClr val="D15353"/>
              </a:solidFill>
              <a:prstDash val="solid"/>
              <a:miter/>
            </a:ln>
          </p:spPr>
        </p:sp>
        <p:sp>
          <p:nvSpPr>
            <p:cNvPr name="TextBox 77" id="77"/>
            <p:cNvSpPr txBox="true"/>
            <p:nvPr/>
          </p:nvSpPr>
          <p:spPr>
            <a:xfrm>
              <a:off x="0" y="-47625"/>
              <a:ext cx="953615" cy="519387"/>
            </a:xfrm>
            <a:prstGeom prst="rect">
              <a:avLst/>
            </a:prstGeom>
          </p:spPr>
          <p:txBody>
            <a:bodyPr anchor="ctr" rtlCol="false" tIns="50800" lIns="50800" bIns="50800" rIns="50800"/>
            <a:lstStyle/>
            <a:p>
              <a:pPr algn="ctr">
                <a:lnSpc>
                  <a:spcPts val="3244"/>
                </a:lnSpc>
              </a:pPr>
            </a:p>
          </p:txBody>
        </p:sp>
      </p:grpSp>
      <p:sp>
        <p:nvSpPr>
          <p:cNvPr name="TextBox 78" id="78"/>
          <p:cNvSpPr txBox="true"/>
          <p:nvPr/>
        </p:nvSpPr>
        <p:spPr>
          <a:xfrm rot="0">
            <a:off x="14402283" y="8466996"/>
            <a:ext cx="3623496" cy="558956"/>
          </a:xfrm>
          <a:prstGeom prst="rect">
            <a:avLst/>
          </a:prstGeom>
        </p:spPr>
        <p:txBody>
          <a:bodyPr anchor="t" rtlCol="false" tIns="0" lIns="0" bIns="0" rIns="0">
            <a:spAutoFit/>
          </a:bodyPr>
          <a:lstStyle/>
          <a:p>
            <a:pPr algn="ctr">
              <a:lnSpc>
                <a:spcPts val="2266"/>
              </a:lnSpc>
              <a:spcBef>
                <a:spcPct val="0"/>
              </a:spcBef>
            </a:pPr>
            <a:r>
              <a:rPr lang="en-US" sz="1618">
                <a:solidFill>
                  <a:srgbClr val="000000"/>
                </a:solidFill>
                <a:latin typeface="Glacial Indifference"/>
                <a:ea typeface="Glacial Indifference"/>
                <a:cs typeface="Glacial Indifference"/>
                <a:sym typeface="Glacial Indifference"/>
              </a:rPr>
              <a:t>Key findings and future recommendations</a:t>
            </a:r>
          </a:p>
        </p:txBody>
      </p:sp>
      <p:sp>
        <p:nvSpPr>
          <p:cNvPr name="AutoShape 79" id="79"/>
          <p:cNvSpPr/>
          <p:nvPr/>
        </p:nvSpPr>
        <p:spPr>
          <a:xfrm>
            <a:off x="347984" y="332258"/>
            <a:ext cx="0" cy="815143"/>
          </a:xfrm>
          <a:prstGeom prst="line">
            <a:avLst/>
          </a:prstGeom>
          <a:ln cap="flat" w="47625">
            <a:solidFill>
              <a:srgbClr val="206648"/>
            </a:solidFill>
            <a:prstDash val="solid"/>
            <a:headEnd type="none" len="sm" w="sm"/>
            <a:tailEnd type="none" len="sm" w="sm"/>
          </a:ln>
        </p:spPr>
      </p:sp>
      <p:grpSp>
        <p:nvGrpSpPr>
          <p:cNvPr name="Group 80" id="80"/>
          <p:cNvGrpSpPr/>
          <p:nvPr/>
        </p:nvGrpSpPr>
        <p:grpSpPr>
          <a:xfrm rot="0">
            <a:off x="14406158" y="3576270"/>
            <a:ext cx="3619621" cy="584435"/>
            <a:chOff x="0" y="0"/>
            <a:chExt cx="953615" cy="153974"/>
          </a:xfrm>
        </p:grpSpPr>
        <p:sp>
          <p:nvSpPr>
            <p:cNvPr name="Freeform 81" id="81"/>
            <p:cNvSpPr/>
            <p:nvPr/>
          </p:nvSpPr>
          <p:spPr>
            <a:xfrm flipH="false" flipV="false" rot="0">
              <a:off x="0" y="0"/>
              <a:ext cx="953615" cy="153974"/>
            </a:xfrm>
            <a:custGeom>
              <a:avLst/>
              <a:gdLst/>
              <a:ahLst/>
              <a:cxnLst/>
              <a:rect r="r" b="b" t="t" l="l"/>
              <a:pathLst>
                <a:path h="153974" w="953615">
                  <a:moveTo>
                    <a:pt x="0" y="0"/>
                  </a:moveTo>
                  <a:lnTo>
                    <a:pt x="953615" y="0"/>
                  </a:lnTo>
                  <a:lnTo>
                    <a:pt x="953615" y="153974"/>
                  </a:lnTo>
                  <a:lnTo>
                    <a:pt x="0" y="153974"/>
                  </a:lnTo>
                  <a:close/>
                </a:path>
              </a:pathLst>
            </a:custGeom>
            <a:solidFill>
              <a:srgbClr val="000000">
                <a:alpha val="0"/>
              </a:srgbClr>
            </a:solidFill>
            <a:ln w="19050" cap="sq">
              <a:solidFill>
                <a:srgbClr val="D15353"/>
              </a:solidFill>
              <a:prstDash val="solid"/>
              <a:miter/>
            </a:ln>
          </p:spPr>
        </p:sp>
        <p:sp>
          <p:nvSpPr>
            <p:cNvPr name="TextBox 82" id="82"/>
            <p:cNvSpPr txBox="true"/>
            <p:nvPr/>
          </p:nvSpPr>
          <p:spPr>
            <a:xfrm>
              <a:off x="0" y="-47625"/>
              <a:ext cx="953615" cy="201599"/>
            </a:xfrm>
            <a:prstGeom prst="rect">
              <a:avLst/>
            </a:prstGeom>
          </p:spPr>
          <p:txBody>
            <a:bodyPr anchor="ctr" rtlCol="false" tIns="50746" lIns="50746" bIns="50746" rIns="50746"/>
            <a:lstStyle/>
            <a:p>
              <a:pPr algn="ctr">
                <a:lnSpc>
                  <a:spcPts val="3244"/>
                </a:lnSpc>
              </a:pPr>
            </a:p>
          </p:txBody>
        </p:sp>
      </p:grpSp>
      <p:sp>
        <p:nvSpPr>
          <p:cNvPr name="Freeform 83" id="83"/>
          <p:cNvSpPr/>
          <p:nvPr/>
        </p:nvSpPr>
        <p:spPr>
          <a:xfrm flipH="false" flipV="false" rot="0">
            <a:off x="14337690" y="452202"/>
            <a:ext cx="2010032" cy="1083579"/>
          </a:xfrm>
          <a:custGeom>
            <a:avLst/>
            <a:gdLst/>
            <a:ahLst/>
            <a:cxnLst/>
            <a:rect r="r" b="b" t="t" l="l"/>
            <a:pathLst>
              <a:path h="1083579" w="2010032">
                <a:moveTo>
                  <a:pt x="0" y="0"/>
                </a:moveTo>
                <a:lnTo>
                  <a:pt x="2010032" y="0"/>
                </a:lnTo>
                <a:lnTo>
                  <a:pt x="2010032" y="1083579"/>
                </a:lnTo>
                <a:lnTo>
                  <a:pt x="0" y="10835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4" id="84"/>
          <p:cNvSpPr txBox="true"/>
          <p:nvPr/>
        </p:nvSpPr>
        <p:spPr>
          <a:xfrm rot="0">
            <a:off x="5416192" y="2722735"/>
            <a:ext cx="8022426" cy="619932"/>
          </a:xfrm>
          <a:prstGeom prst="rect">
            <a:avLst/>
          </a:prstGeom>
        </p:spPr>
        <p:txBody>
          <a:bodyPr anchor="t" rtlCol="false" tIns="0" lIns="0" bIns="0" rIns="0">
            <a:spAutoFit/>
          </a:bodyPr>
          <a:lstStyle/>
          <a:p>
            <a:pPr algn="l">
              <a:lnSpc>
                <a:spcPts val="2543"/>
              </a:lnSpc>
              <a:spcBef>
                <a:spcPct val="0"/>
              </a:spcBef>
            </a:pPr>
            <a:r>
              <a:rPr lang="en-US" sz="1816">
                <a:solidFill>
                  <a:srgbClr val="000000"/>
                </a:solidFill>
                <a:latin typeface="Glacial Indifference"/>
                <a:ea typeface="Glacial Indifference"/>
                <a:cs typeface="Glacial Indifference"/>
                <a:sym typeface="Glacial Indifference"/>
              </a:rPr>
              <a:t>Take the average of each variable value across 6 datasets to reduce variability and enhance robustnes</a:t>
            </a:r>
          </a:p>
        </p:txBody>
      </p:sp>
      <p:sp>
        <p:nvSpPr>
          <p:cNvPr name="TextBox 85" id="85"/>
          <p:cNvSpPr txBox="true"/>
          <p:nvPr/>
        </p:nvSpPr>
        <p:spPr>
          <a:xfrm rot="0">
            <a:off x="313494" y="3687969"/>
            <a:ext cx="4114030" cy="306418"/>
          </a:xfrm>
          <a:prstGeom prst="rect">
            <a:avLst/>
          </a:prstGeom>
        </p:spPr>
        <p:txBody>
          <a:bodyPr anchor="t" rtlCol="false" tIns="0" lIns="0" bIns="0" rIns="0">
            <a:spAutoFit/>
          </a:bodyPr>
          <a:lstStyle/>
          <a:p>
            <a:pPr algn="ctr">
              <a:lnSpc>
                <a:spcPts val="2517"/>
              </a:lnSpc>
              <a:spcBef>
                <a:spcPct val="0"/>
              </a:spcBef>
            </a:pPr>
            <a:r>
              <a:rPr lang="en-US" b="true" sz="1798">
                <a:solidFill>
                  <a:srgbClr val="000000"/>
                </a:solidFill>
                <a:latin typeface="Glacial Indifference Bold"/>
                <a:ea typeface="Glacial Indifference Bold"/>
                <a:cs typeface="Glacial Indifference Bold"/>
                <a:sym typeface="Glacial Indifference Bold"/>
              </a:rPr>
              <a:t>Data Preprocessing</a:t>
            </a:r>
          </a:p>
        </p:txBody>
      </p:sp>
      <p:sp>
        <p:nvSpPr>
          <p:cNvPr name="TextBox 86" id="86"/>
          <p:cNvSpPr txBox="true"/>
          <p:nvPr/>
        </p:nvSpPr>
        <p:spPr>
          <a:xfrm rot="0">
            <a:off x="5425263" y="3691082"/>
            <a:ext cx="7975121" cy="305943"/>
          </a:xfrm>
          <a:prstGeom prst="rect">
            <a:avLst/>
          </a:prstGeom>
        </p:spPr>
        <p:txBody>
          <a:bodyPr anchor="t" rtlCol="false" tIns="0" lIns="0" bIns="0" rIns="0">
            <a:spAutoFit/>
          </a:bodyPr>
          <a:lstStyle/>
          <a:p>
            <a:pPr algn="just">
              <a:lnSpc>
                <a:spcPts val="2543"/>
              </a:lnSpc>
              <a:spcBef>
                <a:spcPct val="0"/>
              </a:spcBef>
            </a:pPr>
            <a:r>
              <a:rPr lang="en-US" sz="1816">
                <a:solidFill>
                  <a:srgbClr val="000000"/>
                </a:solidFill>
                <a:latin typeface="Glacial Indifference"/>
                <a:ea typeface="Glacial Indifference"/>
                <a:cs typeface="Glacial Indifference"/>
                <a:sym typeface="Glacial Indifference"/>
              </a:rPr>
              <a:t>Check data type, missing values, duplicates, variable units, incorrect values</a:t>
            </a:r>
          </a:p>
        </p:txBody>
      </p:sp>
      <p:sp>
        <p:nvSpPr>
          <p:cNvPr name="TextBox 87" id="87"/>
          <p:cNvSpPr txBox="true"/>
          <p:nvPr/>
        </p:nvSpPr>
        <p:spPr>
          <a:xfrm rot="0">
            <a:off x="14435013" y="2894583"/>
            <a:ext cx="3524026" cy="272945"/>
          </a:xfrm>
          <a:prstGeom prst="rect">
            <a:avLst/>
          </a:prstGeom>
        </p:spPr>
        <p:txBody>
          <a:bodyPr anchor="t" rtlCol="false" tIns="0" lIns="0" bIns="0" rIns="0">
            <a:spAutoFit/>
          </a:bodyPr>
          <a:lstStyle/>
          <a:p>
            <a:pPr algn="ctr">
              <a:lnSpc>
                <a:spcPts val="2263"/>
              </a:lnSpc>
              <a:spcBef>
                <a:spcPct val="0"/>
              </a:spcBef>
            </a:pPr>
            <a:r>
              <a:rPr lang="en-US" sz="1617">
                <a:solidFill>
                  <a:srgbClr val="000000"/>
                </a:solidFill>
                <a:latin typeface="Glacial Indifference"/>
                <a:ea typeface="Glacial Indifference"/>
                <a:cs typeface="Glacial Indifference"/>
                <a:sym typeface="Glacial Indifference"/>
              </a:rPr>
              <a:t> Merged dataset</a:t>
            </a:r>
          </a:p>
        </p:txBody>
      </p:sp>
      <p:sp>
        <p:nvSpPr>
          <p:cNvPr name="TextBox 88" id="88"/>
          <p:cNvSpPr txBox="true"/>
          <p:nvPr/>
        </p:nvSpPr>
        <p:spPr>
          <a:xfrm rot="0">
            <a:off x="5435787" y="4338367"/>
            <a:ext cx="7892546" cy="620555"/>
          </a:xfrm>
          <a:prstGeom prst="rect">
            <a:avLst/>
          </a:prstGeom>
        </p:spPr>
        <p:txBody>
          <a:bodyPr anchor="t" rtlCol="false" tIns="0" lIns="0" bIns="0" rIns="0">
            <a:spAutoFit/>
          </a:bodyPr>
          <a:lstStyle/>
          <a:p>
            <a:pPr algn="l">
              <a:lnSpc>
                <a:spcPts val="2546"/>
              </a:lnSpc>
            </a:pPr>
            <a:r>
              <a:rPr lang="en-US" sz="1818">
                <a:solidFill>
                  <a:srgbClr val="000000"/>
                </a:solidFill>
                <a:latin typeface="Glacial Indifference"/>
                <a:ea typeface="Glacial Indifference"/>
                <a:cs typeface="Glacial Indifference"/>
                <a:sym typeface="Glacial Indifference"/>
              </a:rPr>
              <a:t>Gather ERA5 data on soil metrics, preprocess, align timestamps and coordinates before merging.</a:t>
            </a:r>
          </a:p>
        </p:txBody>
      </p:sp>
      <p:sp>
        <p:nvSpPr>
          <p:cNvPr name="TextBox 89" id="89"/>
          <p:cNvSpPr txBox="true"/>
          <p:nvPr/>
        </p:nvSpPr>
        <p:spPr>
          <a:xfrm rot="0">
            <a:off x="736773" y="4473471"/>
            <a:ext cx="3293231" cy="620551"/>
          </a:xfrm>
          <a:prstGeom prst="rect">
            <a:avLst/>
          </a:prstGeom>
        </p:spPr>
        <p:txBody>
          <a:bodyPr anchor="t" rtlCol="false" tIns="0" lIns="0" bIns="0" rIns="0">
            <a:spAutoFit/>
          </a:bodyPr>
          <a:lstStyle/>
          <a:p>
            <a:pPr algn="ctr">
              <a:lnSpc>
                <a:spcPts val="2546"/>
              </a:lnSpc>
              <a:spcBef>
                <a:spcPct val="0"/>
              </a:spcBef>
            </a:pPr>
            <a:r>
              <a:rPr lang="en-US" b="true" sz="1818">
                <a:solidFill>
                  <a:srgbClr val="000000"/>
                </a:solidFill>
                <a:latin typeface="Glacial Indifference Bold"/>
                <a:ea typeface="Glacial Indifference Bold"/>
                <a:cs typeface="Glacial Indifference Bold"/>
                <a:sym typeface="Glacial Indifference Bold"/>
              </a:rPr>
              <a:t>Gather External Dataset + Preprocessing + Merge</a:t>
            </a:r>
          </a:p>
        </p:txBody>
      </p:sp>
      <p:sp>
        <p:nvSpPr>
          <p:cNvPr name="TextBox 90" id="90"/>
          <p:cNvSpPr txBox="true"/>
          <p:nvPr/>
        </p:nvSpPr>
        <p:spPr>
          <a:xfrm rot="0">
            <a:off x="14402283" y="4661438"/>
            <a:ext cx="3623496" cy="273206"/>
          </a:xfrm>
          <a:prstGeom prst="rect">
            <a:avLst/>
          </a:prstGeom>
        </p:spPr>
        <p:txBody>
          <a:bodyPr anchor="t" rtlCol="false" tIns="0" lIns="0" bIns="0" rIns="0">
            <a:spAutoFit/>
          </a:bodyPr>
          <a:lstStyle/>
          <a:p>
            <a:pPr algn="ctr">
              <a:lnSpc>
                <a:spcPts val="2266"/>
              </a:lnSpc>
              <a:spcBef>
                <a:spcPct val="0"/>
              </a:spcBef>
            </a:pPr>
            <a:r>
              <a:rPr lang="en-US" sz="1618">
                <a:solidFill>
                  <a:srgbClr val="000000"/>
                </a:solidFill>
                <a:latin typeface="Glacial Indifference"/>
                <a:ea typeface="Glacial Indifference"/>
                <a:cs typeface="Glacial Indifference"/>
                <a:sym typeface="Glacial Indifference"/>
              </a:rPr>
              <a:t>Enriched dataset</a:t>
            </a:r>
          </a:p>
        </p:txBody>
      </p:sp>
      <p:sp>
        <p:nvSpPr>
          <p:cNvPr name="TextBox 91" id="91"/>
          <p:cNvSpPr txBox="true"/>
          <p:nvPr/>
        </p:nvSpPr>
        <p:spPr>
          <a:xfrm rot="0">
            <a:off x="5411672" y="5518197"/>
            <a:ext cx="7718753" cy="620555"/>
          </a:xfrm>
          <a:prstGeom prst="rect">
            <a:avLst/>
          </a:prstGeom>
        </p:spPr>
        <p:txBody>
          <a:bodyPr anchor="t" rtlCol="false" tIns="0" lIns="0" bIns="0" rIns="0">
            <a:spAutoFit/>
          </a:bodyPr>
          <a:lstStyle/>
          <a:p>
            <a:pPr algn="l">
              <a:lnSpc>
                <a:spcPts val="2546"/>
              </a:lnSpc>
            </a:pPr>
            <a:r>
              <a:rPr lang="en-US" sz="1818">
                <a:solidFill>
                  <a:srgbClr val="000000"/>
                </a:solidFill>
                <a:latin typeface="Glacial Indifference"/>
                <a:ea typeface="Glacial Indifference"/>
                <a:cs typeface="Glacial Indifference"/>
                <a:sym typeface="Glacial Indifference"/>
              </a:rPr>
              <a:t>Examine pattern in target variable (TREFHT), how it correlates with other variables, stl1 and swvl1.</a:t>
            </a:r>
          </a:p>
        </p:txBody>
      </p:sp>
      <p:sp>
        <p:nvSpPr>
          <p:cNvPr name="TextBox 92" id="92"/>
          <p:cNvSpPr txBox="true"/>
          <p:nvPr/>
        </p:nvSpPr>
        <p:spPr>
          <a:xfrm rot="0">
            <a:off x="723893" y="5935986"/>
            <a:ext cx="3293231" cy="193548"/>
          </a:xfrm>
          <a:prstGeom prst="rect">
            <a:avLst/>
          </a:prstGeom>
        </p:spPr>
        <p:txBody>
          <a:bodyPr anchor="t" rtlCol="false" tIns="0" lIns="0" bIns="0" rIns="0">
            <a:spAutoFit/>
          </a:bodyPr>
          <a:lstStyle/>
          <a:p>
            <a:pPr algn="ctr">
              <a:lnSpc>
                <a:spcPts val="1386"/>
              </a:lnSpc>
            </a:pPr>
            <a:r>
              <a:rPr lang="en-US" b="true" sz="1800">
                <a:solidFill>
                  <a:srgbClr val="000000"/>
                </a:solidFill>
                <a:latin typeface="Glacial Indifference Bold"/>
                <a:ea typeface="Glacial Indifference Bold"/>
                <a:cs typeface="Glacial Indifference Bold"/>
                <a:sym typeface="Glacial Indifference Bold"/>
              </a:rPr>
              <a:t>Exploratory Data Analysis</a:t>
            </a:r>
          </a:p>
        </p:txBody>
      </p:sp>
      <p:sp>
        <p:nvSpPr>
          <p:cNvPr name="TextBox 93" id="93"/>
          <p:cNvSpPr txBox="true"/>
          <p:nvPr/>
        </p:nvSpPr>
        <p:spPr>
          <a:xfrm rot="0">
            <a:off x="14481141" y="5700894"/>
            <a:ext cx="3431770" cy="558956"/>
          </a:xfrm>
          <a:prstGeom prst="rect">
            <a:avLst/>
          </a:prstGeom>
        </p:spPr>
        <p:txBody>
          <a:bodyPr anchor="t" rtlCol="false" tIns="0" lIns="0" bIns="0" rIns="0">
            <a:spAutoFit/>
          </a:bodyPr>
          <a:lstStyle/>
          <a:p>
            <a:pPr algn="ctr">
              <a:lnSpc>
                <a:spcPts val="2266"/>
              </a:lnSpc>
              <a:spcBef>
                <a:spcPct val="0"/>
              </a:spcBef>
            </a:pPr>
            <a:r>
              <a:rPr lang="en-US" sz="1618">
                <a:solidFill>
                  <a:srgbClr val="000000"/>
                </a:solidFill>
                <a:latin typeface="Glacial Indifference"/>
                <a:ea typeface="Glacial Indifference"/>
                <a:cs typeface="Glacial Indifference"/>
                <a:sym typeface="Glacial Indifference"/>
              </a:rPr>
              <a:t>Trends and key factors affecting target variable</a:t>
            </a:r>
          </a:p>
        </p:txBody>
      </p:sp>
      <p:sp>
        <p:nvSpPr>
          <p:cNvPr name="TextBox 94" id="94"/>
          <p:cNvSpPr txBox="true"/>
          <p:nvPr/>
        </p:nvSpPr>
        <p:spPr>
          <a:xfrm rot="0">
            <a:off x="5411672" y="6798927"/>
            <a:ext cx="7916662" cy="620555"/>
          </a:xfrm>
          <a:prstGeom prst="rect">
            <a:avLst/>
          </a:prstGeom>
        </p:spPr>
        <p:txBody>
          <a:bodyPr anchor="t" rtlCol="false" tIns="0" lIns="0" bIns="0" rIns="0">
            <a:spAutoFit/>
          </a:bodyPr>
          <a:lstStyle/>
          <a:p>
            <a:pPr algn="l">
              <a:lnSpc>
                <a:spcPts val="2546"/>
              </a:lnSpc>
            </a:pPr>
            <a:r>
              <a:rPr lang="en-US" sz="1818">
                <a:solidFill>
                  <a:srgbClr val="000000"/>
                </a:solidFill>
                <a:latin typeface="Glacial Indifference"/>
                <a:ea typeface="Glacial Indifference"/>
                <a:cs typeface="Glacial Indifference"/>
                <a:sym typeface="Glacial Indifference"/>
              </a:rPr>
              <a:t>Divide the dataset into training period (2006-2014) and testing period (2015-2080). Two models will be explored: XGBoost and Prophet. </a:t>
            </a:r>
          </a:p>
        </p:txBody>
      </p:sp>
      <p:sp>
        <p:nvSpPr>
          <p:cNvPr name="TextBox 95" id="95"/>
          <p:cNvSpPr txBox="true"/>
          <p:nvPr/>
        </p:nvSpPr>
        <p:spPr>
          <a:xfrm rot="0">
            <a:off x="707031" y="7018529"/>
            <a:ext cx="3293231" cy="306705"/>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Glacial Indifference Bold"/>
                <a:ea typeface="Glacial Indifference Bold"/>
                <a:cs typeface="Glacial Indifference Bold"/>
                <a:sym typeface="Glacial Indifference Bold"/>
              </a:rPr>
              <a:t>Build Predictive Models</a:t>
            </a:r>
          </a:p>
        </p:txBody>
      </p:sp>
      <p:sp>
        <p:nvSpPr>
          <p:cNvPr name="TextBox 96" id="96"/>
          <p:cNvSpPr txBox="true"/>
          <p:nvPr/>
        </p:nvSpPr>
        <p:spPr>
          <a:xfrm rot="0">
            <a:off x="14481141" y="6941560"/>
            <a:ext cx="3431770" cy="476250"/>
          </a:xfrm>
          <a:prstGeom prst="rect">
            <a:avLst/>
          </a:prstGeom>
        </p:spPr>
        <p:txBody>
          <a:bodyPr anchor="t" rtlCol="false" tIns="0" lIns="0" bIns="0" rIns="0">
            <a:spAutoFit/>
          </a:bodyPr>
          <a:lstStyle/>
          <a:p>
            <a:pPr algn="ctr">
              <a:lnSpc>
                <a:spcPts val="1942"/>
              </a:lnSpc>
            </a:pPr>
            <a:r>
              <a:rPr lang="en-US" sz="1618">
                <a:solidFill>
                  <a:srgbClr val="000000"/>
                </a:solidFill>
                <a:latin typeface="Glacial Indifference"/>
                <a:ea typeface="Glacial Indifference"/>
                <a:cs typeface="Glacial Indifference"/>
                <a:sym typeface="Glacial Indifference"/>
              </a:rPr>
              <a:t>Best predictive model with the highest accuracy</a:t>
            </a:r>
          </a:p>
        </p:txBody>
      </p:sp>
      <p:sp>
        <p:nvSpPr>
          <p:cNvPr name="TextBox 97" id="97"/>
          <p:cNvSpPr txBox="true"/>
          <p:nvPr/>
        </p:nvSpPr>
        <p:spPr>
          <a:xfrm rot="0">
            <a:off x="513817" y="469043"/>
            <a:ext cx="15874322" cy="589026"/>
          </a:xfrm>
          <a:prstGeom prst="rect">
            <a:avLst/>
          </a:prstGeom>
        </p:spPr>
        <p:txBody>
          <a:bodyPr anchor="t" rtlCol="false" tIns="0" lIns="0" bIns="0" rIns="0">
            <a:spAutoFit/>
          </a:bodyPr>
          <a:lstStyle/>
          <a:p>
            <a:pPr algn="l">
              <a:lnSpc>
                <a:spcPts val="4452"/>
              </a:lnSpc>
            </a:pPr>
            <a:r>
              <a:rPr lang="en-US" sz="4200" b="true">
                <a:solidFill>
                  <a:srgbClr val="253439"/>
                </a:solidFill>
                <a:latin typeface="Glacial Indifference Bold"/>
                <a:ea typeface="Glacial Indifference Bold"/>
                <a:cs typeface="Glacial Indifference Bold"/>
                <a:sym typeface="Glacial Indifference Bold"/>
              </a:rPr>
              <a:t>Project Methodology and Delivery</a:t>
            </a:r>
          </a:p>
        </p:txBody>
      </p:sp>
      <p:sp>
        <p:nvSpPr>
          <p:cNvPr name="TextBox 98" id="98"/>
          <p:cNvSpPr txBox="true"/>
          <p:nvPr/>
        </p:nvSpPr>
        <p:spPr>
          <a:xfrm rot="0">
            <a:off x="503139" y="1147401"/>
            <a:ext cx="15311396" cy="296545"/>
          </a:xfrm>
          <a:prstGeom prst="rect">
            <a:avLst/>
          </a:prstGeom>
        </p:spPr>
        <p:txBody>
          <a:bodyPr anchor="t" rtlCol="false" tIns="0" lIns="0" bIns="0" rIns="0">
            <a:spAutoFit/>
          </a:bodyPr>
          <a:lstStyle/>
          <a:p>
            <a:pPr algn="just">
              <a:lnSpc>
                <a:spcPts val="2240"/>
              </a:lnSpc>
            </a:pPr>
            <a:r>
              <a:rPr lang="en-US" sz="2000" spc="40">
                <a:solidFill>
                  <a:srgbClr val="FE763A"/>
                </a:solidFill>
                <a:latin typeface="Glacial Indifference"/>
                <a:ea typeface="Glacial Indifference"/>
                <a:cs typeface="Glacial Indifference"/>
                <a:sym typeface="Glacial Indifference"/>
              </a:rPr>
              <a:t>The project follows a 6-phase methodology comprehensively evaluating datasets to build accurate predictive model</a:t>
            </a:r>
          </a:p>
        </p:txBody>
      </p:sp>
      <p:sp>
        <p:nvSpPr>
          <p:cNvPr name="TextBox 99" id="99"/>
          <p:cNvSpPr txBox="true"/>
          <p:nvPr/>
        </p:nvSpPr>
        <p:spPr>
          <a:xfrm rot="0">
            <a:off x="17259300" y="977422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Glacial Indifference Bold"/>
                <a:ea typeface="Glacial Indifference Bold"/>
                <a:cs typeface="Glacial Indifference Bold"/>
                <a:sym typeface="Glacial Indifference Bold"/>
              </a:rPr>
              <a:t>3</a:t>
            </a:r>
          </a:p>
        </p:txBody>
      </p:sp>
      <p:sp>
        <p:nvSpPr>
          <p:cNvPr name="TextBox 100" id="100"/>
          <p:cNvSpPr txBox="true"/>
          <p:nvPr/>
        </p:nvSpPr>
        <p:spPr>
          <a:xfrm rot="0">
            <a:off x="14459351" y="3721442"/>
            <a:ext cx="3524026" cy="272945"/>
          </a:xfrm>
          <a:prstGeom prst="rect">
            <a:avLst/>
          </a:prstGeom>
        </p:spPr>
        <p:txBody>
          <a:bodyPr anchor="t" rtlCol="false" tIns="0" lIns="0" bIns="0" rIns="0">
            <a:spAutoFit/>
          </a:bodyPr>
          <a:lstStyle/>
          <a:p>
            <a:pPr algn="ctr">
              <a:lnSpc>
                <a:spcPts val="2263"/>
              </a:lnSpc>
              <a:spcBef>
                <a:spcPct val="0"/>
              </a:spcBef>
            </a:pPr>
            <a:r>
              <a:rPr lang="en-US" sz="1617">
                <a:solidFill>
                  <a:srgbClr val="000000"/>
                </a:solidFill>
                <a:latin typeface="Glacial Indifference"/>
                <a:ea typeface="Glacial Indifference"/>
                <a:cs typeface="Glacial Indifference"/>
                <a:sym typeface="Glacial Indifference"/>
              </a:rPr>
              <a:t> Preprocessed merged dataset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86806" y="2307906"/>
            <a:ext cx="573153" cy="57315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1</a:t>
              </a:r>
            </a:p>
          </p:txBody>
        </p:sp>
      </p:grpSp>
      <p:sp>
        <p:nvSpPr>
          <p:cNvPr name="TextBox 5" id="5"/>
          <p:cNvSpPr txBox="true"/>
          <p:nvPr/>
        </p:nvSpPr>
        <p:spPr>
          <a:xfrm rot="0">
            <a:off x="1786806" y="581025"/>
            <a:ext cx="16262613" cy="1149348"/>
          </a:xfrm>
          <a:prstGeom prst="rect">
            <a:avLst/>
          </a:prstGeom>
        </p:spPr>
        <p:txBody>
          <a:bodyPr anchor="t" rtlCol="false" tIns="0" lIns="0" bIns="0" rIns="0">
            <a:spAutoFit/>
          </a:bodyPr>
          <a:lstStyle/>
          <a:p>
            <a:pPr algn="l" marL="0" indent="0" lvl="0">
              <a:lnSpc>
                <a:spcPts val="8799"/>
              </a:lnSpc>
            </a:pPr>
            <a:r>
              <a:rPr lang="en-US" b="true" sz="7999">
                <a:solidFill>
                  <a:srgbClr val="004247"/>
                </a:solidFill>
                <a:latin typeface="Glacial Indifference Bold"/>
                <a:ea typeface="Glacial Indifference Bold"/>
                <a:cs typeface="Glacial Indifference Bold"/>
                <a:sym typeface="Glacial Indifference Bold"/>
              </a:rPr>
              <a:t>Agenda</a:t>
            </a:r>
          </a:p>
        </p:txBody>
      </p:sp>
      <p:sp>
        <p:nvSpPr>
          <p:cNvPr name="TextBox 6" id="6"/>
          <p:cNvSpPr txBox="true"/>
          <p:nvPr/>
        </p:nvSpPr>
        <p:spPr>
          <a:xfrm rot="0">
            <a:off x="2854410" y="2410014"/>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Background</a:t>
            </a:r>
          </a:p>
        </p:txBody>
      </p:sp>
      <p:sp>
        <p:nvSpPr>
          <p:cNvPr name="TextBox 7" id="7"/>
          <p:cNvSpPr txBox="true"/>
          <p:nvPr/>
        </p:nvSpPr>
        <p:spPr>
          <a:xfrm rot="0">
            <a:off x="2854410" y="3089656"/>
            <a:ext cx="11195719"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Scope</a:t>
            </a:r>
          </a:p>
        </p:txBody>
      </p:sp>
      <p:sp>
        <p:nvSpPr>
          <p:cNvPr name="TextBox 8" id="8"/>
          <p:cNvSpPr txBox="true"/>
          <p:nvPr/>
        </p:nvSpPr>
        <p:spPr>
          <a:xfrm rot="0">
            <a:off x="2854410" y="3772916"/>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Methodology</a:t>
            </a:r>
          </a:p>
        </p:txBody>
      </p:sp>
      <p:sp>
        <p:nvSpPr>
          <p:cNvPr name="TextBox 9" id="9"/>
          <p:cNvSpPr txBox="true"/>
          <p:nvPr/>
        </p:nvSpPr>
        <p:spPr>
          <a:xfrm rot="0">
            <a:off x="2854410" y="4445511"/>
            <a:ext cx="14621406" cy="397510"/>
          </a:xfrm>
          <a:prstGeom prst="rect">
            <a:avLst/>
          </a:prstGeom>
        </p:spPr>
        <p:txBody>
          <a:bodyPr anchor="t" rtlCol="false" tIns="0" lIns="0" bIns="0" rIns="0">
            <a:spAutoFit/>
          </a:bodyPr>
          <a:lstStyle/>
          <a:p>
            <a:pPr algn="l" marL="0" indent="0" lvl="0">
              <a:lnSpc>
                <a:spcPts val="3080"/>
              </a:lnSpc>
            </a:pPr>
            <a:r>
              <a:rPr lang="en-US" b="true" sz="2800">
                <a:solidFill>
                  <a:srgbClr val="000000"/>
                </a:solidFill>
                <a:latin typeface="Glacial Indifference Bold"/>
                <a:ea typeface="Glacial Indifference Bold"/>
                <a:cs typeface="Glacial Indifference Bold"/>
                <a:sym typeface="Glacial Indifference Bold"/>
              </a:rPr>
              <a:t>The Datasets</a:t>
            </a:r>
          </a:p>
        </p:txBody>
      </p:sp>
      <p:sp>
        <p:nvSpPr>
          <p:cNvPr name="TextBox 10" id="10"/>
          <p:cNvSpPr txBox="true"/>
          <p:nvPr/>
        </p:nvSpPr>
        <p:spPr>
          <a:xfrm rot="0">
            <a:off x="2854410" y="518077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Data Preprocessing</a:t>
            </a:r>
          </a:p>
        </p:txBody>
      </p:sp>
      <p:sp>
        <p:nvSpPr>
          <p:cNvPr name="TextBox 11" id="11"/>
          <p:cNvSpPr txBox="true"/>
          <p:nvPr/>
        </p:nvSpPr>
        <p:spPr>
          <a:xfrm rot="0">
            <a:off x="2854410" y="5911662"/>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Exploratory Data Analysis</a:t>
            </a:r>
          </a:p>
        </p:txBody>
      </p:sp>
      <p:sp>
        <p:nvSpPr>
          <p:cNvPr name="TextBox 12" id="12"/>
          <p:cNvSpPr txBox="true"/>
          <p:nvPr/>
        </p:nvSpPr>
        <p:spPr>
          <a:xfrm rot="0">
            <a:off x="2854410" y="6589590"/>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Model Development</a:t>
            </a:r>
          </a:p>
        </p:txBody>
      </p:sp>
      <p:sp>
        <p:nvSpPr>
          <p:cNvPr name="TextBox 13" id="13"/>
          <p:cNvSpPr txBox="true"/>
          <p:nvPr/>
        </p:nvSpPr>
        <p:spPr>
          <a:xfrm rot="0">
            <a:off x="2854410" y="732466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Key Findings </a:t>
            </a:r>
          </a:p>
        </p:txBody>
      </p:sp>
      <p:sp>
        <p:nvSpPr>
          <p:cNvPr name="TextBox 14" id="14"/>
          <p:cNvSpPr txBox="true"/>
          <p:nvPr/>
        </p:nvSpPr>
        <p:spPr>
          <a:xfrm rot="0">
            <a:off x="2854410" y="8023604"/>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Further Research</a:t>
            </a:r>
          </a:p>
        </p:txBody>
      </p:sp>
      <p:grpSp>
        <p:nvGrpSpPr>
          <p:cNvPr name="Group 15" id="15"/>
          <p:cNvGrpSpPr/>
          <p:nvPr/>
        </p:nvGrpSpPr>
        <p:grpSpPr>
          <a:xfrm rot="0">
            <a:off x="1786806" y="2987547"/>
            <a:ext cx="573153" cy="57315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2</a:t>
              </a:r>
            </a:p>
          </p:txBody>
        </p:sp>
      </p:grpSp>
      <p:grpSp>
        <p:nvGrpSpPr>
          <p:cNvPr name="Group 18" id="18"/>
          <p:cNvGrpSpPr/>
          <p:nvPr/>
        </p:nvGrpSpPr>
        <p:grpSpPr>
          <a:xfrm rot="0">
            <a:off x="1786806" y="3665475"/>
            <a:ext cx="573153" cy="57315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0" id="20"/>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3</a:t>
              </a:r>
            </a:p>
          </p:txBody>
        </p:sp>
      </p:grpSp>
      <p:grpSp>
        <p:nvGrpSpPr>
          <p:cNvPr name="Group 21" id="21"/>
          <p:cNvGrpSpPr/>
          <p:nvPr/>
        </p:nvGrpSpPr>
        <p:grpSpPr>
          <a:xfrm rot="0">
            <a:off x="1786806" y="4343402"/>
            <a:ext cx="573153" cy="57315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4D24"/>
            </a:solidFill>
          </p:spPr>
        </p:sp>
        <p:sp>
          <p:nvSpPr>
            <p:cNvPr name="TextBox 23" id="23"/>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4</a:t>
              </a:r>
            </a:p>
          </p:txBody>
        </p:sp>
      </p:grpSp>
      <p:grpSp>
        <p:nvGrpSpPr>
          <p:cNvPr name="Group 24" id="24"/>
          <p:cNvGrpSpPr/>
          <p:nvPr/>
        </p:nvGrpSpPr>
        <p:grpSpPr>
          <a:xfrm rot="0">
            <a:off x="1786806" y="5074476"/>
            <a:ext cx="573153" cy="57315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6" id="26"/>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5</a:t>
              </a:r>
            </a:p>
          </p:txBody>
        </p:sp>
      </p:grpSp>
      <p:grpSp>
        <p:nvGrpSpPr>
          <p:cNvPr name="Group 27" id="27"/>
          <p:cNvGrpSpPr/>
          <p:nvPr/>
        </p:nvGrpSpPr>
        <p:grpSpPr>
          <a:xfrm rot="0">
            <a:off x="1786806" y="5809553"/>
            <a:ext cx="573153" cy="57315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9" id="29"/>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6</a:t>
              </a:r>
            </a:p>
          </p:txBody>
        </p:sp>
      </p:grpSp>
      <p:grpSp>
        <p:nvGrpSpPr>
          <p:cNvPr name="Group 30" id="30"/>
          <p:cNvGrpSpPr/>
          <p:nvPr/>
        </p:nvGrpSpPr>
        <p:grpSpPr>
          <a:xfrm rot="0">
            <a:off x="1786806" y="6487481"/>
            <a:ext cx="573153" cy="57315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2" id="32"/>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7</a:t>
              </a:r>
            </a:p>
          </p:txBody>
        </p:sp>
      </p:grpSp>
      <p:grpSp>
        <p:nvGrpSpPr>
          <p:cNvPr name="Group 33" id="33"/>
          <p:cNvGrpSpPr/>
          <p:nvPr/>
        </p:nvGrpSpPr>
        <p:grpSpPr>
          <a:xfrm rot="0">
            <a:off x="1786806" y="7222558"/>
            <a:ext cx="573153" cy="573153"/>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5" id="35"/>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8</a:t>
              </a:r>
            </a:p>
          </p:txBody>
        </p:sp>
      </p:grpSp>
      <p:grpSp>
        <p:nvGrpSpPr>
          <p:cNvPr name="Group 36" id="36"/>
          <p:cNvGrpSpPr/>
          <p:nvPr/>
        </p:nvGrpSpPr>
        <p:grpSpPr>
          <a:xfrm rot="0">
            <a:off x="1786806" y="7921495"/>
            <a:ext cx="573153" cy="57315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8" id="38"/>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9</a:t>
              </a:r>
            </a:p>
          </p:txBody>
        </p:sp>
      </p:grpSp>
      <p:pic>
        <p:nvPicPr>
          <p:cNvPr name="Picture 39" id="39"/>
          <p:cNvPicPr>
            <a:picLocks noChangeAspect="true"/>
          </p:cNvPicPr>
          <p:nvPr/>
        </p:nvPicPr>
        <p:blipFill>
          <a:blip r:embed="rId2"/>
          <a:stretch>
            <a:fillRect/>
          </a:stretch>
        </p:blipFill>
        <p:spPr>
          <a:xfrm rot="0">
            <a:off x="5718054" y="312264"/>
            <a:ext cx="5116406" cy="1620195"/>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05059" y="307345"/>
            <a:ext cx="0" cy="815143"/>
          </a:xfrm>
          <a:prstGeom prst="line">
            <a:avLst/>
          </a:prstGeom>
          <a:ln cap="flat" w="47625">
            <a:solidFill>
              <a:srgbClr val="206648"/>
            </a:solidFill>
            <a:prstDash val="solid"/>
            <a:headEnd type="none" len="sm" w="sm"/>
            <a:tailEnd type="none" len="sm" w="sm"/>
          </a:ln>
        </p:spPr>
      </p:sp>
      <p:grpSp>
        <p:nvGrpSpPr>
          <p:cNvPr name="Group 3" id="3"/>
          <p:cNvGrpSpPr/>
          <p:nvPr/>
        </p:nvGrpSpPr>
        <p:grpSpPr>
          <a:xfrm rot="0">
            <a:off x="405059" y="1648298"/>
            <a:ext cx="4804339" cy="501431"/>
            <a:chOff x="0" y="0"/>
            <a:chExt cx="1265340" cy="132064"/>
          </a:xfrm>
        </p:grpSpPr>
        <p:sp>
          <p:nvSpPr>
            <p:cNvPr name="Freeform 4" id="4"/>
            <p:cNvSpPr/>
            <p:nvPr/>
          </p:nvSpPr>
          <p:spPr>
            <a:xfrm flipH="false" flipV="false" rot="0">
              <a:off x="0" y="0"/>
              <a:ext cx="1265340" cy="132064"/>
            </a:xfrm>
            <a:custGeom>
              <a:avLst/>
              <a:gdLst/>
              <a:ahLst/>
              <a:cxnLst/>
              <a:rect r="r" b="b" t="t" l="l"/>
              <a:pathLst>
                <a:path h="132064" w="1265340">
                  <a:moveTo>
                    <a:pt x="22560" y="0"/>
                  </a:moveTo>
                  <a:lnTo>
                    <a:pt x="1242780" y="0"/>
                  </a:lnTo>
                  <a:cubicBezTo>
                    <a:pt x="1248763" y="0"/>
                    <a:pt x="1254502" y="2377"/>
                    <a:pt x="1258733" y="6608"/>
                  </a:cubicBezTo>
                  <a:cubicBezTo>
                    <a:pt x="1262963" y="10839"/>
                    <a:pt x="1265340" y="16577"/>
                    <a:pt x="1265340" y="22560"/>
                  </a:cubicBezTo>
                  <a:lnTo>
                    <a:pt x="1265340" y="109504"/>
                  </a:lnTo>
                  <a:cubicBezTo>
                    <a:pt x="1265340" y="121963"/>
                    <a:pt x="1255240" y="132064"/>
                    <a:pt x="1242780" y="132064"/>
                  </a:cubicBezTo>
                  <a:lnTo>
                    <a:pt x="22560" y="132064"/>
                  </a:lnTo>
                  <a:cubicBezTo>
                    <a:pt x="16577" y="132064"/>
                    <a:pt x="10839" y="129687"/>
                    <a:pt x="6608" y="125456"/>
                  </a:cubicBezTo>
                  <a:cubicBezTo>
                    <a:pt x="2377" y="121225"/>
                    <a:pt x="0" y="115487"/>
                    <a:pt x="0" y="109504"/>
                  </a:cubicBezTo>
                  <a:lnTo>
                    <a:pt x="0" y="22560"/>
                  </a:lnTo>
                  <a:cubicBezTo>
                    <a:pt x="0" y="16577"/>
                    <a:pt x="2377" y="10839"/>
                    <a:pt x="6608" y="6608"/>
                  </a:cubicBezTo>
                  <a:cubicBezTo>
                    <a:pt x="10839" y="2377"/>
                    <a:pt x="16577" y="0"/>
                    <a:pt x="22560" y="0"/>
                  </a:cubicBezTo>
                  <a:close/>
                </a:path>
              </a:pathLst>
            </a:custGeom>
            <a:solidFill>
              <a:srgbClr val="DCEEF3"/>
            </a:solidFill>
          </p:spPr>
        </p:sp>
        <p:sp>
          <p:nvSpPr>
            <p:cNvPr name="TextBox 5" id="5"/>
            <p:cNvSpPr txBox="true"/>
            <p:nvPr/>
          </p:nvSpPr>
          <p:spPr>
            <a:xfrm>
              <a:off x="0" y="-38100"/>
              <a:ext cx="1265340" cy="170164"/>
            </a:xfrm>
            <a:prstGeom prst="rect">
              <a:avLst/>
            </a:prstGeom>
          </p:spPr>
          <p:txBody>
            <a:bodyPr anchor="ctr" rtlCol="false" tIns="50800" lIns="50800" bIns="50800" rIns="50800"/>
            <a:lstStyle/>
            <a:p>
              <a:pPr algn="ctr">
                <a:lnSpc>
                  <a:spcPts val="2520"/>
                </a:lnSpc>
              </a:pPr>
              <a:r>
                <a:rPr lang="en-US" b="true" sz="1800">
                  <a:solidFill>
                    <a:srgbClr val="000000"/>
                  </a:solidFill>
                  <a:latin typeface="HK Grotesk Bold"/>
                  <a:ea typeface="HK Grotesk Bold"/>
                  <a:cs typeface="HK Grotesk Bold"/>
                  <a:sym typeface="HK Grotesk Bold"/>
                </a:rPr>
                <a:t>003_2006_2080_352_360.nc</a:t>
              </a:r>
            </a:p>
          </p:txBody>
        </p:sp>
      </p:grpSp>
      <p:grpSp>
        <p:nvGrpSpPr>
          <p:cNvPr name="Group 6" id="6"/>
          <p:cNvGrpSpPr/>
          <p:nvPr/>
        </p:nvGrpSpPr>
        <p:grpSpPr>
          <a:xfrm rot="0">
            <a:off x="405059" y="2225928"/>
            <a:ext cx="4804339" cy="501431"/>
            <a:chOff x="0" y="0"/>
            <a:chExt cx="1265340" cy="132064"/>
          </a:xfrm>
        </p:grpSpPr>
        <p:sp>
          <p:nvSpPr>
            <p:cNvPr name="Freeform 7" id="7"/>
            <p:cNvSpPr/>
            <p:nvPr/>
          </p:nvSpPr>
          <p:spPr>
            <a:xfrm flipH="false" flipV="false" rot="0">
              <a:off x="0" y="0"/>
              <a:ext cx="1265340" cy="132064"/>
            </a:xfrm>
            <a:custGeom>
              <a:avLst/>
              <a:gdLst/>
              <a:ahLst/>
              <a:cxnLst/>
              <a:rect r="r" b="b" t="t" l="l"/>
              <a:pathLst>
                <a:path h="132064" w="1265340">
                  <a:moveTo>
                    <a:pt x="22560" y="0"/>
                  </a:moveTo>
                  <a:lnTo>
                    <a:pt x="1242780" y="0"/>
                  </a:lnTo>
                  <a:cubicBezTo>
                    <a:pt x="1248763" y="0"/>
                    <a:pt x="1254502" y="2377"/>
                    <a:pt x="1258733" y="6608"/>
                  </a:cubicBezTo>
                  <a:cubicBezTo>
                    <a:pt x="1262963" y="10839"/>
                    <a:pt x="1265340" y="16577"/>
                    <a:pt x="1265340" y="22560"/>
                  </a:cubicBezTo>
                  <a:lnTo>
                    <a:pt x="1265340" y="109504"/>
                  </a:lnTo>
                  <a:cubicBezTo>
                    <a:pt x="1265340" y="121963"/>
                    <a:pt x="1255240" y="132064"/>
                    <a:pt x="1242780" y="132064"/>
                  </a:cubicBezTo>
                  <a:lnTo>
                    <a:pt x="22560" y="132064"/>
                  </a:lnTo>
                  <a:cubicBezTo>
                    <a:pt x="16577" y="132064"/>
                    <a:pt x="10839" y="129687"/>
                    <a:pt x="6608" y="125456"/>
                  </a:cubicBezTo>
                  <a:cubicBezTo>
                    <a:pt x="2377" y="121225"/>
                    <a:pt x="0" y="115487"/>
                    <a:pt x="0" y="109504"/>
                  </a:cubicBezTo>
                  <a:lnTo>
                    <a:pt x="0" y="22560"/>
                  </a:lnTo>
                  <a:cubicBezTo>
                    <a:pt x="0" y="16577"/>
                    <a:pt x="2377" y="10839"/>
                    <a:pt x="6608" y="6608"/>
                  </a:cubicBezTo>
                  <a:cubicBezTo>
                    <a:pt x="10839" y="2377"/>
                    <a:pt x="16577" y="0"/>
                    <a:pt x="22560" y="0"/>
                  </a:cubicBezTo>
                  <a:close/>
                </a:path>
              </a:pathLst>
            </a:custGeom>
            <a:solidFill>
              <a:srgbClr val="DCEEF3"/>
            </a:solidFill>
          </p:spPr>
        </p:sp>
        <p:sp>
          <p:nvSpPr>
            <p:cNvPr name="TextBox 8" id="8"/>
            <p:cNvSpPr txBox="true"/>
            <p:nvPr/>
          </p:nvSpPr>
          <p:spPr>
            <a:xfrm>
              <a:off x="0" y="-38100"/>
              <a:ext cx="1265340" cy="170164"/>
            </a:xfrm>
            <a:prstGeom prst="rect">
              <a:avLst/>
            </a:prstGeom>
          </p:spPr>
          <p:txBody>
            <a:bodyPr anchor="ctr" rtlCol="false" tIns="50800" lIns="50800" bIns="50800" rIns="50800"/>
            <a:lstStyle/>
            <a:p>
              <a:pPr algn="ctr">
                <a:lnSpc>
                  <a:spcPts val="2520"/>
                </a:lnSpc>
              </a:pPr>
              <a:r>
                <a:rPr lang="en-US" b="true" sz="1800">
                  <a:solidFill>
                    <a:srgbClr val="000000"/>
                  </a:solidFill>
                  <a:latin typeface="HK Grotesk Bold"/>
                  <a:ea typeface="HK Grotesk Bold"/>
                  <a:cs typeface="HK Grotesk Bold"/>
                  <a:sym typeface="HK Grotesk Bold"/>
                </a:rPr>
                <a:t>004_2006_2080_352_360.nc</a:t>
              </a:r>
            </a:p>
          </p:txBody>
        </p:sp>
      </p:grpSp>
      <p:grpSp>
        <p:nvGrpSpPr>
          <p:cNvPr name="Group 9" id="9"/>
          <p:cNvGrpSpPr/>
          <p:nvPr/>
        </p:nvGrpSpPr>
        <p:grpSpPr>
          <a:xfrm rot="0">
            <a:off x="405059" y="2797823"/>
            <a:ext cx="4804339" cy="501431"/>
            <a:chOff x="0" y="0"/>
            <a:chExt cx="1265340" cy="132064"/>
          </a:xfrm>
        </p:grpSpPr>
        <p:sp>
          <p:nvSpPr>
            <p:cNvPr name="Freeform 10" id="10"/>
            <p:cNvSpPr/>
            <p:nvPr/>
          </p:nvSpPr>
          <p:spPr>
            <a:xfrm flipH="false" flipV="false" rot="0">
              <a:off x="0" y="0"/>
              <a:ext cx="1265340" cy="132064"/>
            </a:xfrm>
            <a:custGeom>
              <a:avLst/>
              <a:gdLst/>
              <a:ahLst/>
              <a:cxnLst/>
              <a:rect r="r" b="b" t="t" l="l"/>
              <a:pathLst>
                <a:path h="132064" w="1265340">
                  <a:moveTo>
                    <a:pt x="22560" y="0"/>
                  </a:moveTo>
                  <a:lnTo>
                    <a:pt x="1242780" y="0"/>
                  </a:lnTo>
                  <a:cubicBezTo>
                    <a:pt x="1248763" y="0"/>
                    <a:pt x="1254502" y="2377"/>
                    <a:pt x="1258733" y="6608"/>
                  </a:cubicBezTo>
                  <a:cubicBezTo>
                    <a:pt x="1262963" y="10839"/>
                    <a:pt x="1265340" y="16577"/>
                    <a:pt x="1265340" y="22560"/>
                  </a:cubicBezTo>
                  <a:lnTo>
                    <a:pt x="1265340" y="109504"/>
                  </a:lnTo>
                  <a:cubicBezTo>
                    <a:pt x="1265340" y="121963"/>
                    <a:pt x="1255240" y="132064"/>
                    <a:pt x="1242780" y="132064"/>
                  </a:cubicBezTo>
                  <a:lnTo>
                    <a:pt x="22560" y="132064"/>
                  </a:lnTo>
                  <a:cubicBezTo>
                    <a:pt x="16577" y="132064"/>
                    <a:pt x="10839" y="129687"/>
                    <a:pt x="6608" y="125456"/>
                  </a:cubicBezTo>
                  <a:cubicBezTo>
                    <a:pt x="2377" y="121225"/>
                    <a:pt x="0" y="115487"/>
                    <a:pt x="0" y="109504"/>
                  </a:cubicBezTo>
                  <a:lnTo>
                    <a:pt x="0" y="22560"/>
                  </a:lnTo>
                  <a:cubicBezTo>
                    <a:pt x="0" y="16577"/>
                    <a:pt x="2377" y="10839"/>
                    <a:pt x="6608" y="6608"/>
                  </a:cubicBezTo>
                  <a:cubicBezTo>
                    <a:pt x="10839" y="2377"/>
                    <a:pt x="16577" y="0"/>
                    <a:pt x="22560" y="0"/>
                  </a:cubicBezTo>
                  <a:close/>
                </a:path>
              </a:pathLst>
            </a:custGeom>
            <a:solidFill>
              <a:srgbClr val="DCEEF3"/>
            </a:solidFill>
          </p:spPr>
        </p:sp>
        <p:sp>
          <p:nvSpPr>
            <p:cNvPr name="TextBox 11" id="11"/>
            <p:cNvSpPr txBox="true"/>
            <p:nvPr/>
          </p:nvSpPr>
          <p:spPr>
            <a:xfrm>
              <a:off x="0" y="-38100"/>
              <a:ext cx="1265340" cy="170164"/>
            </a:xfrm>
            <a:prstGeom prst="rect">
              <a:avLst/>
            </a:prstGeom>
          </p:spPr>
          <p:txBody>
            <a:bodyPr anchor="ctr" rtlCol="false" tIns="50800" lIns="50800" bIns="50800" rIns="50800"/>
            <a:lstStyle/>
            <a:p>
              <a:pPr algn="ctr">
                <a:lnSpc>
                  <a:spcPts val="2520"/>
                </a:lnSpc>
              </a:pPr>
              <a:r>
                <a:rPr lang="en-US" b="true" sz="1800">
                  <a:solidFill>
                    <a:srgbClr val="000000"/>
                  </a:solidFill>
                  <a:latin typeface="HK Grotesk Bold"/>
                  <a:ea typeface="HK Grotesk Bold"/>
                  <a:cs typeface="HK Grotesk Bold"/>
                  <a:sym typeface="HK Grotesk Bold"/>
                </a:rPr>
                <a:t>005_2006_2080_352_360.nc</a:t>
              </a:r>
            </a:p>
          </p:txBody>
        </p:sp>
      </p:grpSp>
      <p:grpSp>
        <p:nvGrpSpPr>
          <p:cNvPr name="Group 12" id="12"/>
          <p:cNvGrpSpPr/>
          <p:nvPr/>
        </p:nvGrpSpPr>
        <p:grpSpPr>
          <a:xfrm rot="0">
            <a:off x="405059" y="3381189"/>
            <a:ext cx="4804339" cy="501431"/>
            <a:chOff x="0" y="0"/>
            <a:chExt cx="1265340" cy="132064"/>
          </a:xfrm>
        </p:grpSpPr>
        <p:sp>
          <p:nvSpPr>
            <p:cNvPr name="Freeform 13" id="13"/>
            <p:cNvSpPr/>
            <p:nvPr/>
          </p:nvSpPr>
          <p:spPr>
            <a:xfrm flipH="false" flipV="false" rot="0">
              <a:off x="0" y="0"/>
              <a:ext cx="1265340" cy="132064"/>
            </a:xfrm>
            <a:custGeom>
              <a:avLst/>
              <a:gdLst/>
              <a:ahLst/>
              <a:cxnLst/>
              <a:rect r="r" b="b" t="t" l="l"/>
              <a:pathLst>
                <a:path h="132064" w="1265340">
                  <a:moveTo>
                    <a:pt x="22560" y="0"/>
                  </a:moveTo>
                  <a:lnTo>
                    <a:pt x="1242780" y="0"/>
                  </a:lnTo>
                  <a:cubicBezTo>
                    <a:pt x="1248763" y="0"/>
                    <a:pt x="1254502" y="2377"/>
                    <a:pt x="1258733" y="6608"/>
                  </a:cubicBezTo>
                  <a:cubicBezTo>
                    <a:pt x="1262963" y="10839"/>
                    <a:pt x="1265340" y="16577"/>
                    <a:pt x="1265340" y="22560"/>
                  </a:cubicBezTo>
                  <a:lnTo>
                    <a:pt x="1265340" y="109504"/>
                  </a:lnTo>
                  <a:cubicBezTo>
                    <a:pt x="1265340" y="121963"/>
                    <a:pt x="1255240" y="132064"/>
                    <a:pt x="1242780" y="132064"/>
                  </a:cubicBezTo>
                  <a:lnTo>
                    <a:pt x="22560" y="132064"/>
                  </a:lnTo>
                  <a:cubicBezTo>
                    <a:pt x="16577" y="132064"/>
                    <a:pt x="10839" y="129687"/>
                    <a:pt x="6608" y="125456"/>
                  </a:cubicBezTo>
                  <a:cubicBezTo>
                    <a:pt x="2377" y="121225"/>
                    <a:pt x="0" y="115487"/>
                    <a:pt x="0" y="109504"/>
                  </a:cubicBezTo>
                  <a:lnTo>
                    <a:pt x="0" y="22560"/>
                  </a:lnTo>
                  <a:cubicBezTo>
                    <a:pt x="0" y="16577"/>
                    <a:pt x="2377" y="10839"/>
                    <a:pt x="6608" y="6608"/>
                  </a:cubicBezTo>
                  <a:cubicBezTo>
                    <a:pt x="10839" y="2377"/>
                    <a:pt x="16577" y="0"/>
                    <a:pt x="22560" y="0"/>
                  </a:cubicBezTo>
                  <a:close/>
                </a:path>
              </a:pathLst>
            </a:custGeom>
            <a:solidFill>
              <a:srgbClr val="DCEEF3"/>
            </a:solidFill>
          </p:spPr>
        </p:sp>
        <p:sp>
          <p:nvSpPr>
            <p:cNvPr name="TextBox 14" id="14"/>
            <p:cNvSpPr txBox="true"/>
            <p:nvPr/>
          </p:nvSpPr>
          <p:spPr>
            <a:xfrm>
              <a:off x="0" y="-38100"/>
              <a:ext cx="1265340" cy="170164"/>
            </a:xfrm>
            <a:prstGeom prst="rect">
              <a:avLst/>
            </a:prstGeom>
          </p:spPr>
          <p:txBody>
            <a:bodyPr anchor="ctr" rtlCol="false" tIns="50800" lIns="50800" bIns="50800" rIns="50800"/>
            <a:lstStyle/>
            <a:p>
              <a:pPr algn="ctr">
                <a:lnSpc>
                  <a:spcPts val="2520"/>
                </a:lnSpc>
              </a:pPr>
              <a:r>
                <a:rPr lang="en-US" b="true" sz="1800">
                  <a:solidFill>
                    <a:srgbClr val="000000"/>
                  </a:solidFill>
                  <a:latin typeface="HK Grotesk Bold"/>
                  <a:ea typeface="HK Grotesk Bold"/>
                  <a:cs typeface="HK Grotesk Bold"/>
                  <a:sym typeface="HK Grotesk Bold"/>
                </a:rPr>
                <a:t>006_2006_2080_352_360.nc</a:t>
              </a:r>
            </a:p>
          </p:txBody>
        </p:sp>
      </p:grpSp>
      <p:grpSp>
        <p:nvGrpSpPr>
          <p:cNvPr name="Group 15" id="15"/>
          <p:cNvGrpSpPr/>
          <p:nvPr/>
        </p:nvGrpSpPr>
        <p:grpSpPr>
          <a:xfrm rot="0">
            <a:off x="405059" y="3968345"/>
            <a:ext cx="4804339" cy="501431"/>
            <a:chOff x="0" y="0"/>
            <a:chExt cx="1265340" cy="132064"/>
          </a:xfrm>
        </p:grpSpPr>
        <p:sp>
          <p:nvSpPr>
            <p:cNvPr name="Freeform 16" id="16"/>
            <p:cNvSpPr/>
            <p:nvPr/>
          </p:nvSpPr>
          <p:spPr>
            <a:xfrm flipH="false" flipV="false" rot="0">
              <a:off x="0" y="0"/>
              <a:ext cx="1265340" cy="132064"/>
            </a:xfrm>
            <a:custGeom>
              <a:avLst/>
              <a:gdLst/>
              <a:ahLst/>
              <a:cxnLst/>
              <a:rect r="r" b="b" t="t" l="l"/>
              <a:pathLst>
                <a:path h="132064" w="1265340">
                  <a:moveTo>
                    <a:pt x="22560" y="0"/>
                  </a:moveTo>
                  <a:lnTo>
                    <a:pt x="1242780" y="0"/>
                  </a:lnTo>
                  <a:cubicBezTo>
                    <a:pt x="1248763" y="0"/>
                    <a:pt x="1254502" y="2377"/>
                    <a:pt x="1258733" y="6608"/>
                  </a:cubicBezTo>
                  <a:cubicBezTo>
                    <a:pt x="1262963" y="10839"/>
                    <a:pt x="1265340" y="16577"/>
                    <a:pt x="1265340" y="22560"/>
                  </a:cubicBezTo>
                  <a:lnTo>
                    <a:pt x="1265340" y="109504"/>
                  </a:lnTo>
                  <a:cubicBezTo>
                    <a:pt x="1265340" y="121963"/>
                    <a:pt x="1255240" y="132064"/>
                    <a:pt x="1242780" y="132064"/>
                  </a:cubicBezTo>
                  <a:lnTo>
                    <a:pt x="22560" y="132064"/>
                  </a:lnTo>
                  <a:cubicBezTo>
                    <a:pt x="16577" y="132064"/>
                    <a:pt x="10839" y="129687"/>
                    <a:pt x="6608" y="125456"/>
                  </a:cubicBezTo>
                  <a:cubicBezTo>
                    <a:pt x="2377" y="121225"/>
                    <a:pt x="0" y="115487"/>
                    <a:pt x="0" y="109504"/>
                  </a:cubicBezTo>
                  <a:lnTo>
                    <a:pt x="0" y="22560"/>
                  </a:lnTo>
                  <a:cubicBezTo>
                    <a:pt x="0" y="16577"/>
                    <a:pt x="2377" y="10839"/>
                    <a:pt x="6608" y="6608"/>
                  </a:cubicBezTo>
                  <a:cubicBezTo>
                    <a:pt x="10839" y="2377"/>
                    <a:pt x="16577" y="0"/>
                    <a:pt x="22560" y="0"/>
                  </a:cubicBezTo>
                  <a:close/>
                </a:path>
              </a:pathLst>
            </a:custGeom>
            <a:solidFill>
              <a:srgbClr val="DCEEF3"/>
            </a:solidFill>
          </p:spPr>
        </p:sp>
        <p:sp>
          <p:nvSpPr>
            <p:cNvPr name="TextBox 17" id="17"/>
            <p:cNvSpPr txBox="true"/>
            <p:nvPr/>
          </p:nvSpPr>
          <p:spPr>
            <a:xfrm>
              <a:off x="0" y="-38100"/>
              <a:ext cx="1265340" cy="170164"/>
            </a:xfrm>
            <a:prstGeom prst="rect">
              <a:avLst/>
            </a:prstGeom>
          </p:spPr>
          <p:txBody>
            <a:bodyPr anchor="ctr" rtlCol="false" tIns="50800" lIns="50800" bIns="50800" rIns="50800"/>
            <a:lstStyle/>
            <a:p>
              <a:pPr algn="ctr">
                <a:lnSpc>
                  <a:spcPts val="2520"/>
                </a:lnSpc>
              </a:pPr>
              <a:r>
                <a:rPr lang="en-US" b="true" sz="1800">
                  <a:solidFill>
                    <a:srgbClr val="000000"/>
                  </a:solidFill>
                  <a:latin typeface="HK Grotesk Bold"/>
                  <a:ea typeface="HK Grotesk Bold"/>
                  <a:cs typeface="HK Grotesk Bold"/>
                  <a:sym typeface="HK Grotesk Bold"/>
                </a:rPr>
                <a:t>007_2006_2080_352_360.nc</a:t>
              </a:r>
            </a:p>
          </p:txBody>
        </p:sp>
      </p:grpSp>
      <p:grpSp>
        <p:nvGrpSpPr>
          <p:cNvPr name="Group 18" id="18"/>
          <p:cNvGrpSpPr/>
          <p:nvPr/>
        </p:nvGrpSpPr>
        <p:grpSpPr>
          <a:xfrm rot="0">
            <a:off x="405059" y="4545975"/>
            <a:ext cx="4804339" cy="501431"/>
            <a:chOff x="0" y="0"/>
            <a:chExt cx="1265340" cy="132064"/>
          </a:xfrm>
        </p:grpSpPr>
        <p:sp>
          <p:nvSpPr>
            <p:cNvPr name="Freeform 19" id="19"/>
            <p:cNvSpPr/>
            <p:nvPr/>
          </p:nvSpPr>
          <p:spPr>
            <a:xfrm flipH="false" flipV="false" rot="0">
              <a:off x="0" y="0"/>
              <a:ext cx="1265340" cy="132064"/>
            </a:xfrm>
            <a:custGeom>
              <a:avLst/>
              <a:gdLst/>
              <a:ahLst/>
              <a:cxnLst/>
              <a:rect r="r" b="b" t="t" l="l"/>
              <a:pathLst>
                <a:path h="132064" w="1265340">
                  <a:moveTo>
                    <a:pt x="22560" y="0"/>
                  </a:moveTo>
                  <a:lnTo>
                    <a:pt x="1242780" y="0"/>
                  </a:lnTo>
                  <a:cubicBezTo>
                    <a:pt x="1248763" y="0"/>
                    <a:pt x="1254502" y="2377"/>
                    <a:pt x="1258733" y="6608"/>
                  </a:cubicBezTo>
                  <a:cubicBezTo>
                    <a:pt x="1262963" y="10839"/>
                    <a:pt x="1265340" y="16577"/>
                    <a:pt x="1265340" y="22560"/>
                  </a:cubicBezTo>
                  <a:lnTo>
                    <a:pt x="1265340" y="109504"/>
                  </a:lnTo>
                  <a:cubicBezTo>
                    <a:pt x="1265340" y="121963"/>
                    <a:pt x="1255240" y="132064"/>
                    <a:pt x="1242780" y="132064"/>
                  </a:cubicBezTo>
                  <a:lnTo>
                    <a:pt x="22560" y="132064"/>
                  </a:lnTo>
                  <a:cubicBezTo>
                    <a:pt x="16577" y="132064"/>
                    <a:pt x="10839" y="129687"/>
                    <a:pt x="6608" y="125456"/>
                  </a:cubicBezTo>
                  <a:cubicBezTo>
                    <a:pt x="2377" y="121225"/>
                    <a:pt x="0" y="115487"/>
                    <a:pt x="0" y="109504"/>
                  </a:cubicBezTo>
                  <a:lnTo>
                    <a:pt x="0" y="22560"/>
                  </a:lnTo>
                  <a:cubicBezTo>
                    <a:pt x="0" y="16577"/>
                    <a:pt x="2377" y="10839"/>
                    <a:pt x="6608" y="6608"/>
                  </a:cubicBezTo>
                  <a:cubicBezTo>
                    <a:pt x="10839" y="2377"/>
                    <a:pt x="16577" y="0"/>
                    <a:pt x="22560" y="0"/>
                  </a:cubicBezTo>
                  <a:close/>
                </a:path>
              </a:pathLst>
            </a:custGeom>
            <a:solidFill>
              <a:srgbClr val="DCEEF3"/>
            </a:solidFill>
          </p:spPr>
        </p:sp>
        <p:sp>
          <p:nvSpPr>
            <p:cNvPr name="TextBox 20" id="20"/>
            <p:cNvSpPr txBox="true"/>
            <p:nvPr/>
          </p:nvSpPr>
          <p:spPr>
            <a:xfrm>
              <a:off x="0" y="-38100"/>
              <a:ext cx="1265340" cy="170164"/>
            </a:xfrm>
            <a:prstGeom prst="rect">
              <a:avLst/>
            </a:prstGeom>
          </p:spPr>
          <p:txBody>
            <a:bodyPr anchor="ctr" rtlCol="false" tIns="50800" lIns="50800" bIns="50800" rIns="50800"/>
            <a:lstStyle/>
            <a:p>
              <a:pPr algn="ctr">
                <a:lnSpc>
                  <a:spcPts val="2520"/>
                </a:lnSpc>
              </a:pPr>
              <a:r>
                <a:rPr lang="en-US" b="true" sz="1800">
                  <a:solidFill>
                    <a:srgbClr val="000000"/>
                  </a:solidFill>
                  <a:latin typeface="HK Grotesk Bold"/>
                  <a:ea typeface="HK Grotesk Bold"/>
                  <a:cs typeface="HK Grotesk Bold"/>
                  <a:sym typeface="HK Grotesk Bold"/>
                </a:rPr>
                <a:t>008_2006_2080_352_360.nc</a:t>
              </a:r>
            </a:p>
          </p:txBody>
        </p:sp>
      </p:grpSp>
      <p:sp>
        <p:nvSpPr>
          <p:cNvPr name="TextBox 21" id="21"/>
          <p:cNvSpPr txBox="true"/>
          <p:nvPr/>
        </p:nvSpPr>
        <p:spPr>
          <a:xfrm rot="0">
            <a:off x="5717046" y="1657823"/>
            <a:ext cx="8738941" cy="348234"/>
          </a:xfrm>
          <a:prstGeom prst="rect">
            <a:avLst/>
          </a:prstGeom>
        </p:spPr>
        <p:txBody>
          <a:bodyPr anchor="t" rtlCol="false" tIns="0" lIns="0" bIns="0" rIns="0">
            <a:spAutoFit/>
          </a:bodyPr>
          <a:lstStyle/>
          <a:p>
            <a:pPr algn="just">
              <a:lnSpc>
                <a:spcPts val="2688"/>
              </a:lnSpc>
              <a:spcBef>
                <a:spcPct val="0"/>
              </a:spcBef>
            </a:pPr>
            <a:r>
              <a:rPr lang="en-US" b="true" sz="2400" spc="48">
                <a:solidFill>
                  <a:srgbClr val="000000"/>
                </a:solidFill>
                <a:latin typeface="Glacial Indifference Bold"/>
                <a:ea typeface="Glacial Indifference Bold"/>
                <a:cs typeface="Glacial Indifference Bold"/>
                <a:sym typeface="Glacial Indifference Bold"/>
              </a:rPr>
              <a:t>6 Datasets with the same Spatial and Temporal Coverage</a:t>
            </a:r>
          </a:p>
        </p:txBody>
      </p:sp>
      <p:sp>
        <p:nvSpPr>
          <p:cNvPr name="AutoShape 22" id="22"/>
          <p:cNvSpPr/>
          <p:nvPr/>
        </p:nvSpPr>
        <p:spPr>
          <a:xfrm>
            <a:off x="5717064" y="2006057"/>
            <a:ext cx="8738922" cy="0"/>
          </a:xfrm>
          <a:prstGeom prst="line">
            <a:avLst/>
          </a:prstGeom>
          <a:ln cap="flat" w="38100">
            <a:solidFill>
              <a:srgbClr val="F34D24"/>
            </a:solidFill>
            <a:prstDash val="solid"/>
            <a:headEnd type="none" len="sm" w="sm"/>
            <a:tailEnd type="none" len="sm" w="sm"/>
          </a:ln>
        </p:spPr>
      </p:sp>
      <p:sp>
        <p:nvSpPr>
          <p:cNvPr name="Freeform 23" id="23"/>
          <p:cNvSpPr/>
          <p:nvPr/>
        </p:nvSpPr>
        <p:spPr>
          <a:xfrm flipH="false" flipV="false" rot="0">
            <a:off x="5947304" y="3299253"/>
            <a:ext cx="5800724" cy="6356958"/>
          </a:xfrm>
          <a:custGeom>
            <a:avLst/>
            <a:gdLst/>
            <a:ahLst/>
            <a:cxnLst/>
            <a:rect r="r" b="b" t="t" l="l"/>
            <a:pathLst>
              <a:path h="6356958" w="5800724">
                <a:moveTo>
                  <a:pt x="0" y="0"/>
                </a:moveTo>
                <a:lnTo>
                  <a:pt x="5800724" y="0"/>
                </a:lnTo>
                <a:lnTo>
                  <a:pt x="5800724" y="6356959"/>
                </a:lnTo>
                <a:lnTo>
                  <a:pt x="0" y="6356959"/>
                </a:lnTo>
                <a:lnTo>
                  <a:pt x="0" y="0"/>
                </a:lnTo>
                <a:close/>
              </a:path>
            </a:pathLst>
          </a:custGeom>
          <a:blipFill>
            <a:blip r:embed="rId2"/>
            <a:stretch>
              <a:fillRect l="0" t="0" r="0" b="0"/>
            </a:stretch>
          </a:blipFill>
        </p:spPr>
      </p:sp>
      <p:sp>
        <p:nvSpPr>
          <p:cNvPr name="TextBox 24" id="24"/>
          <p:cNvSpPr txBox="true"/>
          <p:nvPr/>
        </p:nvSpPr>
        <p:spPr>
          <a:xfrm rot="0">
            <a:off x="605154" y="251145"/>
            <a:ext cx="15990534" cy="9367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The Provided Datasets:</a:t>
            </a:r>
          </a:p>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Climate Data from Year 2006 - 2080</a:t>
            </a:r>
          </a:p>
        </p:txBody>
      </p:sp>
      <p:sp>
        <p:nvSpPr>
          <p:cNvPr name="TextBox 25" id="25"/>
          <p:cNvSpPr txBox="true"/>
          <p:nvPr/>
        </p:nvSpPr>
        <p:spPr>
          <a:xfrm rot="0">
            <a:off x="17259300" y="983137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Glacial Indifference Bold"/>
                <a:ea typeface="Glacial Indifference Bold"/>
                <a:cs typeface="Glacial Indifference Bold"/>
                <a:sym typeface="Glacial Indifference Bold"/>
              </a:rPr>
              <a:t>1</a:t>
            </a:r>
          </a:p>
        </p:txBody>
      </p:sp>
      <p:sp>
        <p:nvSpPr>
          <p:cNvPr name="TextBox 26" id="26"/>
          <p:cNvSpPr txBox="true"/>
          <p:nvPr/>
        </p:nvSpPr>
        <p:spPr>
          <a:xfrm rot="0">
            <a:off x="5717046" y="2253391"/>
            <a:ext cx="12061965" cy="819302"/>
          </a:xfrm>
          <a:prstGeom prst="rect">
            <a:avLst/>
          </a:prstGeom>
        </p:spPr>
        <p:txBody>
          <a:bodyPr anchor="t" rtlCol="false" tIns="0" lIns="0" bIns="0" rIns="0">
            <a:spAutoFit/>
          </a:bodyPr>
          <a:lstStyle/>
          <a:p>
            <a:pPr algn="l" marL="408049" indent="-204025" lvl="1">
              <a:lnSpc>
                <a:spcPts val="2116"/>
              </a:lnSpc>
              <a:buFont typeface="Arial"/>
              <a:buChar char="•"/>
            </a:pPr>
            <a:r>
              <a:rPr lang="en-US" sz="1889" spc="37">
                <a:solidFill>
                  <a:srgbClr val="000000"/>
                </a:solidFill>
                <a:latin typeface="Glacial Indifference"/>
                <a:ea typeface="Glacial Indifference"/>
                <a:cs typeface="Glacial Indifference"/>
                <a:sym typeface="Glacial Indifference"/>
              </a:rPr>
              <a:t>66 locations across UK (6 lon x 11 lat)</a:t>
            </a:r>
          </a:p>
          <a:p>
            <a:pPr algn="l" marL="408049" indent="-204025" lvl="1">
              <a:lnSpc>
                <a:spcPts val="2116"/>
              </a:lnSpc>
              <a:buFont typeface="Arial"/>
              <a:buChar char="•"/>
            </a:pPr>
            <a:r>
              <a:rPr lang="en-US" sz="1889" spc="37">
                <a:solidFill>
                  <a:srgbClr val="000000"/>
                </a:solidFill>
                <a:latin typeface="Glacial Indifference"/>
                <a:ea typeface="Glacial Indifference"/>
                <a:cs typeface="Glacial Indifference"/>
                <a:sym typeface="Glacial Indifference"/>
              </a:rPr>
              <a:t>27,374 days (2 January 2006 - 12 December 2080)</a:t>
            </a:r>
          </a:p>
          <a:p>
            <a:pPr algn="l" marL="408049" indent="-204025" lvl="1">
              <a:lnSpc>
                <a:spcPts val="2116"/>
              </a:lnSpc>
              <a:buFont typeface="Arial"/>
              <a:buChar char="•"/>
            </a:pPr>
            <a:r>
              <a:rPr lang="en-US" sz="1889" spc="37">
                <a:solidFill>
                  <a:srgbClr val="000000"/>
                </a:solidFill>
                <a:latin typeface="Glacial Indifference"/>
                <a:ea typeface="Glacial Indifference"/>
                <a:cs typeface="Glacial Indifference"/>
                <a:sym typeface="Glacial Indifference"/>
              </a:rPr>
              <a:t>9 variables: TREFHT, TREFMAX_U, FSNS, FLNS, PRECT, PRSN, QBOT, UBOT, VBOT (same as project 1)</a:t>
            </a:r>
          </a:p>
        </p:txBody>
      </p:sp>
      <p:grpSp>
        <p:nvGrpSpPr>
          <p:cNvPr name="Group 27" id="27"/>
          <p:cNvGrpSpPr/>
          <p:nvPr/>
        </p:nvGrpSpPr>
        <p:grpSpPr>
          <a:xfrm rot="0">
            <a:off x="13203903" y="6837622"/>
            <a:ext cx="4575108" cy="2163142"/>
            <a:chOff x="0" y="0"/>
            <a:chExt cx="1204967" cy="569717"/>
          </a:xfrm>
        </p:grpSpPr>
        <p:sp>
          <p:nvSpPr>
            <p:cNvPr name="Freeform 28" id="28"/>
            <p:cNvSpPr/>
            <p:nvPr/>
          </p:nvSpPr>
          <p:spPr>
            <a:xfrm flipH="false" flipV="false" rot="0">
              <a:off x="0" y="0"/>
              <a:ext cx="1204967" cy="569717"/>
            </a:xfrm>
            <a:custGeom>
              <a:avLst/>
              <a:gdLst/>
              <a:ahLst/>
              <a:cxnLst/>
              <a:rect r="r" b="b" t="t" l="l"/>
              <a:pathLst>
                <a:path h="569717" w="1204967">
                  <a:moveTo>
                    <a:pt x="86301" y="0"/>
                  </a:moveTo>
                  <a:lnTo>
                    <a:pt x="1118665" y="0"/>
                  </a:lnTo>
                  <a:cubicBezTo>
                    <a:pt x="1141554" y="0"/>
                    <a:pt x="1163505" y="9092"/>
                    <a:pt x="1179690" y="25277"/>
                  </a:cubicBezTo>
                  <a:cubicBezTo>
                    <a:pt x="1195874" y="41462"/>
                    <a:pt x="1204967" y="63413"/>
                    <a:pt x="1204967" y="86301"/>
                  </a:cubicBezTo>
                  <a:lnTo>
                    <a:pt x="1204967" y="483415"/>
                  </a:lnTo>
                  <a:cubicBezTo>
                    <a:pt x="1204967" y="506304"/>
                    <a:pt x="1195874" y="528255"/>
                    <a:pt x="1179690" y="544439"/>
                  </a:cubicBezTo>
                  <a:cubicBezTo>
                    <a:pt x="1163505" y="560624"/>
                    <a:pt x="1141554" y="569717"/>
                    <a:pt x="1118665" y="569717"/>
                  </a:cubicBezTo>
                  <a:lnTo>
                    <a:pt x="86301" y="569717"/>
                  </a:lnTo>
                  <a:cubicBezTo>
                    <a:pt x="63413" y="569717"/>
                    <a:pt x="41462" y="560624"/>
                    <a:pt x="25277" y="544439"/>
                  </a:cubicBezTo>
                  <a:cubicBezTo>
                    <a:pt x="9092" y="528255"/>
                    <a:pt x="0" y="506304"/>
                    <a:pt x="0" y="483415"/>
                  </a:cubicBezTo>
                  <a:lnTo>
                    <a:pt x="0" y="86301"/>
                  </a:lnTo>
                  <a:cubicBezTo>
                    <a:pt x="0" y="63413"/>
                    <a:pt x="9092" y="41462"/>
                    <a:pt x="25277" y="25277"/>
                  </a:cubicBezTo>
                  <a:cubicBezTo>
                    <a:pt x="41462" y="9092"/>
                    <a:pt x="63413" y="0"/>
                    <a:pt x="86301" y="0"/>
                  </a:cubicBezTo>
                  <a:close/>
                </a:path>
              </a:pathLst>
            </a:custGeom>
            <a:solidFill>
              <a:srgbClr val="00C48A">
                <a:alpha val="24706"/>
              </a:srgbClr>
            </a:solidFill>
            <a:ln w="9525" cap="rnd">
              <a:solidFill>
                <a:srgbClr val="5DC692">
                  <a:alpha val="24706"/>
                </a:srgbClr>
              </a:solidFill>
              <a:prstDash val="solid"/>
              <a:round/>
            </a:ln>
          </p:spPr>
        </p:sp>
        <p:sp>
          <p:nvSpPr>
            <p:cNvPr name="TextBox 29" id="29"/>
            <p:cNvSpPr txBox="true"/>
            <p:nvPr/>
          </p:nvSpPr>
          <p:spPr>
            <a:xfrm>
              <a:off x="0" y="19050"/>
              <a:ext cx="1204967" cy="550667"/>
            </a:xfrm>
            <a:prstGeom prst="rect">
              <a:avLst/>
            </a:prstGeom>
          </p:spPr>
          <p:txBody>
            <a:bodyPr anchor="ctr" rtlCol="false" tIns="50800" lIns="50800" bIns="50800" rIns="50800"/>
            <a:lstStyle/>
            <a:p>
              <a:pPr algn="ctr">
                <a:lnSpc>
                  <a:spcPts val="1895"/>
                </a:lnSpc>
              </a:pPr>
            </a:p>
          </p:txBody>
        </p:sp>
      </p:grpSp>
      <p:sp>
        <p:nvSpPr>
          <p:cNvPr name="TextBox 30" id="30"/>
          <p:cNvSpPr txBox="true"/>
          <p:nvPr/>
        </p:nvSpPr>
        <p:spPr>
          <a:xfrm rot="0">
            <a:off x="13360085" y="7050519"/>
            <a:ext cx="4262743" cy="1619424"/>
          </a:xfrm>
          <a:prstGeom prst="rect">
            <a:avLst/>
          </a:prstGeom>
        </p:spPr>
        <p:txBody>
          <a:bodyPr anchor="t" rtlCol="false" tIns="0" lIns="0" bIns="0" rIns="0">
            <a:spAutoFit/>
          </a:bodyPr>
          <a:lstStyle/>
          <a:p>
            <a:pPr algn="just">
              <a:lnSpc>
                <a:spcPts val="2119"/>
              </a:lnSpc>
            </a:pPr>
            <a:r>
              <a:rPr lang="en-US" b="true" sz="1892" spc="37">
                <a:solidFill>
                  <a:srgbClr val="000000"/>
                </a:solidFill>
                <a:latin typeface="Glacial Indifference Bold"/>
                <a:ea typeface="Glacial Indifference Bold"/>
                <a:cs typeface="Glacial Indifference Bold"/>
                <a:sym typeface="Glacial Indifference Bold"/>
              </a:rPr>
              <a:t>What’s different? </a:t>
            </a:r>
          </a:p>
          <a:p>
            <a:pPr algn="just">
              <a:lnSpc>
                <a:spcPts val="2119"/>
              </a:lnSpc>
              <a:spcBef>
                <a:spcPct val="0"/>
              </a:spcBef>
            </a:pPr>
            <a:r>
              <a:rPr lang="en-US" sz="1892" spc="37">
                <a:solidFill>
                  <a:srgbClr val="000000"/>
                </a:solidFill>
                <a:latin typeface="Glacial Indifference"/>
                <a:ea typeface="Glacial Indifference"/>
                <a:cs typeface="Glacial Indifference"/>
                <a:sym typeface="Glacial Indifference"/>
              </a:rPr>
              <a:t>Slightly different values</a:t>
            </a:r>
          </a:p>
          <a:p>
            <a:pPr algn="just">
              <a:lnSpc>
                <a:spcPts val="2119"/>
              </a:lnSpc>
              <a:spcBef>
                <a:spcPct val="0"/>
              </a:spcBef>
            </a:pPr>
          </a:p>
          <a:p>
            <a:pPr algn="just">
              <a:lnSpc>
                <a:spcPts val="2119"/>
              </a:lnSpc>
              <a:spcBef>
                <a:spcPct val="0"/>
              </a:spcBef>
            </a:pPr>
            <a:r>
              <a:rPr lang="en-US" b="true" sz="1892" spc="37">
                <a:solidFill>
                  <a:srgbClr val="000000"/>
                </a:solidFill>
                <a:latin typeface="Glacial Indifference Bold"/>
                <a:ea typeface="Glacial Indifference Bold"/>
                <a:cs typeface="Glacial Indifference Bold"/>
                <a:sym typeface="Glacial Indifference Bold"/>
              </a:rPr>
              <a:t>Which means:</a:t>
            </a:r>
          </a:p>
          <a:p>
            <a:pPr algn="just" marL="408517" indent="-204259" lvl="1">
              <a:lnSpc>
                <a:spcPts val="2119"/>
              </a:lnSpc>
              <a:buFont typeface="Arial"/>
              <a:buChar char="•"/>
            </a:pPr>
            <a:r>
              <a:rPr lang="en-US" sz="1892" spc="37">
                <a:solidFill>
                  <a:srgbClr val="000000"/>
                </a:solidFill>
                <a:latin typeface="Glacial Indifference"/>
                <a:ea typeface="Glacial Indifference"/>
                <a:cs typeface="Glacial Indifference"/>
                <a:sym typeface="Glacial Indifference"/>
              </a:rPr>
              <a:t>Ensemble/multiple runs of the same simulation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05059" y="307345"/>
            <a:ext cx="0" cy="815143"/>
          </a:xfrm>
          <a:prstGeom prst="line">
            <a:avLst/>
          </a:prstGeom>
          <a:ln cap="flat" w="47625">
            <a:solidFill>
              <a:srgbClr val="206648"/>
            </a:solidFill>
            <a:prstDash val="solid"/>
            <a:headEnd type="none" len="sm" w="sm"/>
            <a:tailEnd type="none" len="sm" w="sm"/>
          </a:ln>
        </p:spPr>
      </p:sp>
      <p:grpSp>
        <p:nvGrpSpPr>
          <p:cNvPr name="Group 3" id="3"/>
          <p:cNvGrpSpPr/>
          <p:nvPr/>
        </p:nvGrpSpPr>
        <p:grpSpPr>
          <a:xfrm rot="0">
            <a:off x="10305006" y="2132244"/>
            <a:ext cx="2142387" cy="1832589"/>
            <a:chOff x="0" y="0"/>
            <a:chExt cx="564250" cy="482657"/>
          </a:xfrm>
        </p:grpSpPr>
        <p:sp>
          <p:nvSpPr>
            <p:cNvPr name="Freeform 4" id="4"/>
            <p:cNvSpPr/>
            <p:nvPr/>
          </p:nvSpPr>
          <p:spPr>
            <a:xfrm flipH="false" flipV="false" rot="0">
              <a:off x="0" y="0"/>
              <a:ext cx="564250" cy="482657"/>
            </a:xfrm>
            <a:custGeom>
              <a:avLst/>
              <a:gdLst/>
              <a:ahLst/>
              <a:cxnLst/>
              <a:rect r="r" b="b" t="t" l="l"/>
              <a:pathLst>
                <a:path h="482657" w="564250">
                  <a:moveTo>
                    <a:pt x="0" y="0"/>
                  </a:moveTo>
                  <a:lnTo>
                    <a:pt x="564250" y="0"/>
                  </a:lnTo>
                  <a:lnTo>
                    <a:pt x="564250" y="482657"/>
                  </a:lnTo>
                  <a:lnTo>
                    <a:pt x="0" y="482657"/>
                  </a:lnTo>
                  <a:close/>
                </a:path>
              </a:pathLst>
            </a:custGeom>
            <a:solidFill>
              <a:srgbClr val="DCEEF3"/>
            </a:solidFill>
          </p:spPr>
        </p:sp>
        <p:sp>
          <p:nvSpPr>
            <p:cNvPr name="TextBox 5" id="5"/>
            <p:cNvSpPr txBox="true"/>
            <p:nvPr/>
          </p:nvSpPr>
          <p:spPr>
            <a:xfrm>
              <a:off x="0" y="-47625"/>
              <a:ext cx="564250" cy="530282"/>
            </a:xfrm>
            <a:prstGeom prst="rect">
              <a:avLst/>
            </a:prstGeom>
          </p:spPr>
          <p:txBody>
            <a:bodyPr anchor="ctr" rtlCol="false" tIns="50800" lIns="50800" bIns="50800" rIns="50800"/>
            <a:lstStyle/>
            <a:p>
              <a:pPr algn="ctr">
                <a:lnSpc>
                  <a:spcPts val="2800"/>
                </a:lnSpc>
              </a:pPr>
              <a:r>
                <a:rPr lang="en-US" sz="2000" b="true">
                  <a:solidFill>
                    <a:srgbClr val="000000"/>
                  </a:solidFill>
                  <a:latin typeface="HK Grotesk Bold"/>
                  <a:ea typeface="HK Grotesk Bold"/>
                  <a:cs typeface="HK Grotesk Bold"/>
                  <a:sym typeface="HK Grotesk Bold"/>
                </a:rPr>
                <a:t>Merged Dataset</a:t>
              </a:r>
            </a:p>
            <a:p>
              <a:pPr algn="ctr">
                <a:lnSpc>
                  <a:spcPts val="2800"/>
                </a:lnSpc>
              </a:pPr>
              <a:r>
                <a:rPr lang="en-US" sz="2000">
                  <a:solidFill>
                    <a:srgbClr val="000000"/>
                  </a:solidFill>
                  <a:latin typeface="HK Grotesk"/>
                  <a:ea typeface="HK Grotesk"/>
                  <a:cs typeface="HK Grotesk"/>
                  <a:sym typeface="HK Grotesk"/>
                </a:rPr>
                <a:t>(averaged)</a:t>
              </a:r>
            </a:p>
          </p:txBody>
        </p:sp>
      </p:grpSp>
      <p:sp>
        <p:nvSpPr>
          <p:cNvPr name="AutoShape 6" id="6"/>
          <p:cNvSpPr/>
          <p:nvPr/>
        </p:nvSpPr>
        <p:spPr>
          <a:xfrm flipV="true">
            <a:off x="5209398" y="3048538"/>
            <a:ext cx="5095608" cy="1170522"/>
          </a:xfrm>
          <a:prstGeom prst="line">
            <a:avLst/>
          </a:prstGeom>
          <a:ln cap="flat" w="28575">
            <a:solidFill>
              <a:srgbClr val="D15353"/>
            </a:solidFill>
            <a:prstDash val="solid"/>
            <a:headEnd type="none" len="sm" w="sm"/>
            <a:tailEnd type="arrow" len="sm" w="med"/>
          </a:ln>
        </p:spPr>
      </p:sp>
      <p:sp>
        <p:nvSpPr>
          <p:cNvPr name="AutoShape 7" id="7"/>
          <p:cNvSpPr/>
          <p:nvPr/>
        </p:nvSpPr>
        <p:spPr>
          <a:xfrm flipV="true">
            <a:off x="5209398" y="3048538"/>
            <a:ext cx="5095608" cy="583367"/>
          </a:xfrm>
          <a:prstGeom prst="line">
            <a:avLst/>
          </a:prstGeom>
          <a:ln cap="flat" w="28575">
            <a:solidFill>
              <a:srgbClr val="D15353"/>
            </a:solidFill>
            <a:prstDash val="solid"/>
            <a:headEnd type="none" len="sm" w="sm"/>
            <a:tailEnd type="arrow" len="sm" w="med"/>
          </a:ln>
        </p:spPr>
      </p:sp>
      <p:sp>
        <p:nvSpPr>
          <p:cNvPr name="AutoShape 8" id="8"/>
          <p:cNvSpPr/>
          <p:nvPr/>
        </p:nvSpPr>
        <p:spPr>
          <a:xfrm>
            <a:off x="5209398" y="3048538"/>
            <a:ext cx="5095608" cy="0"/>
          </a:xfrm>
          <a:prstGeom prst="line">
            <a:avLst/>
          </a:prstGeom>
          <a:ln cap="flat" w="28575">
            <a:solidFill>
              <a:srgbClr val="D15353"/>
            </a:solidFill>
            <a:prstDash val="solid"/>
            <a:headEnd type="none" len="sm" w="sm"/>
            <a:tailEnd type="arrow" len="sm" w="med"/>
          </a:ln>
        </p:spPr>
      </p:sp>
      <p:sp>
        <p:nvSpPr>
          <p:cNvPr name="AutoShape 9" id="9"/>
          <p:cNvSpPr/>
          <p:nvPr/>
        </p:nvSpPr>
        <p:spPr>
          <a:xfrm>
            <a:off x="5209398" y="2476643"/>
            <a:ext cx="5095608" cy="571895"/>
          </a:xfrm>
          <a:prstGeom prst="line">
            <a:avLst/>
          </a:prstGeom>
          <a:ln cap="flat" w="28575">
            <a:solidFill>
              <a:srgbClr val="D15353"/>
            </a:solidFill>
            <a:prstDash val="solid"/>
            <a:headEnd type="none" len="sm" w="sm"/>
            <a:tailEnd type="arrow" len="sm" w="med"/>
          </a:ln>
        </p:spPr>
      </p:sp>
      <p:sp>
        <p:nvSpPr>
          <p:cNvPr name="AutoShape 10" id="10"/>
          <p:cNvSpPr/>
          <p:nvPr/>
        </p:nvSpPr>
        <p:spPr>
          <a:xfrm>
            <a:off x="5209398" y="1899013"/>
            <a:ext cx="5095608" cy="1149525"/>
          </a:xfrm>
          <a:prstGeom prst="line">
            <a:avLst/>
          </a:prstGeom>
          <a:ln cap="flat" w="28575">
            <a:solidFill>
              <a:srgbClr val="D15353"/>
            </a:solidFill>
            <a:prstDash val="solid"/>
            <a:headEnd type="none" len="sm" w="sm"/>
            <a:tailEnd type="arrow" len="sm" w="med"/>
          </a:ln>
        </p:spPr>
      </p:sp>
      <p:grpSp>
        <p:nvGrpSpPr>
          <p:cNvPr name="Group 11" id="11"/>
          <p:cNvGrpSpPr/>
          <p:nvPr/>
        </p:nvGrpSpPr>
        <p:grpSpPr>
          <a:xfrm rot="0">
            <a:off x="405059" y="1648298"/>
            <a:ext cx="4804339" cy="501431"/>
            <a:chOff x="0" y="0"/>
            <a:chExt cx="1265340" cy="132064"/>
          </a:xfrm>
        </p:grpSpPr>
        <p:sp>
          <p:nvSpPr>
            <p:cNvPr name="Freeform 12" id="12"/>
            <p:cNvSpPr/>
            <p:nvPr/>
          </p:nvSpPr>
          <p:spPr>
            <a:xfrm flipH="false" flipV="false" rot="0">
              <a:off x="0" y="0"/>
              <a:ext cx="1265340" cy="132064"/>
            </a:xfrm>
            <a:custGeom>
              <a:avLst/>
              <a:gdLst/>
              <a:ahLst/>
              <a:cxnLst/>
              <a:rect r="r" b="b" t="t" l="l"/>
              <a:pathLst>
                <a:path h="132064" w="1265340">
                  <a:moveTo>
                    <a:pt x="22560" y="0"/>
                  </a:moveTo>
                  <a:lnTo>
                    <a:pt x="1242780" y="0"/>
                  </a:lnTo>
                  <a:cubicBezTo>
                    <a:pt x="1248763" y="0"/>
                    <a:pt x="1254502" y="2377"/>
                    <a:pt x="1258733" y="6608"/>
                  </a:cubicBezTo>
                  <a:cubicBezTo>
                    <a:pt x="1262963" y="10839"/>
                    <a:pt x="1265340" y="16577"/>
                    <a:pt x="1265340" y="22560"/>
                  </a:cubicBezTo>
                  <a:lnTo>
                    <a:pt x="1265340" y="109504"/>
                  </a:lnTo>
                  <a:cubicBezTo>
                    <a:pt x="1265340" y="121963"/>
                    <a:pt x="1255240" y="132064"/>
                    <a:pt x="1242780" y="132064"/>
                  </a:cubicBezTo>
                  <a:lnTo>
                    <a:pt x="22560" y="132064"/>
                  </a:lnTo>
                  <a:cubicBezTo>
                    <a:pt x="16577" y="132064"/>
                    <a:pt x="10839" y="129687"/>
                    <a:pt x="6608" y="125456"/>
                  </a:cubicBezTo>
                  <a:cubicBezTo>
                    <a:pt x="2377" y="121225"/>
                    <a:pt x="0" y="115487"/>
                    <a:pt x="0" y="109504"/>
                  </a:cubicBezTo>
                  <a:lnTo>
                    <a:pt x="0" y="22560"/>
                  </a:lnTo>
                  <a:cubicBezTo>
                    <a:pt x="0" y="16577"/>
                    <a:pt x="2377" y="10839"/>
                    <a:pt x="6608" y="6608"/>
                  </a:cubicBezTo>
                  <a:cubicBezTo>
                    <a:pt x="10839" y="2377"/>
                    <a:pt x="16577" y="0"/>
                    <a:pt x="22560" y="0"/>
                  </a:cubicBezTo>
                  <a:close/>
                </a:path>
              </a:pathLst>
            </a:custGeom>
            <a:solidFill>
              <a:srgbClr val="DCEEF3"/>
            </a:solidFill>
          </p:spPr>
        </p:sp>
        <p:sp>
          <p:nvSpPr>
            <p:cNvPr name="TextBox 13" id="13"/>
            <p:cNvSpPr txBox="true"/>
            <p:nvPr/>
          </p:nvSpPr>
          <p:spPr>
            <a:xfrm>
              <a:off x="0" y="-38100"/>
              <a:ext cx="1265340" cy="170164"/>
            </a:xfrm>
            <a:prstGeom prst="rect">
              <a:avLst/>
            </a:prstGeom>
          </p:spPr>
          <p:txBody>
            <a:bodyPr anchor="ctr" rtlCol="false" tIns="50800" lIns="50800" bIns="50800" rIns="50800"/>
            <a:lstStyle/>
            <a:p>
              <a:pPr algn="ctr">
                <a:lnSpc>
                  <a:spcPts val="2520"/>
                </a:lnSpc>
              </a:pPr>
              <a:r>
                <a:rPr lang="en-US" b="true" sz="1800">
                  <a:solidFill>
                    <a:srgbClr val="000000"/>
                  </a:solidFill>
                  <a:latin typeface="HK Grotesk Bold"/>
                  <a:ea typeface="HK Grotesk Bold"/>
                  <a:cs typeface="HK Grotesk Bold"/>
                  <a:sym typeface="HK Grotesk Bold"/>
                </a:rPr>
                <a:t>003_2006_2080_352_360.nc</a:t>
              </a:r>
            </a:p>
          </p:txBody>
        </p:sp>
      </p:grpSp>
      <p:grpSp>
        <p:nvGrpSpPr>
          <p:cNvPr name="Group 14" id="14"/>
          <p:cNvGrpSpPr/>
          <p:nvPr/>
        </p:nvGrpSpPr>
        <p:grpSpPr>
          <a:xfrm rot="0">
            <a:off x="405059" y="2225928"/>
            <a:ext cx="4804339" cy="501431"/>
            <a:chOff x="0" y="0"/>
            <a:chExt cx="1265340" cy="132064"/>
          </a:xfrm>
        </p:grpSpPr>
        <p:sp>
          <p:nvSpPr>
            <p:cNvPr name="Freeform 15" id="15"/>
            <p:cNvSpPr/>
            <p:nvPr/>
          </p:nvSpPr>
          <p:spPr>
            <a:xfrm flipH="false" flipV="false" rot="0">
              <a:off x="0" y="0"/>
              <a:ext cx="1265340" cy="132064"/>
            </a:xfrm>
            <a:custGeom>
              <a:avLst/>
              <a:gdLst/>
              <a:ahLst/>
              <a:cxnLst/>
              <a:rect r="r" b="b" t="t" l="l"/>
              <a:pathLst>
                <a:path h="132064" w="1265340">
                  <a:moveTo>
                    <a:pt x="22560" y="0"/>
                  </a:moveTo>
                  <a:lnTo>
                    <a:pt x="1242780" y="0"/>
                  </a:lnTo>
                  <a:cubicBezTo>
                    <a:pt x="1248763" y="0"/>
                    <a:pt x="1254502" y="2377"/>
                    <a:pt x="1258733" y="6608"/>
                  </a:cubicBezTo>
                  <a:cubicBezTo>
                    <a:pt x="1262963" y="10839"/>
                    <a:pt x="1265340" y="16577"/>
                    <a:pt x="1265340" y="22560"/>
                  </a:cubicBezTo>
                  <a:lnTo>
                    <a:pt x="1265340" y="109504"/>
                  </a:lnTo>
                  <a:cubicBezTo>
                    <a:pt x="1265340" y="121963"/>
                    <a:pt x="1255240" y="132064"/>
                    <a:pt x="1242780" y="132064"/>
                  </a:cubicBezTo>
                  <a:lnTo>
                    <a:pt x="22560" y="132064"/>
                  </a:lnTo>
                  <a:cubicBezTo>
                    <a:pt x="16577" y="132064"/>
                    <a:pt x="10839" y="129687"/>
                    <a:pt x="6608" y="125456"/>
                  </a:cubicBezTo>
                  <a:cubicBezTo>
                    <a:pt x="2377" y="121225"/>
                    <a:pt x="0" y="115487"/>
                    <a:pt x="0" y="109504"/>
                  </a:cubicBezTo>
                  <a:lnTo>
                    <a:pt x="0" y="22560"/>
                  </a:lnTo>
                  <a:cubicBezTo>
                    <a:pt x="0" y="16577"/>
                    <a:pt x="2377" y="10839"/>
                    <a:pt x="6608" y="6608"/>
                  </a:cubicBezTo>
                  <a:cubicBezTo>
                    <a:pt x="10839" y="2377"/>
                    <a:pt x="16577" y="0"/>
                    <a:pt x="22560" y="0"/>
                  </a:cubicBezTo>
                  <a:close/>
                </a:path>
              </a:pathLst>
            </a:custGeom>
            <a:solidFill>
              <a:srgbClr val="DCEEF3"/>
            </a:solidFill>
          </p:spPr>
        </p:sp>
        <p:sp>
          <p:nvSpPr>
            <p:cNvPr name="TextBox 16" id="16"/>
            <p:cNvSpPr txBox="true"/>
            <p:nvPr/>
          </p:nvSpPr>
          <p:spPr>
            <a:xfrm>
              <a:off x="0" y="-38100"/>
              <a:ext cx="1265340" cy="170164"/>
            </a:xfrm>
            <a:prstGeom prst="rect">
              <a:avLst/>
            </a:prstGeom>
          </p:spPr>
          <p:txBody>
            <a:bodyPr anchor="ctr" rtlCol="false" tIns="50800" lIns="50800" bIns="50800" rIns="50800"/>
            <a:lstStyle/>
            <a:p>
              <a:pPr algn="ctr">
                <a:lnSpc>
                  <a:spcPts val="2520"/>
                </a:lnSpc>
              </a:pPr>
              <a:r>
                <a:rPr lang="en-US" b="true" sz="1800">
                  <a:solidFill>
                    <a:srgbClr val="000000"/>
                  </a:solidFill>
                  <a:latin typeface="HK Grotesk Bold"/>
                  <a:ea typeface="HK Grotesk Bold"/>
                  <a:cs typeface="HK Grotesk Bold"/>
                  <a:sym typeface="HK Grotesk Bold"/>
                </a:rPr>
                <a:t>004_2006_2080_352_360.nc</a:t>
              </a:r>
            </a:p>
          </p:txBody>
        </p:sp>
      </p:grpSp>
      <p:grpSp>
        <p:nvGrpSpPr>
          <p:cNvPr name="Group 17" id="17"/>
          <p:cNvGrpSpPr/>
          <p:nvPr/>
        </p:nvGrpSpPr>
        <p:grpSpPr>
          <a:xfrm rot="0">
            <a:off x="405059" y="2797823"/>
            <a:ext cx="4804339" cy="501431"/>
            <a:chOff x="0" y="0"/>
            <a:chExt cx="1265340" cy="132064"/>
          </a:xfrm>
        </p:grpSpPr>
        <p:sp>
          <p:nvSpPr>
            <p:cNvPr name="Freeform 18" id="18"/>
            <p:cNvSpPr/>
            <p:nvPr/>
          </p:nvSpPr>
          <p:spPr>
            <a:xfrm flipH="false" flipV="false" rot="0">
              <a:off x="0" y="0"/>
              <a:ext cx="1265340" cy="132064"/>
            </a:xfrm>
            <a:custGeom>
              <a:avLst/>
              <a:gdLst/>
              <a:ahLst/>
              <a:cxnLst/>
              <a:rect r="r" b="b" t="t" l="l"/>
              <a:pathLst>
                <a:path h="132064" w="1265340">
                  <a:moveTo>
                    <a:pt x="22560" y="0"/>
                  </a:moveTo>
                  <a:lnTo>
                    <a:pt x="1242780" y="0"/>
                  </a:lnTo>
                  <a:cubicBezTo>
                    <a:pt x="1248763" y="0"/>
                    <a:pt x="1254502" y="2377"/>
                    <a:pt x="1258733" y="6608"/>
                  </a:cubicBezTo>
                  <a:cubicBezTo>
                    <a:pt x="1262963" y="10839"/>
                    <a:pt x="1265340" y="16577"/>
                    <a:pt x="1265340" y="22560"/>
                  </a:cubicBezTo>
                  <a:lnTo>
                    <a:pt x="1265340" y="109504"/>
                  </a:lnTo>
                  <a:cubicBezTo>
                    <a:pt x="1265340" y="121963"/>
                    <a:pt x="1255240" y="132064"/>
                    <a:pt x="1242780" y="132064"/>
                  </a:cubicBezTo>
                  <a:lnTo>
                    <a:pt x="22560" y="132064"/>
                  </a:lnTo>
                  <a:cubicBezTo>
                    <a:pt x="16577" y="132064"/>
                    <a:pt x="10839" y="129687"/>
                    <a:pt x="6608" y="125456"/>
                  </a:cubicBezTo>
                  <a:cubicBezTo>
                    <a:pt x="2377" y="121225"/>
                    <a:pt x="0" y="115487"/>
                    <a:pt x="0" y="109504"/>
                  </a:cubicBezTo>
                  <a:lnTo>
                    <a:pt x="0" y="22560"/>
                  </a:lnTo>
                  <a:cubicBezTo>
                    <a:pt x="0" y="16577"/>
                    <a:pt x="2377" y="10839"/>
                    <a:pt x="6608" y="6608"/>
                  </a:cubicBezTo>
                  <a:cubicBezTo>
                    <a:pt x="10839" y="2377"/>
                    <a:pt x="16577" y="0"/>
                    <a:pt x="22560" y="0"/>
                  </a:cubicBezTo>
                  <a:close/>
                </a:path>
              </a:pathLst>
            </a:custGeom>
            <a:solidFill>
              <a:srgbClr val="DCEEF3"/>
            </a:solidFill>
          </p:spPr>
        </p:sp>
        <p:sp>
          <p:nvSpPr>
            <p:cNvPr name="TextBox 19" id="19"/>
            <p:cNvSpPr txBox="true"/>
            <p:nvPr/>
          </p:nvSpPr>
          <p:spPr>
            <a:xfrm>
              <a:off x="0" y="-38100"/>
              <a:ext cx="1265340" cy="170164"/>
            </a:xfrm>
            <a:prstGeom prst="rect">
              <a:avLst/>
            </a:prstGeom>
          </p:spPr>
          <p:txBody>
            <a:bodyPr anchor="ctr" rtlCol="false" tIns="50800" lIns="50800" bIns="50800" rIns="50800"/>
            <a:lstStyle/>
            <a:p>
              <a:pPr algn="ctr">
                <a:lnSpc>
                  <a:spcPts val="2520"/>
                </a:lnSpc>
              </a:pPr>
              <a:r>
                <a:rPr lang="en-US" b="true" sz="1800">
                  <a:solidFill>
                    <a:srgbClr val="000000"/>
                  </a:solidFill>
                  <a:latin typeface="HK Grotesk Bold"/>
                  <a:ea typeface="HK Grotesk Bold"/>
                  <a:cs typeface="HK Grotesk Bold"/>
                  <a:sym typeface="HK Grotesk Bold"/>
                </a:rPr>
                <a:t>005_2006_2080_352_360.nc</a:t>
              </a:r>
            </a:p>
          </p:txBody>
        </p:sp>
      </p:grpSp>
      <p:grpSp>
        <p:nvGrpSpPr>
          <p:cNvPr name="Group 20" id="20"/>
          <p:cNvGrpSpPr/>
          <p:nvPr/>
        </p:nvGrpSpPr>
        <p:grpSpPr>
          <a:xfrm rot="0">
            <a:off x="405059" y="3381189"/>
            <a:ext cx="4804339" cy="501431"/>
            <a:chOff x="0" y="0"/>
            <a:chExt cx="1265340" cy="132064"/>
          </a:xfrm>
        </p:grpSpPr>
        <p:sp>
          <p:nvSpPr>
            <p:cNvPr name="Freeform 21" id="21"/>
            <p:cNvSpPr/>
            <p:nvPr/>
          </p:nvSpPr>
          <p:spPr>
            <a:xfrm flipH="false" flipV="false" rot="0">
              <a:off x="0" y="0"/>
              <a:ext cx="1265340" cy="132064"/>
            </a:xfrm>
            <a:custGeom>
              <a:avLst/>
              <a:gdLst/>
              <a:ahLst/>
              <a:cxnLst/>
              <a:rect r="r" b="b" t="t" l="l"/>
              <a:pathLst>
                <a:path h="132064" w="1265340">
                  <a:moveTo>
                    <a:pt x="22560" y="0"/>
                  </a:moveTo>
                  <a:lnTo>
                    <a:pt x="1242780" y="0"/>
                  </a:lnTo>
                  <a:cubicBezTo>
                    <a:pt x="1248763" y="0"/>
                    <a:pt x="1254502" y="2377"/>
                    <a:pt x="1258733" y="6608"/>
                  </a:cubicBezTo>
                  <a:cubicBezTo>
                    <a:pt x="1262963" y="10839"/>
                    <a:pt x="1265340" y="16577"/>
                    <a:pt x="1265340" y="22560"/>
                  </a:cubicBezTo>
                  <a:lnTo>
                    <a:pt x="1265340" y="109504"/>
                  </a:lnTo>
                  <a:cubicBezTo>
                    <a:pt x="1265340" y="121963"/>
                    <a:pt x="1255240" y="132064"/>
                    <a:pt x="1242780" y="132064"/>
                  </a:cubicBezTo>
                  <a:lnTo>
                    <a:pt x="22560" y="132064"/>
                  </a:lnTo>
                  <a:cubicBezTo>
                    <a:pt x="16577" y="132064"/>
                    <a:pt x="10839" y="129687"/>
                    <a:pt x="6608" y="125456"/>
                  </a:cubicBezTo>
                  <a:cubicBezTo>
                    <a:pt x="2377" y="121225"/>
                    <a:pt x="0" y="115487"/>
                    <a:pt x="0" y="109504"/>
                  </a:cubicBezTo>
                  <a:lnTo>
                    <a:pt x="0" y="22560"/>
                  </a:lnTo>
                  <a:cubicBezTo>
                    <a:pt x="0" y="16577"/>
                    <a:pt x="2377" y="10839"/>
                    <a:pt x="6608" y="6608"/>
                  </a:cubicBezTo>
                  <a:cubicBezTo>
                    <a:pt x="10839" y="2377"/>
                    <a:pt x="16577" y="0"/>
                    <a:pt x="22560" y="0"/>
                  </a:cubicBezTo>
                  <a:close/>
                </a:path>
              </a:pathLst>
            </a:custGeom>
            <a:solidFill>
              <a:srgbClr val="DCEEF3"/>
            </a:solidFill>
          </p:spPr>
        </p:sp>
        <p:sp>
          <p:nvSpPr>
            <p:cNvPr name="TextBox 22" id="22"/>
            <p:cNvSpPr txBox="true"/>
            <p:nvPr/>
          </p:nvSpPr>
          <p:spPr>
            <a:xfrm>
              <a:off x="0" y="-38100"/>
              <a:ext cx="1265340" cy="170164"/>
            </a:xfrm>
            <a:prstGeom prst="rect">
              <a:avLst/>
            </a:prstGeom>
          </p:spPr>
          <p:txBody>
            <a:bodyPr anchor="ctr" rtlCol="false" tIns="50800" lIns="50800" bIns="50800" rIns="50800"/>
            <a:lstStyle/>
            <a:p>
              <a:pPr algn="ctr">
                <a:lnSpc>
                  <a:spcPts val="2520"/>
                </a:lnSpc>
              </a:pPr>
              <a:r>
                <a:rPr lang="en-US" b="true" sz="1800">
                  <a:solidFill>
                    <a:srgbClr val="000000"/>
                  </a:solidFill>
                  <a:latin typeface="HK Grotesk Bold"/>
                  <a:ea typeface="HK Grotesk Bold"/>
                  <a:cs typeface="HK Grotesk Bold"/>
                  <a:sym typeface="HK Grotesk Bold"/>
                </a:rPr>
                <a:t>006_2006_2080_352_360.nc</a:t>
              </a:r>
            </a:p>
          </p:txBody>
        </p:sp>
      </p:grpSp>
      <p:grpSp>
        <p:nvGrpSpPr>
          <p:cNvPr name="Group 23" id="23"/>
          <p:cNvGrpSpPr/>
          <p:nvPr/>
        </p:nvGrpSpPr>
        <p:grpSpPr>
          <a:xfrm rot="0">
            <a:off x="405059" y="3968345"/>
            <a:ext cx="4804339" cy="501431"/>
            <a:chOff x="0" y="0"/>
            <a:chExt cx="1265340" cy="132064"/>
          </a:xfrm>
        </p:grpSpPr>
        <p:sp>
          <p:nvSpPr>
            <p:cNvPr name="Freeform 24" id="24"/>
            <p:cNvSpPr/>
            <p:nvPr/>
          </p:nvSpPr>
          <p:spPr>
            <a:xfrm flipH="false" flipV="false" rot="0">
              <a:off x="0" y="0"/>
              <a:ext cx="1265340" cy="132064"/>
            </a:xfrm>
            <a:custGeom>
              <a:avLst/>
              <a:gdLst/>
              <a:ahLst/>
              <a:cxnLst/>
              <a:rect r="r" b="b" t="t" l="l"/>
              <a:pathLst>
                <a:path h="132064" w="1265340">
                  <a:moveTo>
                    <a:pt x="22560" y="0"/>
                  </a:moveTo>
                  <a:lnTo>
                    <a:pt x="1242780" y="0"/>
                  </a:lnTo>
                  <a:cubicBezTo>
                    <a:pt x="1248763" y="0"/>
                    <a:pt x="1254502" y="2377"/>
                    <a:pt x="1258733" y="6608"/>
                  </a:cubicBezTo>
                  <a:cubicBezTo>
                    <a:pt x="1262963" y="10839"/>
                    <a:pt x="1265340" y="16577"/>
                    <a:pt x="1265340" y="22560"/>
                  </a:cubicBezTo>
                  <a:lnTo>
                    <a:pt x="1265340" y="109504"/>
                  </a:lnTo>
                  <a:cubicBezTo>
                    <a:pt x="1265340" y="121963"/>
                    <a:pt x="1255240" y="132064"/>
                    <a:pt x="1242780" y="132064"/>
                  </a:cubicBezTo>
                  <a:lnTo>
                    <a:pt x="22560" y="132064"/>
                  </a:lnTo>
                  <a:cubicBezTo>
                    <a:pt x="16577" y="132064"/>
                    <a:pt x="10839" y="129687"/>
                    <a:pt x="6608" y="125456"/>
                  </a:cubicBezTo>
                  <a:cubicBezTo>
                    <a:pt x="2377" y="121225"/>
                    <a:pt x="0" y="115487"/>
                    <a:pt x="0" y="109504"/>
                  </a:cubicBezTo>
                  <a:lnTo>
                    <a:pt x="0" y="22560"/>
                  </a:lnTo>
                  <a:cubicBezTo>
                    <a:pt x="0" y="16577"/>
                    <a:pt x="2377" y="10839"/>
                    <a:pt x="6608" y="6608"/>
                  </a:cubicBezTo>
                  <a:cubicBezTo>
                    <a:pt x="10839" y="2377"/>
                    <a:pt x="16577" y="0"/>
                    <a:pt x="22560" y="0"/>
                  </a:cubicBezTo>
                  <a:close/>
                </a:path>
              </a:pathLst>
            </a:custGeom>
            <a:solidFill>
              <a:srgbClr val="DCEEF3"/>
            </a:solidFill>
          </p:spPr>
        </p:sp>
        <p:sp>
          <p:nvSpPr>
            <p:cNvPr name="TextBox 25" id="25"/>
            <p:cNvSpPr txBox="true"/>
            <p:nvPr/>
          </p:nvSpPr>
          <p:spPr>
            <a:xfrm>
              <a:off x="0" y="-38100"/>
              <a:ext cx="1265340" cy="170164"/>
            </a:xfrm>
            <a:prstGeom prst="rect">
              <a:avLst/>
            </a:prstGeom>
          </p:spPr>
          <p:txBody>
            <a:bodyPr anchor="ctr" rtlCol="false" tIns="50800" lIns="50800" bIns="50800" rIns="50800"/>
            <a:lstStyle/>
            <a:p>
              <a:pPr algn="ctr">
                <a:lnSpc>
                  <a:spcPts val="2520"/>
                </a:lnSpc>
              </a:pPr>
              <a:r>
                <a:rPr lang="en-US" b="true" sz="1800">
                  <a:solidFill>
                    <a:srgbClr val="000000"/>
                  </a:solidFill>
                  <a:latin typeface="HK Grotesk Bold"/>
                  <a:ea typeface="HK Grotesk Bold"/>
                  <a:cs typeface="HK Grotesk Bold"/>
                  <a:sym typeface="HK Grotesk Bold"/>
                </a:rPr>
                <a:t>007_2006_2080_352_360.nc</a:t>
              </a:r>
            </a:p>
          </p:txBody>
        </p:sp>
      </p:grpSp>
      <p:grpSp>
        <p:nvGrpSpPr>
          <p:cNvPr name="Group 26" id="26"/>
          <p:cNvGrpSpPr/>
          <p:nvPr/>
        </p:nvGrpSpPr>
        <p:grpSpPr>
          <a:xfrm rot="0">
            <a:off x="405059" y="4545975"/>
            <a:ext cx="4804339" cy="501431"/>
            <a:chOff x="0" y="0"/>
            <a:chExt cx="1265340" cy="132064"/>
          </a:xfrm>
        </p:grpSpPr>
        <p:sp>
          <p:nvSpPr>
            <p:cNvPr name="Freeform 27" id="27"/>
            <p:cNvSpPr/>
            <p:nvPr/>
          </p:nvSpPr>
          <p:spPr>
            <a:xfrm flipH="false" flipV="false" rot="0">
              <a:off x="0" y="0"/>
              <a:ext cx="1265340" cy="132064"/>
            </a:xfrm>
            <a:custGeom>
              <a:avLst/>
              <a:gdLst/>
              <a:ahLst/>
              <a:cxnLst/>
              <a:rect r="r" b="b" t="t" l="l"/>
              <a:pathLst>
                <a:path h="132064" w="1265340">
                  <a:moveTo>
                    <a:pt x="22560" y="0"/>
                  </a:moveTo>
                  <a:lnTo>
                    <a:pt x="1242780" y="0"/>
                  </a:lnTo>
                  <a:cubicBezTo>
                    <a:pt x="1248763" y="0"/>
                    <a:pt x="1254502" y="2377"/>
                    <a:pt x="1258733" y="6608"/>
                  </a:cubicBezTo>
                  <a:cubicBezTo>
                    <a:pt x="1262963" y="10839"/>
                    <a:pt x="1265340" y="16577"/>
                    <a:pt x="1265340" y="22560"/>
                  </a:cubicBezTo>
                  <a:lnTo>
                    <a:pt x="1265340" y="109504"/>
                  </a:lnTo>
                  <a:cubicBezTo>
                    <a:pt x="1265340" y="121963"/>
                    <a:pt x="1255240" y="132064"/>
                    <a:pt x="1242780" y="132064"/>
                  </a:cubicBezTo>
                  <a:lnTo>
                    <a:pt x="22560" y="132064"/>
                  </a:lnTo>
                  <a:cubicBezTo>
                    <a:pt x="16577" y="132064"/>
                    <a:pt x="10839" y="129687"/>
                    <a:pt x="6608" y="125456"/>
                  </a:cubicBezTo>
                  <a:cubicBezTo>
                    <a:pt x="2377" y="121225"/>
                    <a:pt x="0" y="115487"/>
                    <a:pt x="0" y="109504"/>
                  </a:cubicBezTo>
                  <a:lnTo>
                    <a:pt x="0" y="22560"/>
                  </a:lnTo>
                  <a:cubicBezTo>
                    <a:pt x="0" y="16577"/>
                    <a:pt x="2377" y="10839"/>
                    <a:pt x="6608" y="6608"/>
                  </a:cubicBezTo>
                  <a:cubicBezTo>
                    <a:pt x="10839" y="2377"/>
                    <a:pt x="16577" y="0"/>
                    <a:pt x="22560" y="0"/>
                  </a:cubicBezTo>
                  <a:close/>
                </a:path>
              </a:pathLst>
            </a:custGeom>
            <a:solidFill>
              <a:srgbClr val="DCEEF3"/>
            </a:solidFill>
          </p:spPr>
        </p:sp>
        <p:sp>
          <p:nvSpPr>
            <p:cNvPr name="TextBox 28" id="28"/>
            <p:cNvSpPr txBox="true"/>
            <p:nvPr/>
          </p:nvSpPr>
          <p:spPr>
            <a:xfrm>
              <a:off x="0" y="-38100"/>
              <a:ext cx="1265340" cy="170164"/>
            </a:xfrm>
            <a:prstGeom prst="rect">
              <a:avLst/>
            </a:prstGeom>
          </p:spPr>
          <p:txBody>
            <a:bodyPr anchor="ctr" rtlCol="false" tIns="50800" lIns="50800" bIns="50800" rIns="50800"/>
            <a:lstStyle/>
            <a:p>
              <a:pPr algn="ctr">
                <a:lnSpc>
                  <a:spcPts val="2520"/>
                </a:lnSpc>
              </a:pPr>
              <a:r>
                <a:rPr lang="en-US" b="true" sz="1800">
                  <a:solidFill>
                    <a:srgbClr val="000000"/>
                  </a:solidFill>
                  <a:latin typeface="HK Grotesk Bold"/>
                  <a:ea typeface="HK Grotesk Bold"/>
                  <a:cs typeface="HK Grotesk Bold"/>
                  <a:sym typeface="HK Grotesk Bold"/>
                </a:rPr>
                <a:t>008_2006_2080_352_360.nc</a:t>
              </a:r>
            </a:p>
          </p:txBody>
        </p:sp>
      </p:grpSp>
      <p:sp>
        <p:nvSpPr>
          <p:cNvPr name="AutoShape 29" id="29"/>
          <p:cNvSpPr/>
          <p:nvPr/>
        </p:nvSpPr>
        <p:spPr>
          <a:xfrm flipV="true">
            <a:off x="5209398" y="3048538"/>
            <a:ext cx="5095608" cy="1748153"/>
          </a:xfrm>
          <a:prstGeom prst="line">
            <a:avLst/>
          </a:prstGeom>
          <a:ln cap="flat" w="28575">
            <a:solidFill>
              <a:srgbClr val="D15353"/>
            </a:solidFill>
            <a:prstDash val="solid"/>
            <a:headEnd type="none" len="sm" w="sm"/>
            <a:tailEnd type="arrow" len="sm" w="med"/>
          </a:ln>
        </p:spPr>
      </p:sp>
      <p:sp>
        <p:nvSpPr>
          <p:cNvPr name="TextBox 30" id="30"/>
          <p:cNvSpPr txBox="true"/>
          <p:nvPr/>
        </p:nvSpPr>
        <p:spPr>
          <a:xfrm rot="0">
            <a:off x="405059" y="5704631"/>
            <a:ext cx="8738941" cy="348234"/>
          </a:xfrm>
          <a:prstGeom prst="rect">
            <a:avLst/>
          </a:prstGeom>
        </p:spPr>
        <p:txBody>
          <a:bodyPr anchor="t" rtlCol="false" tIns="0" lIns="0" bIns="0" rIns="0">
            <a:spAutoFit/>
          </a:bodyPr>
          <a:lstStyle/>
          <a:p>
            <a:pPr algn="just">
              <a:lnSpc>
                <a:spcPts val="2688"/>
              </a:lnSpc>
              <a:spcBef>
                <a:spcPct val="0"/>
              </a:spcBef>
            </a:pPr>
            <a:r>
              <a:rPr lang="en-US" b="true" sz="2400" spc="48">
                <a:solidFill>
                  <a:srgbClr val="000000"/>
                </a:solidFill>
                <a:latin typeface="Glacial Indifference Bold"/>
                <a:ea typeface="Glacial Indifference Bold"/>
                <a:cs typeface="Glacial Indifference Bold"/>
                <a:sym typeface="Glacial Indifference Bold"/>
              </a:rPr>
              <a:t>Merge the Datasets: Take the Average</a:t>
            </a:r>
          </a:p>
        </p:txBody>
      </p:sp>
      <p:sp>
        <p:nvSpPr>
          <p:cNvPr name="AutoShape 31" id="31"/>
          <p:cNvSpPr/>
          <p:nvPr/>
        </p:nvSpPr>
        <p:spPr>
          <a:xfrm flipV="true">
            <a:off x="405078" y="6052865"/>
            <a:ext cx="5960164" cy="0"/>
          </a:xfrm>
          <a:prstGeom prst="line">
            <a:avLst/>
          </a:prstGeom>
          <a:ln cap="flat" w="38100">
            <a:solidFill>
              <a:srgbClr val="F34D24"/>
            </a:solidFill>
            <a:prstDash val="solid"/>
            <a:headEnd type="none" len="sm" w="sm"/>
            <a:tailEnd type="none" len="sm" w="sm"/>
          </a:ln>
        </p:spPr>
      </p:sp>
      <p:sp>
        <p:nvSpPr>
          <p:cNvPr name="Freeform 32" id="32"/>
          <p:cNvSpPr/>
          <p:nvPr/>
        </p:nvSpPr>
        <p:spPr>
          <a:xfrm flipH="false" flipV="false" rot="0">
            <a:off x="10305006" y="4219060"/>
            <a:ext cx="6607753" cy="4782361"/>
          </a:xfrm>
          <a:custGeom>
            <a:avLst/>
            <a:gdLst/>
            <a:ahLst/>
            <a:cxnLst/>
            <a:rect r="r" b="b" t="t" l="l"/>
            <a:pathLst>
              <a:path h="4782361" w="6607753">
                <a:moveTo>
                  <a:pt x="0" y="0"/>
                </a:moveTo>
                <a:lnTo>
                  <a:pt x="6607752" y="0"/>
                </a:lnTo>
                <a:lnTo>
                  <a:pt x="6607752" y="4782361"/>
                </a:lnTo>
                <a:lnTo>
                  <a:pt x="0" y="4782361"/>
                </a:lnTo>
                <a:lnTo>
                  <a:pt x="0" y="0"/>
                </a:lnTo>
                <a:close/>
              </a:path>
            </a:pathLst>
          </a:custGeom>
          <a:blipFill>
            <a:blip r:embed="rId2"/>
            <a:stretch>
              <a:fillRect l="0" t="0" r="0" b="0"/>
            </a:stretch>
          </a:blipFill>
          <a:ln w="9525" cap="sq">
            <a:solidFill>
              <a:srgbClr val="D15353"/>
            </a:solidFill>
            <a:prstDash val="solid"/>
            <a:miter/>
          </a:ln>
        </p:spPr>
      </p:sp>
      <p:sp>
        <p:nvSpPr>
          <p:cNvPr name="Freeform 33" id="33"/>
          <p:cNvSpPr/>
          <p:nvPr/>
        </p:nvSpPr>
        <p:spPr>
          <a:xfrm flipH="false" flipV="false" rot="0">
            <a:off x="9295790" y="4219060"/>
            <a:ext cx="861098" cy="924440"/>
          </a:xfrm>
          <a:custGeom>
            <a:avLst/>
            <a:gdLst/>
            <a:ahLst/>
            <a:cxnLst/>
            <a:rect r="r" b="b" t="t" l="l"/>
            <a:pathLst>
              <a:path h="924440" w="861098">
                <a:moveTo>
                  <a:pt x="0" y="0"/>
                </a:moveTo>
                <a:lnTo>
                  <a:pt x="861098" y="0"/>
                </a:lnTo>
                <a:lnTo>
                  <a:pt x="861098" y="924440"/>
                </a:lnTo>
                <a:lnTo>
                  <a:pt x="0" y="9244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4" id="34"/>
          <p:cNvSpPr txBox="true"/>
          <p:nvPr/>
        </p:nvSpPr>
        <p:spPr>
          <a:xfrm rot="0">
            <a:off x="605154" y="251145"/>
            <a:ext cx="15990534" cy="9367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The Provided Datasets:</a:t>
            </a:r>
          </a:p>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Climate Data from Year 2006 - 2080</a:t>
            </a:r>
          </a:p>
        </p:txBody>
      </p:sp>
      <p:sp>
        <p:nvSpPr>
          <p:cNvPr name="TextBox 35" id="35"/>
          <p:cNvSpPr txBox="true"/>
          <p:nvPr/>
        </p:nvSpPr>
        <p:spPr>
          <a:xfrm rot="0">
            <a:off x="17259300" y="983137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Glacial Indifference Bold"/>
                <a:ea typeface="Glacial Indifference Bold"/>
                <a:cs typeface="Glacial Indifference Bold"/>
                <a:sym typeface="Glacial Indifference Bold"/>
              </a:rPr>
              <a:t>1</a:t>
            </a:r>
          </a:p>
        </p:txBody>
      </p:sp>
      <p:sp>
        <p:nvSpPr>
          <p:cNvPr name="TextBox 36" id="36"/>
          <p:cNvSpPr txBox="true"/>
          <p:nvPr/>
        </p:nvSpPr>
        <p:spPr>
          <a:xfrm rot="0">
            <a:off x="405059" y="6300199"/>
            <a:ext cx="5960182" cy="1352702"/>
          </a:xfrm>
          <a:prstGeom prst="rect">
            <a:avLst/>
          </a:prstGeom>
        </p:spPr>
        <p:txBody>
          <a:bodyPr anchor="t" rtlCol="false" tIns="0" lIns="0" bIns="0" rIns="0">
            <a:spAutoFit/>
          </a:bodyPr>
          <a:lstStyle/>
          <a:p>
            <a:pPr algn="l" marL="408049" indent="-204025" lvl="1">
              <a:lnSpc>
                <a:spcPts val="2116"/>
              </a:lnSpc>
              <a:buFont typeface="Arial"/>
              <a:buChar char="•"/>
            </a:pPr>
            <a:r>
              <a:rPr lang="en-US" sz="1889" spc="37">
                <a:solidFill>
                  <a:srgbClr val="000000"/>
                </a:solidFill>
                <a:latin typeface="Glacial Indifference"/>
                <a:ea typeface="Glacial Indifference"/>
                <a:cs typeface="Glacial Indifference"/>
                <a:sym typeface="Glacial Indifference"/>
              </a:rPr>
              <a:t>Reduce random variability</a:t>
            </a:r>
          </a:p>
          <a:p>
            <a:pPr algn="l" marL="408049" indent="-204025" lvl="1">
              <a:lnSpc>
                <a:spcPts val="2116"/>
              </a:lnSpc>
              <a:buFont typeface="Arial"/>
              <a:buChar char="•"/>
            </a:pPr>
            <a:r>
              <a:rPr lang="en-US" sz="1889" spc="37">
                <a:solidFill>
                  <a:srgbClr val="000000"/>
                </a:solidFill>
                <a:latin typeface="Glacial Indifference"/>
                <a:ea typeface="Glacial Indifference"/>
                <a:cs typeface="Glacial Indifference"/>
                <a:sym typeface="Glacial Indifference"/>
              </a:rPr>
              <a:t>Enhance robustness</a:t>
            </a:r>
          </a:p>
          <a:p>
            <a:pPr algn="l" marL="408049" indent="-204025" lvl="1">
              <a:lnSpc>
                <a:spcPts val="2116"/>
              </a:lnSpc>
              <a:buFont typeface="Arial"/>
              <a:buChar char="•"/>
            </a:pPr>
            <a:r>
              <a:rPr lang="en-US" sz="1889" spc="37">
                <a:solidFill>
                  <a:srgbClr val="000000"/>
                </a:solidFill>
                <a:latin typeface="Glacial Indifference"/>
                <a:ea typeface="Glacial Indifference"/>
                <a:cs typeface="Glacial Indifference"/>
                <a:sym typeface="Glacial Indifference"/>
              </a:rPr>
              <a:t>Improve comparisons with external datasets which normally use multi-model ensembles (averaging across models)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05059" y="307345"/>
            <a:ext cx="0" cy="815143"/>
          </a:xfrm>
          <a:prstGeom prst="line">
            <a:avLst/>
          </a:prstGeom>
          <a:ln cap="flat" w="47625">
            <a:solidFill>
              <a:srgbClr val="206648"/>
            </a:solidFill>
            <a:prstDash val="solid"/>
            <a:headEnd type="none" len="sm" w="sm"/>
            <a:tailEnd type="none" len="sm" w="sm"/>
          </a:ln>
        </p:spPr>
      </p:sp>
      <p:sp>
        <p:nvSpPr>
          <p:cNvPr name="Freeform 3" id="3"/>
          <p:cNvSpPr/>
          <p:nvPr/>
        </p:nvSpPr>
        <p:spPr>
          <a:xfrm flipH="false" flipV="false" rot="0">
            <a:off x="1028700" y="3086100"/>
            <a:ext cx="4103827" cy="4114800"/>
          </a:xfrm>
          <a:custGeom>
            <a:avLst/>
            <a:gdLst/>
            <a:ahLst/>
            <a:cxnLst/>
            <a:rect r="r" b="b" t="t" l="l"/>
            <a:pathLst>
              <a:path h="4114800" w="4103827">
                <a:moveTo>
                  <a:pt x="0" y="0"/>
                </a:moveTo>
                <a:lnTo>
                  <a:pt x="4103827" y="0"/>
                </a:lnTo>
                <a:lnTo>
                  <a:pt x="410382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05154" y="251145"/>
            <a:ext cx="15990534" cy="9367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The External Dataset</a:t>
            </a:r>
          </a:p>
          <a:p>
            <a:pPr algn="l">
              <a:lnSpc>
                <a:spcPts val="3604"/>
              </a:lnSpc>
            </a:pPr>
          </a:p>
        </p:txBody>
      </p:sp>
      <p:sp>
        <p:nvSpPr>
          <p:cNvPr name="TextBox 5" id="5"/>
          <p:cNvSpPr txBox="true"/>
          <p:nvPr/>
        </p:nvSpPr>
        <p:spPr>
          <a:xfrm rot="0">
            <a:off x="17259300" y="983137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Glacial Indifference Bold"/>
                <a:ea typeface="Glacial Indifference Bold"/>
                <a:cs typeface="Glacial Indifference Bold"/>
                <a:sym typeface="Glacial Indifference Bold"/>
              </a:rPr>
              <a:t>1</a:t>
            </a:r>
          </a:p>
        </p:txBody>
      </p:sp>
      <p:sp>
        <p:nvSpPr>
          <p:cNvPr name="TextBox 6" id="6"/>
          <p:cNvSpPr txBox="true"/>
          <p:nvPr/>
        </p:nvSpPr>
        <p:spPr>
          <a:xfrm rot="0">
            <a:off x="7383482" y="1421003"/>
            <a:ext cx="8711565" cy="3349244"/>
          </a:xfrm>
          <a:prstGeom prst="rect">
            <a:avLst/>
          </a:prstGeom>
        </p:spPr>
        <p:txBody>
          <a:bodyPr anchor="t" rtlCol="false" tIns="0" lIns="0" bIns="0" rIns="0">
            <a:spAutoFit/>
          </a:bodyPr>
          <a:lstStyle/>
          <a:p>
            <a:pPr algn="ctr">
              <a:lnSpc>
                <a:spcPts val="3807"/>
              </a:lnSpc>
            </a:pPr>
            <a:r>
              <a:rPr lang="en-US" b="true" sz="3399" spc="67">
                <a:solidFill>
                  <a:srgbClr val="000000"/>
                </a:solidFill>
                <a:latin typeface="Glacial Indifference Bold"/>
                <a:ea typeface="Glacial Indifference Bold"/>
                <a:cs typeface="Glacial Indifference Bold"/>
                <a:sym typeface="Glacial Indifference Bold"/>
              </a:rPr>
              <a:t>One dataset containing:</a:t>
            </a:r>
          </a:p>
          <a:p>
            <a:pPr algn="ctr" marL="734059" indent="-367030" lvl="1">
              <a:lnSpc>
                <a:spcPts val="3807"/>
              </a:lnSpc>
              <a:buFont typeface="Arial"/>
              <a:buChar char="•"/>
            </a:pPr>
            <a:r>
              <a:rPr lang="en-US" b="true" sz="3399" spc="67">
                <a:solidFill>
                  <a:srgbClr val="000000"/>
                </a:solidFill>
                <a:latin typeface="Glacial Indifference Bold"/>
                <a:ea typeface="Glacial Indifference Bold"/>
                <a:cs typeface="Glacial Indifference Bold"/>
                <a:sym typeface="Glacial Indifference Bold"/>
              </a:rPr>
              <a:t>Time</a:t>
            </a:r>
          </a:p>
          <a:p>
            <a:pPr algn="ctr" marL="734059" indent="-367030" lvl="1">
              <a:lnSpc>
                <a:spcPts val="3807"/>
              </a:lnSpc>
              <a:buFont typeface="Arial"/>
              <a:buChar char="•"/>
            </a:pPr>
            <a:r>
              <a:rPr lang="en-US" b="true" sz="3399" spc="67">
                <a:solidFill>
                  <a:srgbClr val="000000"/>
                </a:solidFill>
                <a:latin typeface="Glacial Indifference Bold"/>
                <a:ea typeface="Glacial Indifference Bold"/>
                <a:cs typeface="Glacial Indifference Bold"/>
                <a:sym typeface="Glacial Indifference Bold"/>
              </a:rPr>
              <a:t>Latitude</a:t>
            </a:r>
          </a:p>
          <a:p>
            <a:pPr algn="ctr" marL="734059" indent="-367030" lvl="1">
              <a:lnSpc>
                <a:spcPts val="3807"/>
              </a:lnSpc>
              <a:buFont typeface="Arial"/>
              <a:buChar char="•"/>
            </a:pPr>
            <a:r>
              <a:rPr lang="en-US" b="true" sz="3399" spc="67">
                <a:solidFill>
                  <a:srgbClr val="000000"/>
                </a:solidFill>
                <a:latin typeface="Glacial Indifference Bold"/>
                <a:ea typeface="Glacial Indifference Bold"/>
                <a:cs typeface="Glacial Indifference Bold"/>
                <a:sym typeface="Glacial Indifference Bold"/>
              </a:rPr>
              <a:t>Longitude</a:t>
            </a:r>
          </a:p>
          <a:p>
            <a:pPr algn="ctr" marL="734059" indent="-367030" lvl="1">
              <a:lnSpc>
                <a:spcPts val="3807"/>
              </a:lnSpc>
              <a:buFont typeface="Arial"/>
              <a:buChar char="•"/>
            </a:pPr>
            <a:r>
              <a:rPr lang="en-US" b="true" sz="3399" spc="67">
                <a:solidFill>
                  <a:srgbClr val="000000"/>
                </a:solidFill>
                <a:latin typeface="Glacial Indifference Bold"/>
                <a:ea typeface="Glacial Indifference Bold"/>
                <a:cs typeface="Glacial Indifference Bold"/>
                <a:sym typeface="Glacial Indifference Bold"/>
              </a:rPr>
              <a:t>2-metre air temperature (t2m)</a:t>
            </a:r>
          </a:p>
          <a:p>
            <a:pPr algn="ctr" marL="734059" indent="-367030" lvl="1">
              <a:lnSpc>
                <a:spcPts val="3807"/>
              </a:lnSpc>
              <a:buFont typeface="Arial"/>
              <a:buChar char="•"/>
            </a:pPr>
            <a:r>
              <a:rPr lang="en-US" b="true" sz="3399" spc="67">
                <a:solidFill>
                  <a:srgbClr val="000000"/>
                </a:solidFill>
                <a:latin typeface="Glacial Indifference Bold"/>
                <a:ea typeface="Glacial Indifference Bold"/>
                <a:cs typeface="Glacial Indifference Bold"/>
                <a:sym typeface="Glacial Indifference Bold"/>
              </a:rPr>
              <a:t>Soil temperature at layer 1 (stl1)</a:t>
            </a:r>
          </a:p>
          <a:p>
            <a:pPr algn="ctr" marL="734059" indent="-367030" lvl="1">
              <a:lnSpc>
                <a:spcPts val="3807"/>
              </a:lnSpc>
              <a:spcBef>
                <a:spcPct val="0"/>
              </a:spcBef>
              <a:buFont typeface="Arial"/>
              <a:buChar char="•"/>
            </a:pPr>
            <a:r>
              <a:rPr lang="en-US" b="true" sz="3399" spc="67">
                <a:solidFill>
                  <a:srgbClr val="000000"/>
                </a:solidFill>
                <a:latin typeface="Glacial Indifference Bold"/>
                <a:ea typeface="Glacial Indifference Bold"/>
                <a:cs typeface="Glacial Indifference Bold"/>
                <a:sym typeface="Glacial Indifference Bold"/>
              </a:rPr>
              <a:t>Volumetric Soil Water at layer 1 (swvl1)</a:t>
            </a:r>
          </a:p>
        </p:txBody>
      </p:sp>
      <p:sp>
        <p:nvSpPr>
          <p:cNvPr name="TextBox 7" id="7"/>
          <p:cNvSpPr txBox="true"/>
          <p:nvPr/>
        </p:nvSpPr>
        <p:spPr>
          <a:xfrm rot="0">
            <a:off x="7383482" y="5757029"/>
            <a:ext cx="9212206" cy="2906791"/>
          </a:xfrm>
          <a:prstGeom prst="rect">
            <a:avLst/>
          </a:prstGeom>
        </p:spPr>
        <p:txBody>
          <a:bodyPr anchor="t" rtlCol="false" tIns="0" lIns="0" bIns="0" rIns="0">
            <a:spAutoFit/>
          </a:bodyPr>
          <a:lstStyle/>
          <a:p>
            <a:pPr algn="ctr" marL="742638" indent="-371319" lvl="1">
              <a:lnSpc>
                <a:spcPts val="3852"/>
              </a:lnSpc>
              <a:buFont typeface="Arial"/>
              <a:buChar char="•"/>
            </a:pPr>
            <a:r>
              <a:rPr lang="en-US" b="true" sz="3439" spc="68">
                <a:solidFill>
                  <a:srgbClr val="000000"/>
                </a:solidFill>
                <a:latin typeface="Glacial Indifference Bold"/>
                <a:ea typeface="Glacial Indifference Bold"/>
                <a:cs typeface="Glacial Indifference Bold"/>
                <a:sym typeface="Glacial Indifference Bold"/>
              </a:rPr>
              <a:t>6,940 timetamps</a:t>
            </a:r>
          </a:p>
          <a:p>
            <a:pPr algn="ctr" marL="742638" indent="-371319" lvl="1">
              <a:lnSpc>
                <a:spcPts val="3852"/>
              </a:lnSpc>
              <a:buFont typeface="Arial"/>
              <a:buChar char="•"/>
            </a:pPr>
            <a:r>
              <a:rPr lang="en-US" b="true" sz="3439" spc="68">
                <a:solidFill>
                  <a:srgbClr val="000000"/>
                </a:solidFill>
                <a:latin typeface="Glacial Indifference Bold"/>
                <a:ea typeface="Glacial Indifference Bold"/>
                <a:cs typeface="Glacial Indifference Bold"/>
                <a:sym typeface="Glacial Indifference Bold"/>
              </a:rPr>
              <a:t>39 latitudal coordinates</a:t>
            </a:r>
          </a:p>
          <a:p>
            <a:pPr algn="ctr" marL="742638" indent="-371319" lvl="1">
              <a:lnSpc>
                <a:spcPts val="3852"/>
              </a:lnSpc>
              <a:buFont typeface="Arial"/>
              <a:buChar char="•"/>
            </a:pPr>
            <a:r>
              <a:rPr lang="en-US" b="true" sz="3439" spc="68">
                <a:solidFill>
                  <a:srgbClr val="000000"/>
                </a:solidFill>
                <a:latin typeface="Glacial Indifference Bold"/>
                <a:ea typeface="Glacial Indifference Bold"/>
                <a:cs typeface="Glacial Indifference Bold"/>
                <a:sym typeface="Glacial Indifference Bold"/>
              </a:rPr>
              <a:t>26 longitudal coordinates</a:t>
            </a:r>
          </a:p>
          <a:p>
            <a:pPr algn="ctr" marL="742638" indent="-371319" lvl="1">
              <a:lnSpc>
                <a:spcPts val="3852"/>
              </a:lnSpc>
              <a:buFont typeface="Arial"/>
              <a:buChar char="•"/>
            </a:pPr>
            <a:r>
              <a:rPr lang="en-US" b="true" sz="3439" spc="68">
                <a:solidFill>
                  <a:srgbClr val="000000"/>
                </a:solidFill>
                <a:latin typeface="Glacial Indifference Bold"/>
                <a:ea typeface="Glacial Indifference Bold"/>
                <a:cs typeface="Glacial Indifference Bold"/>
                <a:sym typeface="Glacial Indifference Bold"/>
              </a:rPr>
              <a:t>Time ranging from 01/01/06 to 31/12/24</a:t>
            </a:r>
          </a:p>
          <a:p>
            <a:pPr algn="ctr" marL="742638" indent="-371319" lvl="1">
              <a:lnSpc>
                <a:spcPts val="3852"/>
              </a:lnSpc>
              <a:buFont typeface="Arial"/>
              <a:buChar char="•"/>
            </a:pPr>
            <a:r>
              <a:rPr lang="en-US" b="true" sz="3439" spc="68">
                <a:solidFill>
                  <a:srgbClr val="000000"/>
                </a:solidFill>
                <a:latin typeface="Glacial Indifference Bold"/>
                <a:ea typeface="Glacial Indifference Bold"/>
                <a:cs typeface="Glacial Indifference Bold"/>
                <a:sym typeface="Glacial Indifference Bold"/>
              </a:rPr>
              <a:t>Latitude ranging from 49.4 to 58.9</a:t>
            </a:r>
          </a:p>
          <a:p>
            <a:pPr algn="ctr" marL="742638" indent="-371319" lvl="1">
              <a:lnSpc>
                <a:spcPts val="3852"/>
              </a:lnSpc>
              <a:spcBef>
                <a:spcPct val="0"/>
              </a:spcBef>
              <a:buFont typeface="Arial"/>
              <a:buChar char="•"/>
            </a:pPr>
            <a:r>
              <a:rPr lang="en-US" b="true" sz="3439" spc="68">
                <a:solidFill>
                  <a:srgbClr val="000000"/>
                </a:solidFill>
                <a:latin typeface="Glacial Indifference Bold"/>
                <a:ea typeface="Glacial Indifference Bold"/>
                <a:cs typeface="Glacial Indifference Bold"/>
                <a:sym typeface="Glacial Indifference Bold"/>
              </a:rPr>
              <a:t>Longitude ranging from -7.5 to -1.25</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86806" y="2307906"/>
            <a:ext cx="573153" cy="57315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1</a:t>
              </a:r>
            </a:p>
          </p:txBody>
        </p:sp>
      </p:grpSp>
      <p:sp>
        <p:nvSpPr>
          <p:cNvPr name="TextBox 5" id="5"/>
          <p:cNvSpPr txBox="true"/>
          <p:nvPr/>
        </p:nvSpPr>
        <p:spPr>
          <a:xfrm rot="0">
            <a:off x="1786806" y="581025"/>
            <a:ext cx="16262613" cy="1149348"/>
          </a:xfrm>
          <a:prstGeom prst="rect">
            <a:avLst/>
          </a:prstGeom>
        </p:spPr>
        <p:txBody>
          <a:bodyPr anchor="t" rtlCol="false" tIns="0" lIns="0" bIns="0" rIns="0">
            <a:spAutoFit/>
          </a:bodyPr>
          <a:lstStyle/>
          <a:p>
            <a:pPr algn="l" marL="0" indent="0" lvl="0">
              <a:lnSpc>
                <a:spcPts val="8799"/>
              </a:lnSpc>
            </a:pPr>
            <a:r>
              <a:rPr lang="en-US" b="true" sz="7999">
                <a:solidFill>
                  <a:srgbClr val="004247"/>
                </a:solidFill>
                <a:latin typeface="Glacial Indifference Bold"/>
                <a:ea typeface="Glacial Indifference Bold"/>
                <a:cs typeface="Glacial Indifference Bold"/>
                <a:sym typeface="Glacial Indifference Bold"/>
              </a:rPr>
              <a:t>Agenda</a:t>
            </a:r>
          </a:p>
        </p:txBody>
      </p:sp>
      <p:sp>
        <p:nvSpPr>
          <p:cNvPr name="TextBox 6" id="6"/>
          <p:cNvSpPr txBox="true"/>
          <p:nvPr/>
        </p:nvSpPr>
        <p:spPr>
          <a:xfrm rot="0">
            <a:off x="2854410" y="2410014"/>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Background</a:t>
            </a:r>
          </a:p>
        </p:txBody>
      </p:sp>
      <p:sp>
        <p:nvSpPr>
          <p:cNvPr name="TextBox 7" id="7"/>
          <p:cNvSpPr txBox="true"/>
          <p:nvPr/>
        </p:nvSpPr>
        <p:spPr>
          <a:xfrm rot="0">
            <a:off x="2854410" y="3089656"/>
            <a:ext cx="11195719"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Scope</a:t>
            </a:r>
          </a:p>
        </p:txBody>
      </p:sp>
      <p:sp>
        <p:nvSpPr>
          <p:cNvPr name="TextBox 8" id="8"/>
          <p:cNvSpPr txBox="true"/>
          <p:nvPr/>
        </p:nvSpPr>
        <p:spPr>
          <a:xfrm rot="0">
            <a:off x="2854410" y="3772916"/>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Methodology</a:t>
            </a:r>
          </a:p>
        </p:txBody>
      </p:sp>
      <p:sp>
        <p:nvSpPr>
          <p:cNvPr name="TextBox 9" id="9"/>
          <p:cNvSpPr txBox="true"/>
          <p:nvPr/>
        </p:nvSpPr>
        <p:spPr>
          <a:xfrm rot="0">
            <a:off x="2854410" y="4445511"/>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The Datasets</a:t>
            </a:r>
          </a:p>
        </p:txBody>
      </p:sp>
      <p:sp>
        <p:nvSpPr>
          <p:cNvPr name="TextBox 10" id="10"/>
          <p:cNvSpPr txBox="true"/>
          <p:nvPr/>
        </p:nvSpPr>
        <p:spPr>
          <a:xfrm rot="0">
            <a:off x="2854410" y="5180777"/>
            <a:ext cx="14621406" cy="397510"/>
          </a:xfrm>
          <a:prstGeom prst="rect">
            <a:avLst/>
          </a:prstGeom>
        </p:spPr>
        <p:txBody>
          <a:bodyPr anchor="t" rtlCol="false" tIns="0" lIns="0" bIns="0" rIns="0">
            <a:spAutoFit/>
          </a:bodyPr>
          <a:lstStyle/>
          <a:p>
            <a:pPr algn="l" marL="0" indent="0" lvl="0">
              <a:lnSpc>
                <a:spcPts val="3080"/>
              </a:lnSpc>
            </a:pPr>
            <a:r>
              <a:rPr lang="en-US" b="true" sz="2800">
                <a:solidFill>
                  <a:srgbClr val="000000"/>
                </a:solidFill>
                <a:latin typeface="Glacial Indifference Bold"/>
                <a:ea typeface="Glacial Indifference Bold"/>
                <a:cs typeface="Glacial Indifference Bold"/>
                <a:sym typeface="Glacial Indifference Bold"/>
              </a:rPr>
              <a:t>Data Preprocessing</a:t>
            </a:r>
          </a:p>
        </p:txBody>
      </p:sp>
      <p:sp>
        <p:nvSpPr>
          <p:cNvPr name="TextBox 11" id="11"/>
          <p:cNvSpPr txBox="true"/>
          <p:nvPr/>
        </p:nvSpPr>
        <p:spPr>
          <a:xfrm rot="0">
            <a:off x="2854410" y="5911662"/>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Exploratory Data Analysis</a:t>
            </a:r>
          </a:p>
        </p:txBody>
      </p:sp>
      <p:sp>
        <p:nvSpPr>
          <p:cNvPr name="TextBox 12" id="12"/>
          <p:cNvSpPr txBox="true"/>
          <p:nvPr/>
        </p:nvSpPr>
        <p:spPr>
          <a:xfrm rot="0">
            <a:off x="2854410" y="6589590"/>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Model Development</a:t>
            </a:r>
          </a:p>
        </p:txBody>
      </p:sp>
      <p:sp>
        <p:nvSpPr>
          <p:cNvPr name="TextBox 13" id="13"/>
          <p:cNvSpPr txBox="true"/>
          <p:nvPr/>
        </p:nvSpPr>
        <p:spPr>
          <a:xfrm rot="0">
            <a:off x="2854410" y="732466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Key Findings </a:t>
            </a:r>
          </a:p>
        </p:txBody>
      </p:sp>
      <p:sp>
        <p:nvSpPr>
          <p:cNvPr name="TextBox 14" id="14"/>
          <p:cNvSpPr txBox="true"/>
          <p:nvPr/>
        </p:nvSpPr>
        <p:spPr>
          <a:xfrm rot="0">
            <a:off x="2854410" y="8023604"/>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Further Research</a:t>
            </a:r>
          </a:p>
        </p:txBody>
      </p:sp>
      <p:grpSp>
        <p:nvGrpSpPr>
          <p:cNvPr name="Group 15" id="15"/>
          <p:cNvGrpSpPr/>
          <p:nvPr/>
        </p:nvGrpSpPr>
        <p:grpSpPr>
          <a:xfrm rot="0">
            <a:off x="1786806" y="2987547"/>
            <a:ext cx="573153" cy="57315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2</a:t>
              </a:r>
            </a:p>
          </p:txBody>
        </p:sp>
      </p:grpSp>
      <p:grpSp>
        <p:nvGrpSpPr>
          <p:cNvPr name="Group 18" id="18"/>
          <p:cNvGrpSpPr/>
          <p:nvPr/>
        </p:nvGrpSpPr>
        <p:grpSpPr>
          <a:xfrm rot="0">
            <a:off x="1786806" y="3665475"/>
            <a:ext cx="573153" cy="57315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0" id="20"/>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3</a:t>
              </a:r>
            </a:p>
          </p:txBody>
        </p:sp>
      </p:grpSp>
      <p:grpSp>
        <p:nvGrpSpPr>
          <p:cNvPr name="Group 21" id="21"/>
          <p:cNvGrpSpPr/>
          <p:nvPr/>
        </p:nvGrpSpPr>
        <p:grpSpPr>
          <a:xfrm rot="0">
            <a:off x="1786806" y="4343402"/>
            <a:ext cx="573153" cy="57315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3" id="23"/>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4</a:t>
              </a:r>
            </a:p>
          </p:txBody>
        </p:sp>
      </p:grpSp>
      <p:grpSp>
        <p:nvGrpSpPr>
          <p:cNvPr name="Group 24" id="24"/>
          <p:cNvGrpSpPr/>
          <p:nvPr/>
        </p:nvGrpSpPr>
        <p:grpSpPr>
          <a:xfrm rot="0">
            <a:off x="1786806" y="5074476"/>
            <a:ext cx="573153" cy="57315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4D24"/>
            </a:solidFill>
          </p:spPr>
        </p:sp>
        <p:sp>
          <p:nvSpPr>
            <p:cNvPr name="TextBox 26" id="26"/>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5</a:t>
              </a:r>
            </a:p>
          </p:txBody>
        </p:sp>
      </p:grpSp>
      <p:grpSp>
        <p:nvGrpSpPr>
          <p:cNvPr name="Group 27" id="27"/>
          <p:cNvGrpSpPr/>
          <p:nvPr/>
        </p:nvGrpSpPr>
        <p:grpSpPr>
          <a:xfrm rot="0">
            <a:off x="1786806" y="5809553"/>
            <a:ext cx="573153" cy="57315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9" id="29"/>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6</a:t>
              </a:r>
            </a:p>
          </p:txBody>
        </p:sp>
      </p:grpSp>
      <p:grpSp>
        <p:nvGrpSpPr>
          <p:cNvPr name="Group 30" id="30"/>
          <p:cNvGrpSpPr/>
          <p:nvPr/>
        </p:nvGrpSpPr>
        <p:grpSpPr>
          <a:xfrm rot="0">
            <a:off x="1786806" y="6487481"/>
            <a:ext cx="573153" cy="57315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2" id="32"/>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7</a:t>
              </a:r>
            </a:p>
          </p:txBody>
        </p:sp>
      </p:grpSp>
      <p:grpSp>
        <p:nvGrpSpPr>
          <p:cNvPr name="Group 33" id="33"/>
          <p:cNvGrpSpPr/>
          <p:nvPr/>
        </p:nvGrpSpPr>
        <p:grpSpPr>
          <a:xfrm rot="0">
            <a:off x="1786806" y="7222558"/>
            <a:ext cx="573153" cy="573153"/>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5" id="35"/>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8</a:t>
              </a:r>
            </a:p>
          </p:txBody>
        </p:sp>
      </p:grpSp>
      <p:grpSp>
        <p:nvGrpSpPr>
          <p:cNvPr name="Group 36" id="36"/>
          <p:cNvGrpSpPr/>
          <p:nvPr/>
        </p:nvGrpSpPr>
        <p:grpSpPr>
          <a:xfrm rot="0">
            <a:off x="1786806" y="7921495"/>
            <a:ext cx="573153" cy="57315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8" id="38"/>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9</a:t>
              </a:r>
            </a:p>
          </p:txBody>
        </p:sp>
      </p:grpSp>
      <p:pic>
        <p:nvPicPr>
          <p:cNvPr name="Picture 39" id="39"/>
          <p:cNvPicPr>
            <a:picLocks noChangeAspect="true"/>
          </p:cNvPicPr>
          <p:nvPr/>
        </p:nvPicPr>
        <p:blipFill>
          <a:blip r:embed="rId2"/>
          <a:stretch>
            <a:fillRect/>
          </a:stretch>
        </p:blipFill>
        <p:spPr>
          <a:xfrm rot="0">
            <a:off x="5718054" y="312264"/>
            <a:ext cx="5116406" cy="1620195"/>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05059" y="193436"/>
            <a:ext cx="0" cy="815143"/>
          </a:xfrm>
          <a:prstGeom prst="line">
            <a:avLst/>
          </a:prstGeom>
          <a:ln cap="flat" w="47625">
            <a:solidFill>
              <a:srgbClr val="206648"/>
            </a:solidFill>
            <a:prstDash val="solid"/>
            <a:headEnd type="none" len="sm" w="sm"/>
            <a:tailEnd type="none" len="sm" w="sm"/>
          </a:ln>
        </p:spPr>
      </p:sp>
      <p:grpSp>
        <p:nvGrpSpPr>
          <p:cNvPr name="Group 3" id="3"/>
          <p:cNvGrpSpPr/>
          <p:nvPr/>
        </p:nvGrpSpPr>
        <p:grpSpPr>
          <a:xfrm rot="0">
            <a:off x="256156" y="1442922"/>
            <a:ext cx="4055865" cy="655013"/>
            <a:chOff x="0" y="0"/>
            <a:chExt cx="1068211" cy="172514"/>
          </a:xfrm>
        </p:grpSpPr>
        <p:sp>
          <p:nvSpPr>
            <p:cNvPr name="Freeform 4" id="4"/>
            <p:cNvSpPr/>
            <p:nvPr/>
          </p:nvSpPr>
          <p:spPr>
            <a:xfrm flipH="false" flipV="false" rot="0">
              <a:off x="0" y="0"/>
              <a:ext cx="1068211" cy="172514"/>
            </a:xfrm>
            <a:custGeom>
              <a:avLst/>
              <a:gdLst/>
              <a:ahLst/>
              <a:cxnLst/>
              <a:rect r="r" b="b" t="t" l="l"/>
              <a:pathLst>
                <a:path h="172514" w="1068211">
                  <a:moveTo>
                    <a:pt x="19088" y="0"/>
                  </a:moveTo>
                  <a:lnTo>
                    <a:pt x="1049123" y="0"/>
                  </a:lnTo>
                  <a:cubicBezTo>
                    <a:pt x="1059665" y="0"/>
                    <a:pt x="1068211" y="8546"/>
                    <a:pt x="1068211" y="19088"/>
                  </a:cubicBezTo>
                  <a:lnTo>
                    <a:pt x="1068211" y="153425"/>
                  </a:lnTo>
                  <a:cubicBezTo>
                    <a:pt x="1068211" y="163968"/>
                    <a:pt x="1059665" y="172514"/>
                    <a:pt x="1049123" y="172514"/>
                  </a:cubicBezTo>
                  <a:lnTo>
                    <a:pt x="19088" y="172514"/>
                  </a:lnTo>
                  <a:cubicBezTo>
                    <a:pt x="8546" y="172514"/>
                    <a:pt x="0" y="163968"/>
                    <a:pt x="0" y="153425"/>
                  </a:cubicBezTo>
                  <a:lnTo>
                    <a:pt x="0" y="19088"/>
                  </a:lnTo>
                  <a:cubicBezTo>
                    <a:pt x="0" y="8546"/>
                    <a:pt x="8546" y="0"/>
                    <a:pt x="19088" y="0"/>
                  </a:cubicBezTo>
                  <a:close/>
                </a:path>
              </a:pathLst>
            </a:custGeom>
            <a:solidFill>
              <a:srgbClr val="000000">
                <a:alpha val="0"/>
              </a:srgbClr>
            </a:solidFill>
            <a:ln w="28575" cap="sq">
              <a:gradFill>
                <a:gsLst>
                  <a:gs pos="0">
                    <a:srgbClr val="CDFFD8">
                      <a:alpha val="100000"/>
                    </a:srgbClr>
                  </a:gs>
                  <a:gs pos="100000">
                    <a:srgbClr val="94B9FF">
                      <a:alpha val="100000"/>
                    </a:srgbClr>
                  </a:gs>
                </a:gsLst>
                <a:lin ang="0"/>
              </a:gradFill>
              <a:prstDash val="lgDash"/>
              <a:miter/>
            </a:ln>
          </p:spPr>
        </p:sp>
        <p:sp>
          <p:nvSpPr>
            <p:cNvPr name="TextBox 5" id="5"/>
            <p:cNvSpPr txBox="true"/>
            <p:nvPr/>
          </p:nvSpPr>
          <p:spPr>
            <a:xfrm>
              <a:off x="0" y="19050"/>
              <a:ext cx="1068211" cy="153464"/>
            </a:xfrm>
            <a:prstGeom prst="rect">
              <a:avLst/>
            </a:prstGeom>
          </p:spPr>
          <p:txBody>
            <a:bodyPr anchor="ctr" rtlCol="false" tIns="50800" lIns="50800" bIns="50800" rIns="50800"/>
            <a:lstStyle/>
            <a:p>
              <a:pPr algn="ctr">
                <a:lnSpc>
                  <a:spcPts val="1895"/>
                </a:lnSpc>
              </a:pPr>
            </a:p>
          </p:txBody>
        </p:sp>
      </p:grpSp>
      <p:grpSp>
        <p:nvGrpSpPr>
          <p:cNvPr name="Group 6" id="6"/>
          <p:cNvGrpSpPr/>
          <p:nvPr/>
        </p:nvGrpSpPr>
        <p:grpSpPr>
          <a:xfrm rot="0">
            <a:off x="748557" y="1281293"/>
            <a:ext cx="2027478" cy="323258"/>
            <a:chOff x="0" y="0"/>
            <a:chExt cx="533986" cy="85138"/>
          </a:xfrm>
        </p:grpSpPr>
        <p:sp>
          <p:nvSpPr>
            <p:cNvPr name="Freeform 7" id="7"/>
            <p:cNvSpPr/>
            <p:nvPr/>
          </p:nvSpPr>
          <p:spPr>
            <a:xfrm flipH="false" flipV="false" rot="0">
              <a:off x="0" y="0"/>
              <a:ext cx="533986" cy="85138"/>
            </a:xfrm>
            <a:custGeom>
              <a:avLst/>
              <a:gdLst/>
              <a:ahLst/>
              <a:cxnLst/>
              <a:rect r="r" b="b" t="t" l="l"/>
              <a:pathLst>
                <a:path h="85138" w="533986">
                  <a:moveTo>
                    <a:pt x="42569" y="0"/>
                  </a:moveTo>
                  <a:lnTo>
                    <a:pt x="491417" y="0"/>
                  </a:lnTo>
                  <a:cubicBezTo>
                    <a:pt x="502707" y="0"/>
                    <a:pt x="513534" y="4485"/>
                    <a:pt x="521518" y="12468"/>
                  </a:cubicBezTo>
                  <a:cubicBezTo>
                    <a:pt x="529501" y="20451"/>
                    <a:pt x="533986" y="31279"/>
                    <a:pt x="533986" y="42569"/>
                  </a:cubicBezTo>
                  <a:lnTo>
                    <a:pt x="533986" y="42569"/>
                  </a:lnTo>
                  <a:cubicBezTo>
                    <a:pt x="533986" y="66079"/>
                    <a:pt x="514927" y="85138"/>
                    <a:pt x="491417" y="85138"/>
                  </a:cubicBezTo>
                  <a:lnTo>
                    <a:pt x="42569" y="85138"/>
                  </a:lnTo>
                  <a:cubicBezTo>
                    <a:pt x="19059" y="85138"/>
                    <a:pt x="0" y="66079"/>
                    <a:pt x="0" y="42569"/>
                  </a:cubicBezTo>
                  <a:lnTo>
                    <a:pt x="0" y="42569"/>
                  </a:lnTo>
                  <a:cubicBezTo>
                    <a:pt x="0" y="19059"/>
                    <a:pt x="19059" y="0"/>
                    <a:pt x="42569" y="0"/>
                  </a:cubicBezTo>
                  <a:close/>
                </a:path>
              </a:pathLst>
            </a:custGeom>
            <a:solidFill>
              <a:srgbClr val="88FFDC"/>
            </a:solidFill>
          </p:spPr>
        </p:sp>
        <p:sp>
          <p:nvSpPr>
            <p:cNvPr name="TextBox 8" id="8"/>
            <p:cNvSpPr txBox="true"/>
            <p:nvPr/>
          </p:nvSpPr>
          <p:spPr>
            <a:xfrm>
              <a:off x="0" y="19050"/>
              <a:ext cx="533986" cy="66088"/>
            </a:xfrm>
            <a:prstGeom prst="rect">
              <a:avLst/>
            </a:prstGeom>
          </p:spPr>
          <p:txBody>
            <a:bodyPr anchor="ctr" rtlCol="false" tIns="50800" lIns="50800" bIns="50800" rIns="50800"/>
            <a:lstStyle/>
            <a:p>
              <a:pPr algn="ctr">
                <a:lnSpc>
                  <a:spcPts val="1895"/>
                </a:lnSpc>
              </a:pPr>
            </a:p>
          </p:txBody>
        </p:sp>
      </p:grpSp>
      <p:grpSp>
        <p:nvGrpSpPr>
          <p:cNvPr name="Group 9" id="9"/>
          <p:cNvGrpSpPr/>
          <p:nvPr/>
        </p:nvGrpSpPr>
        <p:grpSpPr>
          <a:xfrm rot="0">
            <a:off x="358194" y="1298777"/>
            <a:ext cx="367364" cy="326216"/>
            <a:chOff x="0" y="0"/>
            <a:chExt cx="489819" cy="434955"/>
          </a:xfrm>
        </p:grpSpPr>
        <p:grpSp>
          <p:nvGrpSpPr>
            <p:cNvPr name="Group 10" id="10"/>
            <p:cNvGrpSpPr/>
            <p:nvPr/>
          </p:nvGrpSpPr>
          <p:grpSpPr>
            <a:xfrm rot="0">
              <a:off x="0" y="0"/>
              <a:ext cx="489819" cy="434955"/>
              <a:chOff x="0" y="0"/>
              <a:chExt cx="812800" cy="721760"/>
            </a:xfrm>
          </p:grpSpPr>
          <p:sp>
            <p:nvSpPr>
              <p:cNvPr name="Freeform 11" id="11"/>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solidFill>
                <a:srgbClr val="5271FF"/>
              </a:solidFill>
            </p:spPr>
          </p:sp>
          <p:sp>
            <p:nvSpPr>
              <p:cNvPr name="TextBox 12" id="12"/>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13" id="13"/>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1</a:t>
              </a:r>
            </a:p>
          </p:txBody>
        </p:sp>
      </p:grpSp>
      <p:grpSp>
        <p:nvGrpSpPr>
          <p:cNvPr name="Group 14" id="14"/>
          <p:cNvGrpSpPr/>
          <p:nvPr/>
        </p:nvGrpSpPr>
        <p:grpSpPr>
          <a:xfrm rot="0">
            <a:off x="249776" y="3454148"/>
            <a:ext cx="8515691" cy="6583923"/>
            <a:chOff x="0" y="0"/>
            <a:chExt cx="2242816" cy="1734037"/>
          </a:xfrm>
        </p:grpSpPr>
        <p:sp>
          <p:nvSpPr>
            <p:cNvPr name="Freeform 15" id="15"/>
            <p:cNvSpPr/>
            <p:nvPr/>
          </p:nvSpPr>
          <p:spPr>
            <a:xfrm flipH="false" flipV="false" rot="0">
              <a:off x="0" y="0"/>
              <a:ext cx="2242816" cy="1734037"/>
            </a:xfrm>
            <a:custGeom>
              <a:avLst/>
              <a:gdLst/>
              <a:ahLst/>
              <a:cxnLst/>
              <a:rect r="r" b="b" t="t" l="l"/>
              <a:pathLst>
                <a:path h="1734037" w="2242816">
                  <a:moveTo>
                    <a:pt x="9091" y="0"/>
                  </a:moveTo>
                  <a:lnTo>
                    <a:pt x="2233725" y="0"/>
                  </a:lnTo>
                  <a:cubicBezTo>
                    <a:pt x="2236136" y="0"/>
                    <a:pt x="2238448" y="958"/>
                    <a:pt x="2240153" y="2663"/>
                  </a:cubicBezTo>
                  <a:cubicBezTo>
                    <a:pt x="2241858" y="4368"/>
                    <a:pt x="2242816" y="6680"/>
                    <a:pt x="2242816" y="9091"/>
                  </a:cubicBezTo>
                  <a:lnTo>
                    <a:pt x="2242816" y="1724946"/>
                  </a:lnTo>
                  <a:cubicBezTo>
                    <a:pt x="2242816" y="1727357"/>
                    <a:pt x="2241858" y="1729669"/>
                    <a:pt x="2240153" y="1731374"/>
                  </a:cubicBezTo>
                  <a:cubicBezTo>
                    <a:pt x="2238448" y="1733079"/>
                    <a:pt x="2236136" y="1734037"/>
                    <a:pt x="2233725" y="1734037"/>
                  </a:cubicBezTo>
                  <a:lnTo>
                    <a:pt x="9091" y="1734037"/>
                  </a:lnTo>
                  <a:cubicBezTo>
                    <a:pt x="6680" y="1734037"/>
                    <a:pt x="4368" y="1733079"/>
                    <a:pt x="2663" y="1731374"/>
                  </a:cubicBezTo>
                  <a:cubicBezTo>
                    <a:pt x="958" y="1729669"/>
                    <a:pt x="0" y="1727357"/>
                    <a:pt x="0" y="1724946"/>
                  </a:cubicBezTo>
                  <a:lnTo>
                    <a:pt x="0" y="9091"/>
                  </a:lnTo>
                  <a:cubicBezTo>
                    <a:pt x="0" y="6680"/>
                    <a:pt x="958" y="4368"/>
                    <a:pt x="2663" y="2663"/>
                  </a:cubicBezTo>
                  <a:cubicBezTo>
                    <a:pt x="4368" y="958"/>
                    <a:pt x="6680" y="0"/>
                    <a:pt x="9091" y="0"/>
                  </a:cubicBezTo>
                  <a:close/>
                </a:path>
              </a:pathLst>
            </a:custGeom>
            <a:solidFill>
              <a:srgbClr val="000000">
                <a:alpha val="0"/>
              </a:srgbClr>
            </a:solidFill>
            <a:ln w="28575" cap="sq">
              <a:gradFill>
                <a:gsLst>
                  <a:gs pos="0">
                    <a:srgbClr val="CDFFD8">
                      <a:alpha val="100000"/>
                    </a:srgbClr>
                  </a:gs>
                  <a:gs pos="100000">
                    <a:srgbClr val="94B9FF">
                      <a:alpha val="100000"/>
                    </a:srgbClr>
                  </a:gs>
                </a:gsLst>
                <a:lin ang="0"/>
              </a:gradFill>
              <a:prstDash val="lgDash"/>
              <a:miter/>
            </a:ln>
          </p:spPr>
        </p:sp>
        <p:sp>
          <p:nvSpPr>
            <p:cNvPr name="TextBox 16" id="16"/>
            <p:cNvSpPr txBox="true"/>
            <p:nvPr/>
          </p:nvSpPr>
          <p:spPr>
            <a:xfrm>
              <a:off x="0" y="19050"/>
              <a:ext cx="2242816" cy="1714987"/>
            </a:xfrm>
            <a:prstGeom prst="rect">
              <a:avLst/>
            </a:prstGeom>
          </p:spPr>
          <p:txBody>
            <a:bodyPr anchor="ctr" rtlCol="false" tIns="50800" lIns="50800" bIns="50800" rIns="50800"/>
            <a:lstStyle/>
            <a:p>
              <a:pPr algn="ctr">
                <a:lnSpc>
                  <a:spcPts val="1895"/>
                </a:lnSpc>
              </a:pPr>
            </a:p>
          </p:txBody>
        </p:sp>
      </p:grpSp>
      <p:grpSp>
        <p:nvGrpSpPr>
          <p:cNvPr name="Group 17" id="17"/>
          <p:cNvGrpSpPr/>
          <p:nvPr/>
        </p:nvGrpSpPr>
        <p:grpSpPr>
          <a:xfrm rot="0">
            <a:off x="742177" y="3292519"/>
            <a:ext cx="2027478" cy="323258"/>
            <a:chOff x="0" y="0"/>
            <a:chExt cx="533986" cy="85138"/>
          </a:xfrm>
        </p:grpSpPr>
        <p:sp>
          <p:nvSpPr>
            <p:cNvPr name="Freeform 18" id="18"/>
            <p:cNvSpPr/>
            <p:nvPr/>
          </p:nvSpPr>
          <p:spPr>
            <a:xfrm flipH="false" flipV="false" rot="0">
              <a:off x="0" y="0"/>
              <a:ext cx="533986" cy="85138"/>
            </a:xfrm>
            <a:custGeom>
              <a:avLst/>
              <a:gdLst/>
              <a:ahLst/>
              <a:cxnLst/>
              <a:rect r="r" b="b" t="t" l="l"/>
              <a:pathLst>
                <a:path h="85138" w="533986">
                  <a:moveTo>
                    <a:pt x="42569" y="0"/>
                  </a:moveTo>
                  <a:lnTo>
                    <a:pt x="491417" y="0"/>
                  </a:lnTo>
                  <a:cubicBezTo>
                    <a:pt x="502707" y="0"/>
                    <a:pt x="513534" y="4485"/>
                    <a:pt x="521518" y="12468"/>
                  </a:cubicBezTo>
                  <a:cubicBezTo>
                    <a:pt x="529501" y="20451"/>
                    <a:pt x="533986" y="31279"/>
                    <a:pt x="533986" y="42569"/>
                  </a:cubicBezTo>
                  <a:lnTo>
                    <a:pt x="533986" y="42569"/>
                  </a:lnTo>
                  <a:cubicBezTo>
                    <a:pt x="533986" y="66079"/>
                    <a:pt x="514927" y="85138"/>
                    <a:pt x="491417" y="85138"/>
                  </a:cubicBezTo>
                  <a:lnTo>
                    <a:pt x="42569" y="85138"/>
                  </a:lnTo>
                  <a:cubicBezTo>
                    <a:pt x="19059" y="85138"/>
                    <a:pt x="0" y="66079"/>
                    <a:pt x="0" y="42569"/>
                  </a:cubicBezTo>
                  <a:lnTo>
                    <a:pt x="0" y="42569"/>
                  </a:lnTo>
                  <a:cubicBezTo>
                    <a:pt x="0" y="19059"/>
                    <a:pt x="19059" y="0"/>
                    <a:pt x="42569" y="0"/>
                  </a:cubicBezTo>
                  <a:close/>
                </a:path>
              </a:pathLst>
            </a:custGeom>
            <a:solidFill>
              <a:srgbClr val="88FFDC"/>
            </a:solidFill>
          </p:spPr>
        </p:sp>
        <p:sp>
          <p:nvSpPr>
            <p:cNvPr name="TextBox 19" id="19"/>
            <p:cNvSpPr txBox="true"/>
            <p:nvPr/>
          </p:nvSpPr>
          <p:spPr>
            <a:xfrm>
              <a:off x="0" y="19050"/>
              <a:ext cx="533986" cy="66088"/>
            </a:xfrm>
            <a:prstGeom prst="rect">
              <a:avLst/>
            </a:prstGeom>
          </p:spPr>
          <p:txBody>
            <a:bodyPr anchor="ctr" rtlCol="false" tIns="50800" lIns="50800" bIns="50800" rIns="50800"/>
            <a:lstStyle/>
            <a:p>
              <a:pPr algn="ctr">
                <a:lnSpc>
                  <a:spcPts val="1895"/>
                </a:lnSpc>
              </a:pPr>
            </a:p>
          </p:txBody>
        </p:sp>
      </p:grpSp>
      <p:grpSp>
        <p:nvGrpSpPr>
          <p:cNvPr name="Group 20" id="20"/>
          <p:cNvGrpSpPr/>
          <p:nvPr/>
        </p:nvGrpSpPr>
        <p:grpSpPr>
          <a:xfrm rot="0">
            <a:off x="351814" y="3310004"/>
            <a:ext cx="367364" cy="326216"/>
            <a:chOff x="0" y="0"/>
            <a:chExt cx="489819" cy="434955"/>
          </a:xfrm>
        </p:grpSpPr>
        <p:grpSp>
          <p:nvGrpSpPr>
            <p:cNvPr name="Group 21" id="21"/>
            <p:cNvGrpSpPr/>
            <p:nvPr/>
          </p:nvGrpSpPr>
          <p:grpSpPr>
            <a:xfrm rot="0">
              <a:off x="0" y="0"/>
              <a:ext cx="489819" cy="434955"/>
              <a:chOff x="0" y="0"/>
              <a:chExt cx="812800" cy="721760"/>
            </a:xfrm>
          </p:grpSpPr>
          <p:sp>
            <p:nvSpPr>
              <p:cNvPr name="Freeform 22" id="22"/>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solidFill>
                <a:srgbClr val="5271FF"/>
              </a:solidFill>
            </p:spPr>
          </p:sp>
          <p:sp>
            <p:nvSpPr>
              <p:cNvPr name="TextBox 23" id="23"/>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24" id="24"/>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3</a:t>
              </a:r>
            </a:p>
          </p:txBody>
        </p:sp>
      </p:grpSp>
      <p:sp>
        <p:nvSpPr>
          <p:cNvPr name="Freeform 25" id="25"/>
          <p:cNvSpPr/>
          <p:nvPr/>
        </p:nvSpPr>
        <p:spPr>
          <a:xfrm flipH="false" flipV="false" rot="0">
            <a:off x="549651" y="4238378"/>
            <a:ext cx="6721864" cy="3528979"/>
          </a:xfrm>
          <a:custGeom>
            <a:avLst/>
            <a:gdLst/>
            <a:ahLst/>
            <a:cxnLst/>
            <a:rect r="r" b="b" t="t" l="l"/>
            <a:pathLst>
              <a:path h="3528979" w="6721864">
                <a:moveTo>
                  <a:pt x="0" y="0"/>
                </a:moveTo>
                <a:lnTo>
                  <a:pt x="6721864" y="0"/>
                </a:lnTo>
                <a:lnTo>
                  <a:pt x="6721864" y="3528979"/>
                </a:lnTo>
                <a:lnTo>
                  <a:pt x="0" y="3528979"/>
                </a:lnTo>
                <a:lnTo>
                  <a:pt x="0" y="0"/>
                </a:lnTo>
                <a:close/>
              </a:path>
            </a:pathLst>
          </a:custGeom>
          <a:blipFill>
            <a:blip r:embed="rId2"/>
            <a:stretch>
              <a:fillRect l="0" t="0" r="0" b="0"/>
            </a:stretch>
          </a:blipFill>
          <a:ln w="9525" cap="sq">
            <a:solidFill>
              <a:srgbClr val="CFCFCF"/>
            </a:solidFill>
            <a:prstDash val="solid"/>
            <a:miter/>
          </a:ln>
        </p:spPr>
      </p:sp>
      <p:sp>
        <p:nvSpPr>
          <p:cNvPr name="Freeform 26" id="26"/>
          <p:cNvSpPr/>
          <p:nvPr/>
        </p:nvSpPr>
        <p:spPr>
          <a:xfrm flipH="false" flipV="false" rot="0">
            <a:off x="571438" y="8136292"/>
            <a:ext cx="4064295" cy="959909"/>
          </a:xfrm>
          <a:custGeom>
            <a:avLst/>
            <a:gdLst/>
            <a:ahLst/>
            <a:cxnLst/>
            <a:rect r="r" b="b" t="t" l="l"/>
            <a:pathLst>
              <a:path h="959909" w="4064295">
                <a:moveTo>
                  <a:pt x="0" y="0"/>
                </a:moveTo>
                <a:lnTo>
                  <a:pt x="4064295" y="0"/>
                </a:lnTo>
                <a:lnTo>
                  <a:pt x="4064295" y="959908"/>
                </a:lnTo>
                <a:lnTo>
                  <a:pt x="0" y="959908"/>
                </a:lnTo>
                <a:lnTo>
                  <a:pt x="0" y="0"/>
                </a:lnTo>
                <a:close/>
              </a:path>
            </a:pathLst>
          </a:custGeom>
          <a:blipFill>
            <a:blip r:embed="rId3"/>
            <a:stretch>
              <a:fillRect l="0" t="0" r="0" b="0"/>
            </a:stretch>
          </a:blipFill>
          <a:ln w="9525" cap="sq">
            <a:solidFill>
              <a:srgbClr val="CFCFCF"/>
            </a:solidFill>
            <a:prstDash val="solid"/>
            <a:miter/>
          </a:ln>
        </p:spPr>
      </p:sp>
      <p:grpSp>
        <p:nvGrpSpPr>
          <p:cNvPr name="Group 27" id="27"/>
          <p:cNvGrpSpPr/>
          <p:nvPr/>
        </p:nvGrpSpPr>
        <p:grpSpPr>
          <a:xfrm rot="0">
            <a:off x="249776" y="2418034"/>
            <a:ext cx="4062245" cy="655013"/>
            <a:chOff x="0" y="0"/>
            <a:chExt cx="1069892" cy="172514"/>
          </a:xfrm>
        </p:grpSpPr>
        <p:sp>
          <p:nvSpPr>
            <p:cNvPr name="Freeform 28" id="28"/>
            <p:cNvSpPr/>
            <p:nvPr/>
          </p:nvSpPr>
          <p:spPr>
            <a:xfrm flipH="false" flipV="false" rot="0">
              <a:off x="0" y="0"/>
              <a:ext cx="1069892" cy="172514"/>
            </a:xfrm>
            <a:custGeom>
              <a:avLst/>
              <a:gdLst/>
              <a:ahLst/>
              <a:cxnLst/>
              <a:rect r="r" b="b" t="t" l="l"/>
              <a:pathLst>
                <a:path h="172514" w="1069892">
                  <a:moveTo>
                    <a:pt x="19058" y="0"/>
                  </a:moveTo>
                  <a:lnTo>
                    <a:pt x="1050833" y="0"/>
                  </a:lnTo>
                  <a:cubicBezTo>
                    <a:pt x="1061359" y="0"/>
                    <a:pt x="1069892" y="8533"/>
                    <a:pt x="1069892" y="19058"/>
                  </a:cubicBezTo>
                  <a:lnTo>
                    <a:pt x="1069892" y="153455"/>
                  </a:lnTo>
                  <a:cubicBezTo>
                    <a:pt x="1069892" y="163981"/>
                    <a:pt x="1061359" y="172514"/>
                    <a:pt x="1050833" y="172514"/>
                  </a:cubicBezTo>
                  <a:lnTo>
                    <a:pt x="19058" y="172514"/>
                  </a:lnTo>
                  <a:cubicBezTo>
                    <a:pt x="8533" y="172514"/>
                    <a:pt x="0" y="163981"/>
                    <a:pt x="0" y="153455"/>
                  </a:cubicBezTo>
                  <a:lnTo>
                    <a:pt x="0" y="19058"/>
                  </a:lnTo>
                  <a:cubicBezTo>
                    <a:pt x="0" y="8533"/>
                    <a:pt x="8533" y="0"/>
                    <a:pt x="19058" y="0"/>
                  </a:cubicBezTo>
                  <a:close/>
                </a:path>
              </a:pathLst>
            </a:custGeom>
            <a:solidFill>
              <a:srgbClr val="000000">
                <a:alpha val="0"/>
              </a:srgbClr>
            </a:solidFill>
            <a:ln w="28575" cap="sq">
              <a:gradFill>
                <a:gsLst>
                  <a:gs pos="0">
                    <a:srgbClr val="CDFFD8">
                      <a:alpha val="100000"/>
                    </a:srgbClr>
                  </a:gs>
                  <a:gs pos="100000">
                    <a:srgbClr val="94B9FF">
                      <a:alpha val="100000"/>
                    </a:srgbClr>
                  </a:gs>
                </a:gsLst>
                <a:lin ang="0"/>
              </a:gradFill>
              <a:prstDash val="lgDash"/>
              <a:miter/>
            </a:ln>
          </p:spPr>
        </p:sp>
        <p:sp>
          <p:nvSpPr>
            <p:cNvPr name="TextBox 29" id="29"/>
            <p:cNvSpPr txBox="true"/>
            <p:nvPr/>
          </p:nvSpPr>
          <p:spPr>
            <a:xfrm>
              <a:off x="0" y="19050"/>
              <a:ext cx="1069892" cy="153464"/>
            </a:xfrm>
            <a:prstGeom prst="rect">
              <a:avLst/>
            </a:prstGeom>
          </p:spPr>
          <p:txBody>
            <a:bodyPr anchor="ctr" rtlCol="false" tIns="50800" lIns="50800" bIns="50800" rIns="50800"/>
            <a:lstStyle/>
            <a:p>
              <a:pPr algn="ctr">
                <a:lnSpc>
                  <a:spcPts val="1895"/>
                </a:lnSpc>
              </a:pPr>
            </a:p>
          </p:txBody>
        </p:sp>
      </p:grpSp>
      <p:grpSp>
        <p:nvGrpSpPr>
          <p:cNvPr name="Group 30" id="30"/>
          <p:cNvGrpSpPr/>
          <p:nvPr/>
        </p:nvGrpSpPr>
        <p:grpSpPr>
          <a:xfrm rot="0">
            <a:off x="742177" y="2256405"/>
            <a:ext cx="2027478" cy="323258"/>
            <a:chOff x="0" y="0"/>
            <a:chExt cx="533986" cy="85138"/>
          </a:xfrm>
        </p:grpSpPr>
        <p:sp>
          <p:nvSpPr>
            <p:cNvPr name="Freeform 31" id="31"/>
            <p:cNvSpPr/>
            <p:nvPr/>
          </p:nvSpPr>
          <p:spPr>
            <a:xfrm flipH="false" flipV="false" rot="0">
              <a:off x="0" y="0"/>
              <a:ext cx="533986" cy="85138"/>
            </a:xfrm>
            <a:custGeom>
              <a:avLst/>
              <a:gdLst/>
              <a:ahLst/>
              <a:cxnLst/>
              <a:rect r="r" b="b" t="t" l="l"/>
              <a:pathLst>
                <a:path h="85138" w="533986">
                  <a:moveTo>
                    <a:pt x="42569" y="0"/>
                  </a:moveTo>
                  <a:lnTo>
                    <a:pt x="491417" y="0"/>
                  </a:lnTo>
                  <a:cubicBezTo>
                    <a:pt x="502707" y="0"/>
                    <a:pt x="513534" y="4485"/>
                    <a:pt x="521518" y="12468"/>
                  </a:cubicBezTo>
                  <a:cubicBezTo>
                    <a:pt x="529501" y="20451"/>
                    <a:pt x="533986" y="31279"/>
                    <a:pt x="533986" y="42569"/>
                  </a:cubicBezTo>
                  <a:lnTo>
                    <a:pt x="533986" y="42569"/>
                  </a:lnTo>
                  <a:cubicBezTo>
                    <a:pt x="533986" y="66079"/>
                    <a:pt x="514927" y="85138"/>
                    <a:pt x="491417" y="85138"/>
                  </a:cubicBezTo>
                  <a:lnTo>
                    <a:pt x="42569" y="85138"/>
                  </a:lnTo>
                  <a:cubicBezTo>
                    <a:pt x="19059" y="85138"/>
                    <a:pt x="0" y="66079"/>
                    <a:pt x="0" y="42569"/>
                  </a:cubicBezTo>
                  <a:lnTo>
                    <a:pt x="0" y="42569"/>
                  </a:lnTo>
                  <a:cubicBezTo>
                    <a:pt x="0" y="19059"/>
                    <a:pt x="19059" y="0"/>
                    <a:pt x="42569" y="0"/>
                  </a:cubicBezTo>
                  <a:close/>
                </a:path>
              </a:pathLst>
            </a:custGeom>
            <a:solidFill>
              <a:srgbClr val="88FFDC"/>
            </a:solidFill>
          </p:spPr>
        </p:sp>
        <p:sp>
          <p:nvSpPr>
            <p:cNvPr name="TextBox 32" id="32"/>
            <p:cNvSpPr txBox="true"/>
            <p:nvPr/>
          </p:nvSpPr>
          <p:spPr>
            <a:xfrm>
              <a:off x="0" y="19050"/>
              <a:ext cx="533986" cy="66088"/>
            </a:xfrm>
            <a:prstGeom prst="rect">
              <a:avLst/>
            </a:prstGeom>
          </p:spPr>
          <p:txBody>
            <a:bodyPr anchor="ctr" rtlCol="false" tIns="50800" lIns="50800" bIns="50800" rIns="50800"/>
            <a:lstStyle/>
            <a:p>
              <a:pPr algn="ctr">
                <a:lnSpc>
                  <a:spcPts val="1895"/>
                </a:lnSpc>
              </a:pPr>
            </a:p>
          </p:txBody>
        </p:sp>
      </p:grpSp>
      <p:grpSp>
        <p:nvGrpSpPr>
          <p:cNvPr name="Group 33" id="33"/>
          <p:cNvGrpSpPr/>
          <p:nvPr/>
        </p:nvGrpSpPr>
        <p:grpSpPr>
          <a:xfrm rot="0">
            <a:off x="351814" y="2273889"/>
            <a:ext cx="367364" cy="326216"/>
            <a:chOff x="0" y="0"/>
            <a:chExt cx="489819" cy="434955"/>
          </a:xfrm>
        </p:grpSpPr>
        <p:grpSp>
          <p:nvGrpSpPr>
            <p:cNvPr name="Group 34" id="34"/>
            <p:cNvGrpSpPr/>
            <p:nvPr/>
          </p:nvGrpSpPr>
          <p:grpSpPr>
            <a:xfrm rot="0">
              <a:off x="0" y="0"/>
              <a:ext cx="489819" cy="434955"/>
              <a:chOff x="0" y="0"/>
              <a:chExt cx="812800" cy="721760"/>
            </a:xfrm>
          </p:grpSpPr>
          <p:sp>
            <p:nvSpPr>
              <p:cNvPr name="Freeform 35" id="35"/>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solidFill>
                <a:srgbClr val="5271FF"/>
              </a:solidFill>
            </p:spPr>
          </p:sp>
          <p:sp>
            <p:nvSpPr>
              <p:cNvPr name="TextBox 36" id="36"/>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37" id="37"/>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2</a:t>
              </a:r>
            </a:p>
          </p:txBody>
        </p:sp>
      </p:grpSp>
      <p:grpSp>
        <p:nvGrpSpPr>
          <p:cNvPr name="Group 38" id="38"/>
          <p:cNvGrpSpPr/>
          <p:nvPr/>
        </p:nvGrpSpPr>
        <p:grpSpPr>
          <a:xfrm rot="0">
            <a:off x="4581490" y="1843221"/>
            <a:ext cx="4110201" cy="838990"/>
            <a:chOff x="0" y="0"/>
            <a:chExt cx="1082522" cy="220968"/>
          </a:xfrm>
        </p:grpSpPr>
        <p:sp>
          <p:nvSpPr>
            <p:cNvPr name="Freeform 39" id="39"/>
            <p:cNvSpPr/>
            <p:nvPr/>
          </p:nvSpPr>
          <p:spPr>
            <a:xfrm flipH="false" flipV="false" rot="0">
              <a:off x="0" y="0"/>
              <a:ext cx="1082522" cy="220968"/>
            </a:xfrm>
            <a:custGeom>
              <a:avLst/>
              <a:gdLst/>
              <a:ahLst/>
              <a:cxnLst/>
              <a:rect r="r" b="b" t="t" l="l"/>
              <a:pathLst>
                <a:path h="220968" w="1082522">
                  <a:moveTo>
                    <a:pt x="18836" y="0"/>
                  </a:moveTo>
                  <a:lnTo>
                    <a:pt x="1063686" y="0"/>
                  </a:lnTo>
                  <a:cubicBezTo>
                    <a:pt x="1074089" y="0"/>
                    <a:pt x="1082522" y="8433"/>
                    <a:pt x="1082522" y="18836"/>
                  </a:cubicBezTo>
                  <a:lnTo>
                    <a:pt x="1082522" y="202133"/>
                  </a:lnTo>
                  <a:cubicBezTo>
                    <a:pt x="1082522" y="207128"/>
                    <a:pt x="1080538" y="211919"/>
                    <a:pt x="1077005" y="215452"/>
                  </a:cubicBezTo>
                  <a:cubicBezTo>
                    <a:pt x="1073473" y="218984"/>
                    <a:pt x="1068682" y="220968"/>
                    <a:pt x="1063686" y="220968"/>
                  </a:cubicBezTo>
                  <a:lnTo>
                    <a:pt x="18836" y="220968"/>
                  </a:lnTo>
                  <a:cubicBezTo>
                    <a:pt x="13840" y="220968"/>
                    <a:pt x="9049" y="218984"/>
                    <a:pt x="5517" y="215452"/>
                  </a:cubicBezTo>
                  <a:cubicBezTo>
                    <a:pt x="1984" y="211919"/>
                    <a:pt x="0" y="207128"/>
                    <a:pt x="0" y="202133"/>
                  </a:cubicBezTo>
                  <a:lnTo>
                    <a:pt x="0" y="18836"/>
                  </a:lnTo>
                  <a:cubicBezTo>
                    <a:pt x="0" y="13840"/>
                    <a:pt x="1984" y="9049"/>
                    <a:pt x="5517" y="5517"/>
                  </a:cubicBezTo>
                  <a:cubicBezTo>
                    <a:pt x="9049" y="1984"/>
                    <a:pt x="13840" y="0"/>
                    <a:pt x="18836" y="0"/>
                  </a:cubicBezTo>
                  <a:close/>
                </a:path>
              </a:pathLst>
            </a:custGeom>
            <a:solidFill>
              <a:srgbClr val="000000">
                <a:alpha val="0"/>
              </a:srgbClr>
            </a:solidFill>
            <a:ln w="28575" cap="sq">
              <a:gradFill>
                <a:gsLst>
                  <a:gs pos="0">
                    <a:srgbClr val="CDFFD8">
                      <a:alpha val="100000"/>
                    </a:srgbClr>
                  </a:gs>
                  <a:gs pos="100000">
                    <a:srgbClr val="94B9FF">
                      <a:alpha val="100000"/>
                    </a:srgbClr>
                  </a:gs>
                </a:gsLst>
                <a:lin ang="0"/>
              </a:gradFill>
              <a:prstDash val="lgDash"/>
              <a:miter/>
            </a:ln>
          </p:spPr>
        </p:sp>
        <p:sp>
          <p:nvSpPr>
            <p:cNvPr name="TextBox 40" id="40"/>
            <p:cNvSpPr txBox="true"/>
            <p:nvPr/>
          </p:nvSpPr>
          <p:spPr>
            <a:xfrm>
              <a:off x="0" y="19050"/>
              <a:ext cx="1082522" cy="201918"/>
            </a:xfrm>
            <a:prstGeom prst="rect">
              <a:avLst/>
            </a:prstGeom>
          </p:spPr>
          <p:txBody>
            <a:bodyPr anchor="ctr" rtlCol="false" tIns="50800" lIns="50800" bIns="50800" rIns="50800"/>
            <a:lstStyle/>
            <a:p>
              <a:pPr algn="ctr">
                <a:lnSpc>
                  <a:spcPts val="1895"/>
                </a:lnSpc>
              </a:pPr>
            </a:p>
          </p:txBody>
        </p:sp>
      </p:grpSp>
      <p:grpSp>
        <p:nvGrpSpPr>
          <p:cNvPr name="Group 41" id="41"/>
          <p:cNvGrpSpPr/>
          <p:nvPr/>
        </p:nvGrpSpPr>
        <p:grpSpPr>
          <a:xfrm rot="0">
            <a:off x="5073892" y="1681592"/>
            <a:ext cx="2027478" cy="323258"/>
            <a:chOff x="0" y="0"/>
            <a:chExt cx="533986" cy="85138"/>
          </a:xfrm>
        </p:grpSpPr>
        <p:sp>
          <p:nvSpPr>
            <p:cNvPr name="Freeform 42" id="42"/>
            <p:cNvSpPr/>
            <p:nvPr/>
          </p:nvSpPr>
          <p:spPr>
            <a:xfrm flipH="false" flipV="false" rot="0">
              <a:off x="0" y="0"/>
              <a:ext cx="533986" cy="85138"/>
            </a:xfrm>
            <a:custGeom>
              <a:avLst/>
              <a:gdLst/>
              <a:ahLst/>
              <a:cxnLst/>
              <a:rect r="r" b="b" t="t" l="l"/>
              <a:pathLst>
                <a:path h="85138" w="533986">
                  <a:moveTo>
                    <a:pt x="42569" y="0"/>
                  </a:moveTo>
                  <a:lnTo>
                    <a:pt x="491417" y="0"/>
                  </a:lnTo>
                  <a:cubicBezTo>
                    <a:pt x="502707" y="0"/>
                    <a:pt x="513534" y="4485"/>
                    <a:pt x="521518" y="12468"/>
                  </a:cubicBezTo>
                  <a:cubicBezTo>
                    <a:pt x="529501" y="20451"/>
                    <a:pt x="533986" y="31279"/>
                    <a:pt x="533986" y="42569"/>
                  </a:cubicBezTo>
                  <a:lnTo>
                    <a:pt x="533986" y="42569"/>
                  </a:lnTo>
                  <a:cubicBezTo>
                    <a:pt x="533986" y="66079"/>
                    <a:pt x="514927" y="85138"/>
                    <a:pt x="491417" y="85138"/>
                  </a:cubicBezTo>
                  <a:lnTo>
                    <a:pt x="42569" y="85138"/>
                  </a:lnTo>
                  <a:cubicBezTo>
                    <a:pt x="19059" y="85138"/>
                    <a:pt x="0" y="66079"/>
                    <a:pt x="0" y="42569"/>
                  </a:cubicBezTo>
                  <a:lnTo>
                    <a:pt x="0" y="42569"/>
                  </a:lnTo>
                  <a:cubicBezTo>
                    <a:pt x="0" y="19059"/>
                    <a:pt x="19059" y="0"/>
                    <a:pt x="42569" y="0"/>
                  </a:cubicBezTo>
                  <a:close/>
                </a:path>
              </a:pathLst>
            </a:custGeom>
            <a:solidFill>
              <a:srgbClr val="88FFDC"/>
            </a:solidFill>
          </p:spPr>
        </p:sp>
        <p:sp>
          <p:nvSpPr>
            <p:cNvPr name="TextBox 43" id="43"/>
            <p:cNvSpPr txBox="true"/>
            <p:nvPr/>
          </p:nvSpPr>
          <p:spPr>
            <a:xfrm>
              <a:off x="0" y="19050"/>
              <a:ext cx="533986" cy="66088"/>
            </a:xfrm>
            <a:prstGeom prst="rect">
              <a:avLst/>
            </a:prstGeom>
          </p:spPr>
          <p:txBody>
            <a:bodyPr anchor="ctr" rtlCol="false" tIns="50800" lIns="50800" bIns="50800" rIns="50800"/>
            <a:lstStyle/>
            <a:p>
              <a:pPr algn="ctr">
                <a:lnSpc>
                  <a:spcPts val="1895"/>
                </a:lnSpc>
              </a:pPr>
            </a:p>
          </p:txBody>
        </p:sp>
      </p:grpSp>
      <p:grpSp>
        <p:nvGrpSpPr>
          <p:cNvPr name="Group 44" id="44"/>
          <p:cNvGrpSpPr/>
          <p:nvPr/>
        </p:nvGrpSpPr>
        <p:grpSpPr>
          <a:xfrm rot="0">
            <a:off x="4683528" y="1699076"/>
            <a:ext cx="367364" cy="326216"/>
            <a:chOff x="0" y="0"/>
            <a:chExt cx="489819" cy="434955"/>
          </a:xfrm>
        </p:grpSpPr>
        <p:grpSp>
          <p:nvGrpSpPr>
            <p:cNvPr name="Group 45" id="45"/>
            <p:cNvGrpSpPr/>
            <p:nvPr/>
          </p:nvGrpSpPr>
          <p:grpSpPr>
            <a:xfrm rot="0">
              <a:off x="0" y="0"/>
              <a:ext cx="489819" cy="434955"/>
              <a:chOff x="0" y="0"/>
              <a:chExt cx="812800" cy="721760"/>
            </a:xfrm>
          </p:grpSpPr>
          <p:sp>
            <p:nvSpPr>
              <p:cNvPr name="Freeform 46" id="46"/>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solidFill>
                <a:srgbClr val="5271FF"/>
              </a:solidFill>
            </p:spPr>
          </p:sp>
          <p:sp>
            <p:nvSpPr>
              <p:cNvPr name="TextBox 47" id="47"/>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48" id="48"/>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4</a:t>
              </a:r>
            </a:p>
          </p:txBody>
        </p:sp>
      </p:grpSp>
      <p:grpSp>
        <p:nvGrpSpPr>
          <p:cNvPr name="Group 49" id="49"/>
          <p:cNvGrpSpPr/>
          <p:nvPr/>
        </p:nvGrpSpPr>
        <p:grpSpPr>
          <a:xfrm rot="0">
            <a:off x="9039361" y="1442922"/>
            <a:ext cx="8989200" cy="8486170"/>
            <a:chOff x="0" y="0"/>
            <a:chExt cx="2367526" cy="2235041"/>
          </a:xfrm>
        </p:grpSpPr>
        <p:sp>
          <p:nvSpPr>
            <p:cNvPr name="Freeform 50" id="50"/>
            <p:cNvSpPr/>
            <p:nvPr/>
          </p:nvSpPr>
          <p:spPr>
            <a:xfrm flipH="false" flipV="false" rot="0">
              <a:off x="0" y="0"/>
              <a:ext cx="2367526" cy="2235041"/>
            </a:xfrm>
            <a:custGeom>
              <a:avLst/>
              <a:gdLst/>
              <a:ahLst/>
              <a:cxnLst/>
              <a:rect r="r" b="b" t="t" l="l"/>
              <a:pathLst>
                <a:path h="2235041" w="2367526">
                  <a:moveTo>
                    <a:pt x="8612" y="0"/>
                  </a:moveTo>
                  <a:lnTo>
                    <a:pt x="2358913" y="0"/>
                  </a:lnTo>
                  <a:cubicBezTo>
                    <a:pt x="2361198" y="0"/>
                    <a:pt x="2363388" y="907"/>
                    <a:pt x="2365003" y="2523"/>
                  </a:cubicBezTo>
                  <a:cubicBezTo>
                    <a:pt x="2366619" y="4138"/>
                    <a:pt x="2367526" y="6328"/>
                    <a:pt x="2367526" y="8612"/>
                  </a:cubicBezTo>
                  <a:lnTo>
                    <a:pt x="2367526" y="2226428"/>
                  </a:lnTo>
                  <a:cubicBezTo>
                    <a:pt x="2367526" y="2228712"/>
                    <a:pt x="2366619" y="2230903"/>
                    <a:pt x="2365003" y="2232518"/>
                  </a:cubicBezTo>
                  <a:cubicBezTo>
                    <a:pt x="2363388" y="2234133"/>
                    <a:pt x="2361198" y="2235041"/>
                    <a:pt x="2358913" y="2235041"/>
                  </a:cubicBezTo>
                  <a:lnTo>
                    <a:pt x="8612" y="2235041"/>
                  </a:lnTo>
                  <a:cubicBezTo>
                    <a:pt x="6328" y="2235041"/>
                    <a:pt x="4138" y="2234133"/>
                    <a:pt x="2523" y="2232518"/>
                  </a:cubicBezTo>
                  <a:cubicBezTo>
                    <a:pt x="907" y="2230903"/>
                    <a:pt x="0" y="2228712"/>
                    <a:pt x="0" y="2226428"/>
                  </a:cubicBezTo>
                  <a:lnTo>
                    <a:pt x="0" y="8612"/>
                  </a:lnTo>
                  <a:cubicBezTo>
                    <a:pt x="0" y="6328"/>
                    <a:pt x="907" y="4138"/>
                    <a:pt x="2523" y="2523"/>
                  </a:cubicBezTo>
                  <a:cubicBezTo>
                    <a:pt x="4138" y="907"/>
                    <a:pt x="6328" y="0"/>
                    <a:pt x="8612" y="0"/>
                  </a:cubicBezTo>
                  <a:close/>
                </a:path>
              </a:pathLst>
            </a:custGeom>
            <a:solidFill>
              <a:srgbClr val="000000">
                <a:alpha val="0"/>
              </a:srgbClr>
            </a:solidFill>
            <a:ln w="28575" cap="sq">
              <a:gradFill>
                <a:gsLst>
                  <a:gs pos="0">
                    <a:srgbClr val="CDFFD8">
                      <a:alpha val="100000"/>
                    </a:srgbClr>
                  </a:gs>
                  <a:gs pos="100000">
                    <a:srgbClr val="94B9FF">
                      <a:alpha val="100000"/>
                    </a:srgbClr>
                  </a:gs>
                </a:gsLst>
                <a:lin ang="0"/>
              </a:gradFill>
              <a:prstDash val="lgDash"/>
              <a:miter/>
            </a:ln>
          </p:spPr>
        </p:sp>
        <p:sp>
          <p:nvSpPr>
            <p:cNvPr name="TextBox 51" id="51"/>
            <p:cNvSpPr txBox="true"/>
            <p:nvPr/>
          </p:nvSpPr>
          <p:spPr>
            <a:xfrm>
              <a:off x="0" y="19050"/>
              <a:ext cx="2367526" cy="2215991"/>
            </a:xfrm>
            <a:prstGeom prst="rect">
              <a:avLst/>
            </a:prstGeom>
          </p:spPr>
          <p:txBody>
            <a:bodyPr anchor="ctr" rtlCol="false" tIns="50800" lIns="50800" bIns="50800" rIns="50800"/>
            <a:lstStyle/>
            <a:p>
              <a:pPr algn="ctr">
                <a:lnSpc>
                  <a:spcPts val="1895"/>
                </a:lnSpc>
              </a:pPr>
            </a:p>
          </p:txBody>
        </p:sp>
      </p:grpSp>
      <p:grpSp>
        <p:nvGrpSpPr>
          <p:cNvPr name="Group 52" id="52"/>
          <p:cNvGrpSpPr/>
          <p:nvPr/>
        </p:nvGrpSpPr>
        <p:grpSpPr>
          <a:xfrm rot="0">
            <a:off x="9531762" y="1281293"/>
            <a:ext cx="2311500" cy="323258"/>
            <a:chOff x="0" y="0"/>
            <a:chExt cx="608790" cy="85138"/>
          </a:xfrm>
        </p:grpSpPr>
        <p:sp>
          <p:nvSpPr>
            <p:cNvPr name="Freeform 53" id="53"/>
            <p:cNvSpPr/>
            <p:nvPr/>
          </p:nvSpPr>
          <p:spPr>
            <a:xfrm flipH="false" flipV="false" rot="0">
              <a:off x="0" y="0"/>
              <a:ext cx="608790" cy="85138"/>
            </a:xfrm>
            <a:custGeom>
              <a:avLst/>
              <a:gdLst/>
              <a:ahLst/>
              <a:cxnLst/>
              <a:rect r="r" b="b" t="t" l="l"/>
              <a:pathLst>
                <a:path h="85138" w="608790">
                  <a:moveTo>
                    <a:pt x="42569" y="0"/>
                  </a:moveTo>
                  <a:lnTo>
                    <a:pt x="566221" y="0"/>
                  </a:lnTo>
                  <a:cubicBezTo>
                    <a:pt x="577511" y="0"/>
                    <a:pt x="588339" y="4485"/>
                    <a:pt x="596322" y="12468"/>
                  </a:cubicBezTo>
                  <a:cubicBezTo>
                    <a:pt x="604305" y="20451"/>
                    <a:pt x="608790" y="31279"/>
                    <a:pt x="608790" y="42569"/>
                  </a:cubicBezTo>
                  <a:lnTo>
                    <a:pt x="608790" y="42569"/>
                  </a:lnTo>
                  <a:cubicBezTo>
                    <a:pt x="608790" y="66079"/>
                    <a:pt x="589731" y="85138"/>
                    <a:pt x="566221" y="85138"/>
                  </a:cubicBezTo>
                  <a:lnTo>
                    <a:pt x="42569" y="85138"/>
                  </a:lnTo>
                  <a:cubicBezTo>
                    <a:pt x="19059" y="85138"/>
                    <a:pt x="0" y="66079"/>
                    <a:pt x="0" y="42569"/>
                  </a:cubicBezTo>
                  <a:lnTo>
                    <a:pt x="0" y="42569"/>
                  </a:lnTo>
                  <a:cubicBezTo>
                    <a:pt x="0" y="19059"/>
                    <a:pt x="19059" y="0"/>
                    <a:pt x="42569" y="0"/>
                  </a:cubicBezTo>
                  <a:close/>
                </a:path>
              </a:pathLst>
            </a:custGeom>
            <a:solidFill>
              <a:srgbClr val="88FFDC"/>
            </a:solidFill>
          </p:spPr>
        </p:sp>
        <p:sp>
          <p:nvSpPr>
            <p:cNvPr name="TextBox 54" id="54"/>
            <p:cNvSpPr txBox="true"/>
            <p:nvPr/>
          </p:nvSpPr>
          <p:spPr>
            <a:xfrm>
              <a:off x="0" y="19050"/>
              <a:ext cx="608790" cy="66088"/>
            </a:xfrm>
            <a:prstGeom prst="rect">
              <a:avLst/>
            </a:prstGeom>
          </p:spPr>
          <p:txBody>
            <a:bodyPr anchor="ctr" rtlCol="false" tIns="50800" lIns="50800" bIns="50800" rIns="50800"/>
            <a:lstStyle/>
            <a:p>
              <a:pPr algn="ctr">
                <a:lnSpc>
                  <a:spcPts val="1895"/>
                </a:lnSpc>
              </a:pPr>
            </a:p>
          </p:txBody>
        </p:sp>
      </p:grpSp>
      <p:grpSp>
        <p:nvGrpSpPr>
          <p:cNvPr name="Group 55" id="55"/>
          <p:cNvGrpSpPr/>
          <p:nvPr/>
        </p:nvGrpSpPr>
        <p:grpSpPr>
          <a:xfrm rot="0">
            <a:off x="9141399" y="1298777"/>
            <a:ext cx="367364" cy="326216"/>
            <a:chOff x="0" y="0"/>
            <a:chExt cx="489819" cy="434955"/>
          </a:xfrm>
        </p:grpSpPr>
        <p:grpSp>
          <p:nvGrpSpPr>
            <p:cNvPr name="Group 56" id="56"/>
            <p:cNvGrpSpPr/>
            <p:nvPr/>
          </p:nvGrpSpPr>
          <p:grpSpPr>
            <a:xfrm rot="0">
              <a:off x="0" y="0"/>
              <a:ext cx="489819" cy="434955"/>
              <a:chOff x="0" y="0"/>
              <a:chExt cx="812800" cy="721760"/>
            </a:xfrm>
          </p:grpSpPr>
          <p:sp>
            <p:nvSpPr>
              <p:cNvPr name="Freeform 57" id="57"/>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solidFill>
                <a:srgbClr val="5271FF"/>
              </a:solidFill>
            </p:spPr>
          </p:sp>
          <p:sp>
            <p:nvSpPr>
              <p:cNvPr name="TextBox 58" id="58"/>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59" id="59"/>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5</a:t>
              </a:r>
            </a:p>
          </p:txBody>
        </p:sp>
      </p:grpSp>
      <p:sp>
        <p:nvSpPr>
          <p:cNvPr name="Freeform 60" id="60"/>
          <p:cNvSpPr/>
          <p:nvPr/>
        </p:nvSpPr>
        <p:spPr>
          <a:xfrm flipH="false" flipV="false" rot="0">
            <a:off x="9678627" y="2564877"/>
            <a:ext cx="6687030" cy="3042598"/>
          </a:xfrm>
          <a:custGeom>
            <a:avLst/>
            <a:gdLst/>
            <a:ahLst/>
            <a:cxnLst/>
            <a:rect r="r" b="b" t="t" l="l"/>
            <a:pathLst>
              <a:path h="3042598" w="6687030">
                <a:moveTo>
                  <a:pt x="0" y="0"/>
                </a:moveTo>
                <a:lnTo>
                  <a:pt x="6687029" y="0"/>
                </a:lnTo>
                <a:lnTo>
                  <a:pt x="6687029" y="3042598"/>
                </a:lnTo>
                <a:lnTo>
                  <a:pt x="0" y="3042598"/>
                </a:lnTo>
                <a:lnTo>
                  <a:pt x="0" y="0"/>
                </a:lnTo>
                <a:close/>
              </a:path>
            </a:pathLst>
          </a:custGeom>
          <a:blipFill>
            <a:blip r:embed="rId4"/>
            <a:stretch>
              <a:fillRect l="0" t="0" r="0" b="0"/>
            </a:stretch>
          </a:blipFill>
          <a:ln w="9525" cap="sq">
            <a:solidFill>
              <a:srgbClr val="CFCFCF"/>
            </a:solidFill>
            <a:prstDash val="solid"/>
            <a:miter/>
          </a:ln>
        </p:spPr>
      </p:sp>
      <p:sp>
        <p:nvSpPr>
          <p:cNvPr name="Freeform 61" id="61"/>
          <p:cNvSpPr/>
          <p:nvPr/>
        </p:nvSpPr>
        <p:spPr>
          <a:xfrm flipH="false" flipV="false" rot="0">
            <a:off x="9678627" y="5750350"/>
            <a:ext cx="4980765" cy="3144108"/>
          </a:xfrm>
          <a:custGeom>
            <a:avLst/>
            <a:gdLst/>
            <a:ahLst/>
            <a:cxnLst/>
            <a:rect r="r" b="b" t="t" l="l"/>
            <a:pathLst>
              <a:path h="3144108" w="4980765">
                <a:moveTo>
                  <a:pt x="0" y="0"/>
                </a:moveTo>
                <a:lnTo>
                  <a:pt x="4980765" y="0"/>
                </a:lnTo>
                <a:lnTo>
                  <a:pt x="4980765" y="3144108"/>
                </a:lnTo>
                <a:lnTo>
                  <a:pt x="0" y="3144108"/>
                </a:lnTo>
                <a:lnTo>
                  <a:pt x="0" y="0"/>
                </a:lnTo>
                <a:close/>
              </a:path>
            </a:pathLst>
          </a:custGeom>
          <a:blipFill>
            <a:blip r:embed="rId5"/>
            <a:stretch>
              <a:fillRect l="0" t="0" r="0" b="0"/>
            </a:stretch>
          </a:blipFill>
          <a:ln w="9525" cap="sq">
            <a:solidFill>
              <a:srgbClr val="CFCFCF"/>
            </a:solidFill>
            <a:prstDash val="solid"/>
            <a:miter/>
          </a:ln>
        </p:spPr>
      </p:sp>
      <p:sp>
        <p:nvSpPr>
          <p:cNvPr name="TextBox 62" id="62"/>
          <p:cNvSpPr txBox="true"/>
          <p:nvPr/>
        </p:nvSpPr>
        <p:spPr>
          <a:xfrm rot="0">
            <a:off x="605154" y="137235"/>
            <a:ext cx="15990534"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Data Preprocessing of the Provided Datasets</a:t>
            </a:r>
          </a:p>
        </p:txBody>
      </p:sp>
      <p:sp>
        <p:nvSpPr>
          <p:cNvPr name="TextBox 63" id="63"/>
          <p:cNvSpPr txBox="true"/>
          <p:nvPr/>
        </p:nvSpPr>
        <p:spPr>
          <a:xfrm rot="0">
            <a:off x="605154" y="608919"/>
            <a:ext cx="15311396" cy="296545"/>
          </a:xfrm>
          <a:prstGeom prst="rect">
            <a:avLst/>
          </a:prstGeom>
        </p:spPr>
        <p:txBody>
          <a:bodyPr anchor="t" rtlCol="false" tIns="0" lIns="0" bIns="0" rIns="0">
            <a:spAutoFit/>
          </a:bodyPr>
          <a:lstStyle/>
          <a:p>
            <a:pPr algn="just">
              <a:lnSpc>
                <a:spcPts val="2240"/>
              </a:lnSpc>
            </a:pPr>
            <a:r>
              <a:rPr lang="en-US" sz="2000" spc="40">
                <a:solidFill>
                  <a:srgbClr val="FE763A"/>
                </a:solidFill>
                <a:latin typeface="Glacial Indifference"/>
                <a:ea typeface="Glacial Indifference"/>
                <a:cs typeface="Glacial Indifference"/>
                <a:sym typeface="Glacial Indifference"/>
              </a:rPr>
              <a:t>5 steps taken to ensure dataset is ready for further modelling</a:t>
            </a:r>
          </a:p>
        </p:txBody>
      </p:sp>
      <p:sp>
        <p:nvSpPr>
          <p:cNvPr name="TextBox 64" id="64"/>
          <p:cNvSpPr txBox="true"/>
          <p:nvPr/>
        </p:nvSpPr>
        <p:spPr>
          <a:xfrm rot="0">
            <a:off x="895422" y="1260677"/>
            <a:ext cx="1783665" cy="273685"/>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Glacial Indifference Bold"/>
                <a:ea typeface="Glacial Indifference Bold"/>
                <a:cs typeface="Glacial Indifference Bold"/>
                <a:sym typeface="Glacial Indifference Bold"/>
              </a:rPr>
              <a:t>Correct Datatype</a:t>
            </a:r>
          </a:p>
        </p:txBody>
      </p:sp>
      <p:sp>
        <p:nvSpPr>
          <p:cNvPr name="TextBox 65" id="65"/>
          <p:cNvSpPr txBox="true"/>
          <p:nvPr/>
        </p:nvSpPr>
        <p:spPr>
          <a:xfrm rot="0">
            <a:off x="182287" y="1643492"/>
            <a:ext cx="3794959" cy="273685"/>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“Time” from float32 to datetime</a:t>
            </a:r>
          </a:p>
        </p:txBody>
      </p:sp>
      <p:sp>
        <p:nvSpPr>
          <p:cNvPr name="TextBox 66" id="66"/>
          <p:cNvSpPr txBox="true"/>
          <p:nvPr/>
        </p:nvSpPr>
        <p:spPr>
          <a:xfrm rot="0">
            <a:off x="889042" y="3271904"/>
            <a:ext cx="1783665" cy="273685"/>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Glacial Indifference Bold"/>
                <a:ea typeface="Glacial Indifference Bold"/>
                <a:cs typeface="Glacial Indifference Bold"/>
                <a:sym typeface="Glacial Indifference Bold"/>
              </a:rPr>
              <a:t>Missing Values</a:t>
            </a:r>
          </a:p>
        </p:txBody>
      </p:sp>
      <p:sp>
        <p:nvSpPr>
          <p:cNvPr name="TextBox 67" id="67"/>
          <p:cNvSpPr txBox="true"/>
          <p:nvPr/>
        </p:nvSpPr>
        <p:spPr>
          <a:xfrm rot="0">
            <a:off x="175907" y="3654718"/>
            <a:ext cx="8485254" cy="549910"/>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656,976 missing values in TREFMAX_U (36.4%)</a:t>
            </a:r>
          </a:p>
          <a:p>
            <a:pPr algn="l" marL="345439" indent="-172720" lvl="1">
              <a:lnSpc>
                <a:spcPts val="2239"/>
              </a:lnSpc>
              <a:buFont typeface="Arial"/>
              <a:buChar char="•"/>
            </a:pPr>
            <a:r>
              <a:rPr lang="en-US" sz="1599" strike="noStrike" u="none">
                <a:solidFill>
                  <a:srgbClr val="000000"/>
                </a:solidFill>
                <a:latin typeface="Glacial Indifference"/>
                <a:ea typeface="Glacial Indifference"/>
                <a:cs typeface="Glacial Indifference"/>
                <a:sym typeface="Glacial Indifference"/>
              </a:rPr>
              <a:t>Check spread of MVs</a:t>
            </a:r>
          </a:p>
        </p:txBody>
      </p:sp>
      <p:sp>
        <p:nvSpPr>
          <p:cNvPr name="TextBox 68" id="68"/>
          <p:cNvSpPr txBox="true"/>
          <p:nvPr/>
        </p:nvSpPr>
        <p:spPr>
          <a:xfrm rot="0">
            <a:off x="182287" y="7805457"/>
            <a:ext cx="8485254" cy="273685"/>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Check gaps between MVs</a:t>
            </a:r>
          </a:p>
        </p:txBody>
      </p:sp>
      <p:sp>
        <p:nvSpPr>
          <p:cNvPr name="TextBox 69" id="69"/>
          <p:cNvSpPr txBox="true"/>
          <p:nvPr/>
        </p:nvSpPr>
        <p:spPr>
          <a:xfrm rot="0">
            <a:off x="182287" y="9115250"/>
            <a:ext cx="8485254" cy="826135"/>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 MVs remains constant overtime</a:t>
            </a:r>
            <a:r>
              <a:rPr lang="en-US" sz="1599">
                <a:solidFill>
                  <a:srgbClr val="000000"/>
                </a:solidFill>
                <a:latin typeface="Glacial Indifference"/>
                <a:ea typeface="Glacial Indifference"/>
                <a:cs typeface="Glacial Indifference"/>
                <a:sym typeface="Glacial Indifference"/>
              </a:rPr>
              <a:t> (randomly distributed). </a:t>
            </a:r>
          </a:p>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Gap size is relatively small (2-3 steps missing at a time)</a:t>
            </a:r>
          </a:p>
          <a:p>
            <a:pPr algn="l" marL="345439" indent="-172720" lvl="1">
              <a:lnSpc>
                <a:spcPts val="2239"/>
              </a:lnSpc>
              <a:buFont typeface="Arial"/>
              <a:buChar char="•"/>
            </a:pPr>
            <a:r>
              <a:rPr lang="en-US" sz="1599" strike="noStrike" u="none">
                <a:solidFill>
                  <a:srgbClr val="000000"/>
                </a:solidFill>
                <a:latin typeface="Glacial Indifference"/>
                <a:ea typeface="Glacial Indifference"/>
                <a:cs typeface="Glacial Indifference"/>
                <a:sym typeface="Glacial Indifference"/>
              </a:rPr>
              <a:t>Use forward fill to impute MVs</a:t>
            </a:r>
          </a:p>
        </p:txBody>
      </p:sp>
      <p:sp>
        <p:nvSpPr>
          <p:cNvPr name="TextBox 70" id="70"/>
          <p:cNvSpPr txBox="true"/>
          <p:nvPr/>
        </p:nvSpPr>
        <p:spPr>
          <a:xfrm rot="0">
            <a:off x="889042" y="2235789"/>
            <a:ext cx="1783665" cy="273685"/>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Glacial Indifference Bold"/>
                <a:ea typeface="Glacial Indifference Bold"/>
                <a:cs typeface="Glacial Indifference Bold"/>
                <a:sym typeface="Glacial Indifference Bold"/>
              </a:rPr>
              <a:t>Duplicates</a:t>
            </a:r>
          </a:p>
        </p:txBody>
      </p:sp>
      <p:sp>
        <p:nvSpPr>
          <p:cNvPr name="TextBox 71" id="71"/>
          <p:cNvSpPr txBox="true"/>
          <p:nvPr/>
        </p:nvSpPr>
        <p:spPr>
          <a:xfrm rot="0">
            <a:off x="175907" y="2618604"/>
            <a:ext cx="3794959" cy="273685"/>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No duplicated values found</a:t>
            </a:r>
          </a:p>
        </p:txBody>
      </p:sp>
      <p:sp>
        <p:nvSpPr>
          <p:cNvPr name="TextBox 72" id="72"/>
          <p:cNvSpPr txBox="true"/>
          <p:nvPr/>
        </p:nvSpPr>
        <p:spPr>
          <a:xfrm rot="0">
            <a:off x="5220756" y="1660976"/>
            <a:ext cx="1783665" cy="273685"/>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Glacial Indifference Bold"/>
                <a:ea typeface="Glacial Indifference Bold"/>
                <a:cs typeface="Glacial Indifference Bold"/>
                <a:sym typeface="Glacial Indifference Bold"/>
              </a:rPr>
              <a:t>Adjust Units</a:t>
            </a:r>
          </a:p>
        </p:txBody>
      </p:sp>
      <p:sp>
        <p:nvSpPr>
          <p:cNvPr name="TextBox 73" id="73"/>
          <p:cNvSpPr txBox="true"/>
          <p:nvPr/>
        </p:nvSpPr>
        <p:spPr>
          <a:xfrm rot="0">
            <a:off x="4507621" y="2043791"/>
            <a:ext cx="3777381" cy="549910"/>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TREFHT and TREFMAX_U from Kelvin to Celcius</a:t>
            </a:r>
          </a:p>
        </p:txBody>
      </p:sp>
      <p:sp>
        <p:nvSpPr>
          <p:cNvPr name="TextBox 74" id="74"/>
          <p:cNvSpPr txBox="true"/>
          <p:nvPr/>
        </p:nvSpPr>
        <p:spPr>
          <a:xfrm rot="0">
            <a:off x="9678627" y="1260677"/>
            <a:ext cx="2164636" cy="273685"/>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Glacial Indifference Bold"/>
                <a:ea typeface="Glacial Indifference Bold"/>
                <a:cs typeface="Glacial Indifference Bold"/>
                <a:sym typeface="Glacial Indifference Bold"/>
              </a:rPr>
              <a:t>Fix Incorrect Values</a:t>
            </a:r>
          </a:p>
        </p:txBody>
      </p:sp>
      <p:sp>
        <p:nvSpPr>
          <p:cNvPr name="TextBox 75" id="75"/>
          <p:cNvSpPr txBox="true"/>
          <p:nvPr/>
        </p:nvSpPr>
        <p:spPr>
          <a:xfrm rot="0">
            <a:off x="8965492" y="1643492"/>
            <a:ext cx="8438065" cy="826135"/>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Replace 45,477 negative values in PRSN with 0</a:t>
            </a:r>
          </a:p>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Handle 196,499 cases where TREFMAX_U is lower than TREFHT</a:t>
            </a:r>
          </a:p>
          <a:p>
            <a:pPr algn="l" marL="690879" indent="-230293" lvl="2">
              <a:lnSpc>
                <a:spcPts val="2239"/>
              </a:lnSpc>
              <a:buFont typeface="Arial"/>
              <a:buChar char="⚬"/>
            </a:pPr>
            <a:r>
              <a:rPr lang="en-US" sz="1599" strike="noStrike" u="none">
                <a:solidFill>
                  <a:srgbClr val="000000"/>
                </a:solidFill>
                <a:latin typeface="Glacial Indifference"/>
                <a:ea typeface="Glacial Indifference"/>
                <a:cs typeface="Glacial Indifference"/>
                <a:sym typeface="Glacial Indifference"/>
              </a:rPr>
              <a:t>Check distribution of error (against time and location)</a:t>
            </a:r>
          </a:p>
        </p:txBody>
      </p:sp>
      <p:sp>
        <p:nvSpPr>
          <p:cNvPr name="TextBox 76" id="76"/>
          <p:cNvSpPr txBox="true"/>
          <p:nvPr/>
        </p:nvSpPr>
        <p:spPr>
          <a:xfrm rot="0">
            <a:off x="14852970" y="6112300"/>
            <a:ext cx="3025372" cy="1931035"/>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Cases where TREFMAX_U &lt; TREFHT occur consistently over time</a:t>
            </a:r>
            <a:r>
              <a:rPr lang="en-US" sz="1599">
                <a:solidFill>
                  <a:srgbClr val="000000"/>
                </a:solidFill>
                <a:latin typeface="Glacial Indifference"/>
                <a:ea typeface="Glacial Indifference"/>
                <a:cs typeface="Glacial Indifference"/>
                <a:sym typeface="Glacial Indifference"/>
              </a:rPr>
              <a:t> with a slight increasing trend</a:t>
            </a:r>
          </a:p>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Also distributed evenly across locations</a:t>
            </a:r>
          </a:p>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Systemic error</a:t>
            </a:r>
          </a:p>
        </p:txBody>
      </p:sp>
      <p:sp>
        <p:nvSpPr>
          <p:cNvPr name="TextBox 77" id="77"/>
          <p:cNvSpPr txBox="true"/>
          <p:nvPr/>
        </p:nvSpPr>
        <p:spPr>
          <a:xfrm rot="0">
            <a:off x="9039361" y="8951608"/>
            <a:ext cx="8438065" cy="826135"/>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solidFill>
                <a:latin typeface="Glacial Indifference"/>
                <a:ea typeface="Glacial Indifference"/>
                <a:cs typeface="Glacial Indifference"/>
                <a:sym typeface="Glacial Indifference"/>
              </a:rPr>
              <a:t>Divide errors into 2:</a:t>
            </a:r>
          </a:p>
          <a:p>
            <a:pPr algn="l" marL="690879" indent="-230293" lvl="2">
              <a:lnSpc>
                <a:spcPts val="2239"/>
              </a:lnSpc>
              <a:buFont typeface="Arial"/>
              <a:buChar char="⚬"/>
            </a:pPr>
            <a:r>
              <a:rPr lang="en-US" sz="1599">
                <a:solidFill>
                  <a:srgbClr val="000000"/>
                </a:solidFill>
                <a:latin typeface="Glacial Indifference"/>
                <a:ea typeface="Glacial Indifference"/>
                <a:cs typeface="Glacial Indifference"/>
                <a:sym typeface="Glacial Indifference"/>
              </a:rPr>
              <a:t>Small error (</a:t>
            </a:r>
            <a:r>
              <a:rPr lang="en-US" sz="1599">
                <a:solidFill>
                  <a:srgbClr val="000000"/>
                </a:solidFill>
                <a:latin typeface="Glacial Indifference"/>
                <a:ea typeface="Glacial Indifference"/>
                <a:cs typeface="Glacial Indifference"/>
                <a:sym typeface="Glacial Indifference"/>
              </a:rPr>
              <a:t>0 to 1°C) --&gt; setting TREFMAX_U = TREFHT + 0.1°C</a:t>
            </a:r>
          </a:p>
          <a:p>
            <a:pPr algn="l" marL="690879" indent="-230293" lvl="2">
              <a:lnSpc>
                <a:spcPts val="2239"/>
              </a:lnSpc>
              <a:buFont typeface="Arial"/>
              <a:buChar char="⚬"/>
            </a:pPr>
            <a:r>
              <a:rPr lang="en-US" sz="1599">
                <a:solidFill>
                  <a:srgbClr val="000000"/>
                </a:solidFill>
                <a:latin typeface="Glacial Indifference"/>
                <a:ea typeface="Glacial Indifference"/>
                <a:cs typeface="Glacial Indifference"/>
                <a:sym typeface="Glacial Indifference"/>
              </a:rPr>
              <a:t>Large error</a:t>
            </a:r>
            <a:r>
              <a:rPr lang="en-US" sz="1599">
                <a:solidFill>
                  <a:srgbClr val="000000"/>
                </a:solidFill>
                <a:latin typeface="Glacial Indifference"/>
                <a:ea typeface="Glacial Indifference"/>
                <a:cs typeface="Glacial Indifference"/>
                <a:sym typeface="Glacial Indifference"/>
              </a:rPr>
              <a:t> </a:t>
            </a:r>
            <a:r>
              <a:rPr lang="en-US" sz="1599">
                <a:solidFill>
                  <a:srgbClr val="000000"/>
                </a:solidFill>
                <a:latin typeface="Glacial Indifference"/>
                <a:ea typeface="Glacial Indifference"/>
                <a:cs typeface="Glacial Indifference"/>
                <a:sym typeface="Glacial Indifference"/>
              </a:rPr>
              <a:t>(&gt;</a:t>
            </a:r>
            <a:r>
              <a:rPr lang="en-US" sz="1599">
                <a:solidFill>
                  <a:srgbClr val="000000"/>
                </a:solidFill>
                <a:latin typeface="Glacial Indifference"/>
                <a:ea typeface="Glacial Indifference"/>
                <a:cs typeface="Glacial Indifference"/>
                <a:sym typeface="Glacial Indifference"/>
              </a:rPr>
              <a:t> 1°C) --&gt; median-based correction with scaling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05059" y="307345"/>
            <a:ext cx="0" cy="815143"/>
          </a:xfrm>
          <a:prstGeom prst="line">
            <a:avLst/>
          </a:prstGeom>
          <a:ln cap="flat" w="47625">
            <a:solidFill>
              <a:srgbClr val="206648"/>
            </a:solidFill>
            <a:prstDash val="solid"/>
            <a:headEnd type="none" len="sm" w="sm"/>
            <a:tailEnd type="none" len="sm" w="sm"/>
          </a:ln>
        </p:spPr>
      </p:sp>
      <p:sp>
        <p:nvSpPr>
          <p:cNvPr name="Freeform 3" id="3"/>
          <p:cNvSpPr/>
          <p:nvPr/>
        </p:nvSpPr>
        <p:spPr>
          <a:xfrm flipH="false" flipV="false" rot="0">
            <a:off x="405059" y="2983686"/>
            <a:ext cx="8738941" cy="4319629"/>
          </a:xfrm>
          <a:custGeom>
            <a:avLst/>
            <a:gdLst/>
            <a:ahLst/>
            <a:cxnLst/>
            <a:rect r="r" b="b" t="t" l="l"/>
            <a:pathLst>
              <a:path h="4319629" w="8738941">
                <a:moveTo>
                  <a:pt x="0" y="0"/>
                </a:moveTo>
                <a:lnTo>
                  <a:pt x="8738941" y="0"/>
                </a:lnTo>
                <a:lnTo>
                  <a:pt x="8738941" y="4319628"/>
                </a:lnTo>
                <a:lnTo>
                  <a:pt x="0" y="4319628"/>
                </a:lnTo>
                <a:lnTo>
                  <a:pt x="0" y="0"/>
                </a:lnTo>
                <a:close/>
              </a:path>
            </a:pathLst>
          </a:custGeom>
          <a:blipFill>
            <a:blip r:embed="rId2"/>
            <a:stretch>
              <a:fillRect l="0" t="0" r="0" b="0"/>
            </a:stretch>
          </a:blipFill>
        </p:spPr>
      </p:sp>
      <p:sp>
        <p:nvSpPr>
          <p:cNvPr name="Freeform 4" id="4"/>
          <p:cNvSpPr/>
          <p:nvPr/>
        </p:nvSpPr>
        <p:spPr>
          <a:xfrm flipH="false" flipV="false" rot="0">
            <a:off x="405059" y="2983686"/>
            <a:ext cx="8738941" cy="4319629"/>
          </a:xfrm>
          <a:custGeom>
            <a:avLst/>
            <a:gdLst/>
            <a:ahLst/>
            <a:cxnLst/>
            <a:rect r="r" b="b" t="t" l="l"/>
            <a:pathLst>
              <a:path h="4319629" w="8738941">
                <a:moveTo>
                  <a:pt x="0" y="0"/>
                </a:moveTo>
                <a:lnTo>
                  <a:pt x="8738941" y="0"/>
                </a:lnTo>
                <a:lnTo>
                  <a:pt x="8738941" y="4319628"/>
                </a:lnTo>
                <a:lnTo>
                  <a:pt x="0" y="4319628"/>
                </a:lnTo>
                <a:lnTo>
                  <a:pt x="0" y="0"/>
                </a:lnTo>
                <a:close/>
              </a:path>
            </a:pathLst>
          </a:custGeom>
          <a:blipFill>
            <a:blip r:embed="rId2"/>
            <a:stretch>
              <a:fillRect l="0" t="0" r="0" b="0"/>
            </a:stretch>
          </a:blipFill>
        </p:spPr>
      </p:sp>
      <p:sp>
        <p:nvSpPr>
          <p:cNvPr name="TextBox 5" id="5"/>
          <p:cNvSpPr txBox="true"/>
          <p:nvPr/>
        </p:nvSpPr>
        <p:spPr>
          <a:xfrm rot="0">
            <a:off x="17259300" y="983137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Glacial Indifference Bold"/>
                <a:ea typeface="Glacial Indifference Bold"/>
                <a:cs typeface="Glacial Indifference Bold"/>
                <a:sym typeface="Glacial Indifference Bold"/>
              </a:rPr>
              <a:t>1</a:t>
            </a:r>
          </a:p>
        </p:txBody>
      </p:sp>
      <p:sp>
        <p:nvSpPr>
          <p:cNvPr name="TextBox 6" id="6"/>
          <p:cNvSpPr txBox="true"/>
          <p:nvPr/>
        </p:nvSpPr>
        <p:spPr>
          <a:xfrm rot="0">
            <a:off x="605154" y="251145"/>
            <a:ext cx="15990534"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Data Preprocessing of the External Datasets</a:t>
            </a:r>
          </a:p>
        </p:txBody>
      </p:sp>
      <p:sp>
        <p:nvSpPr>
          <p:cNvPr name="TextBox 7" id="7"/>
          <p:cNvSpPr txBox="true"/>
          <p:nvPr/>
        </p:nvSpPr>
        <p:spPr>
          <a:xfrm rot="0">
            <a:off x="605154" y="825943"/>
            <a:ext cx="15311396" cy="296545"/>
          </a:xfrm>
          <a:prstGeom prst="rect">
            <a:avLst/>
          </a:prstGeom>
        </p:spPr>
        <p:txBody>
          <a:bodyPr anchor="t" rtlCol="false" tIns="0" lIns="0" bIns="0" rIns="0">
            <a:spAutoFit/>
          </a:bodyPr>
          <a:lstStyle/>
          <a:p>
            <a:pPr algn="just">
              <a:lnSpc>
                <a:spcPts val="2240"/>
              </a:lnSpc>
            </a:pPr>
          </a:p>
        </p:txBody>
      </p:sp>
      <p:sp>
        <p:nvSpPr>
          <p:cNvPr name="TextBox 8" id="8"/>
          <p:cNvSpPr txBox="true"/>
          <p:nvPr/>
        </p:nvSpPr>
        <p:spPr>
          <a:xfrm rot="0">
            <a:off x="9358508" y="1577667"/>
            <a:ext cx="8115300" cy="2831088"/>
          </a:xfrm>
          <a:prstGeom prst="rect">
            <a:avLst/>
          </a:prstGeom>
        </p:spPr>
        <p:txBody>
          <a:bodyPr anchor="t" rtlCol="false" tIns="0" lIns="0" bIns="0" rIns="0">
            <a:spAutoFit/>
          </a:bodyPr>
          <a:lstStyle/>
          <a:p>
            <a:pPr algn="ctr" marL="617227" indent="-308613" lvl="1">
              <a:lnSpc>
                <a:spcPts val="3201"/>
              </a:lnSpc>
              <a:buFont typeface="Arial"/>
              <a:buChar char="•"/>
            </a:pPr>
            <a:r>
              <a:rPr lang="en-US" b="true" sz="2858" spc="57">
                <a:solidFill>
                  <a:srgbClr val="000000"/>
                </a:solidFill>
                <a:latin typeface="Glacial Indifference Bold"/>
                <a:ea typeface="Glacial Indifference Bold"/>
                <a:cs typeface="Glacial Indifference Bold"/>
                <a:sym typeface="Glacial Indifference Bold"/>
              </a:rPr>
              <a:t>Align the component and naming of coordinates (time, lat, lon)</a:t>
            </a:r>
          </a:p>
          <a:p>
            <a:pPr algn="ctr" marL="617227" indent="-308613" lvl="1">
              <a:lnSpc>
                <a:spcPts val="3201"/>
              </a:lnSpc>
              <a:buFont typeface="Arial"/>
              <a:buChar char="•"/>
            </a:pPr>
            <a:r>
              <a:rPr lang="en-US" b="true" sz="2858" spc="57">
                <a:solidFill>
                  <a:srgbClr val="000000"/>
                </a:solidFill>
                <a:latin typeface="Glacial Indifference Bold"/>
                <a:ea typeface="Glacial Indifference Bold"/>
                <a:cs typeface="Glacial Indifference Bold"/>
                <a:sym typeface="Glacial Indifference Bold"/>
              </a:rPr>
              <a:t>Set time to index</a:t>
            </a:r>
          </a:p>
          <a:p>
            <a:pPr algn="ctr" marL="617227" indent="-308613" lvl="1">
              <a:lnSpc>
                <a:spcPts val="3201"/>
              </a:lnSpc>
              <a:buFont typeface="Arial"/>
              <a:buChar char="•"/>
            </a:pPr>
            <a:r>
              <a:rPr lang="en-US" b="true" sz="2858" spc="57">
                <a:solidFill>
                  <a:srgbClr val="000000"/>
                </a:solidFill>
                <a:latin typeface="Glacial Indifference Bold"/>
                <a:ea typeface="Glacial Indifference Bold"/>
                <a:cs typeface="Glacial Indifference Bold"/>
                <a:sym typeface="Glacial Indifference Bold"/>
              </a:rPr>
              <a:t>Check for missing values and duplicates</a:t>
            </a:r>
          </a:p>
          <a:p>
            <a:pPr algn="ctr" marL="617227" indent="-308613" lvl="1">
              <a:lnSpc>
                <a:spcPts val="3201"/>
              </a:lnSpc>
              <a:buFont typeface="Arial"/>
              <a:buChar char="•"/>
            </a:pPr>
            <a:r>
              <a:rPr lang="en-US" b="true" sz="2858" spc="57">
                <a:solidFill>
                  <a:srgbClr val="000000"/>
                </a:solidFill>
                <a:latin typeface="Glacial Indifference Bold"/>
                <a:ea typeface="Glacial Indifference Bold"/>
                <a:cs typeface="Glacial Indifference Bold"/>
                <a:sym typeface="Glacial Indifference Bold"/>
              </a:rPr>
              <a:t>Convert temperature from Kelvin to Celsius</a:t>
            </a:r>
          </a:p>
          <a:p>
            <a:pPr algn="ctr" marL="617227" indent="-308613" lvl="1">
              <a:lnSpc>
                <a:spcPts val="3201"/>
              </a:lnSpc>
              <a:spcBef>
                <a:spcPct val="0"/>
              </a:spcBef>
              <a:buFont typeface="Arial"/>
              <a:buChar char="•"/>
            </a:pPr>
            <a:r>
              <a:rPr lang="en-US" b="true" sz="2858" spc="57">
                <a:solidFill>
                  <a:srgbClr val="000000"/>
                </a:solidFill>
                <a:latin typeface="Glacial Indifference Bold"/>
                <a:ea typeface="Glacial Indifference Bold"/>
                <a:cs typeface="Glacial Indifference Bold"/>
                <a:sym typeface="Glacial Indifference Bold"/>
              </a:rPr>
              <a:t>Check negative values</a:t>
            </a:r>
          </a:p>
        </p:txBody>
      </p:sp>
      <p:sp>
        <p:nvSpPr>
          <p:cNvPr name="TextBox 9" id="9"/>
          <p:cNvSpPr txBox="true"/>
          <p:nvPr/>
        </p:nvSpPr>
        <p:spPr>
          <a:xfrm rot="0">
            <a:off x="9144000" y="5908370"/>
            <a:ext cx="8544316" cy="2818463"/>
          </a:xfrm>
          <a:prstGeom prst="rect">
            <a:avLst/>
          </a:prstGeom>
        </p:spPr>
        <p:txBody>
          <a:bodyPr anchor="t" rtlCol="false" tIns="0" lIns="0" bIns="0" rIns="0">
            <a:spAutoFit/>
          </a:bodyPr>
          <a:lstStyle/>
          <a:p>
            <a:pPr algn="ctr" marL="616555" indent="-308278" lvl="1">
              <a:lnSpc>
                <a:spcPts val="3198"/>
              </a:lnSpc>
              <a:buFont typeface="Arial"/>
              <a:buChar char="•"/>
            </a:pPr>
            <a:r>
              <a:rPr lang="en-US" b="true" sz="2855" spc="57">
                <a:solidFill>
                  <a:srgbClr val="000000"/>
                </a:solidFill>
                <a:latin typeface="Glacial Indifference Bold"/>
                <a:ea typeface="Glacial Indifference Bold"/>
                <a:cs typeface="Glacial Indifference Bold"/>
                <a:sym typeface="Glacial Indifference Bold"/>
              </a:rPr>
              <a:t>Negative values in swvl1 skewed the distribution of the data and needed to be investigated further as negative values are invalid. </a:t>
            </a:r>
          </a:p>
          <a:p>
            <a:pPr algn="ctr" marL="616555" indent="-308278" lvl="1">
              <a:lnSpc>
                <a:spcPts val="3198"/>
              </a:lnSpc>
              <a:spcBef>
                <a:spcPct val="0"/>
              </a:spcBef>
              <a:buFont typeface="Arial"/>
              <a:buChar char="•"/>
            </a:pPr>
            <a:r>
              <a:rPr lang="en-US" b="true" sz="2855" spc="57">
                <a:solidFill>
                  <a:srgbClr val="000000"/>
                </a:solidFill>
                <a:latin typeface="Glacial Indifference Bold"/>
                <a:ea typeface="Glacial Indifference Bold"/>
                <a:cs typeface="Glacial Indifference Bold"/>
                <a:sym typeface="Glacial Indifference Bold"/>
              </a:rPr>
              <a:t>Negative values imputed with the median as it is robust to skewness and outliers unlike the mean.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86806" y="2307906"/>
            <a:ext cx="573153" cy="57315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1</a:t>
              </a:r>
            </a:p>
          </p:txBody>
        </p:sp>
      </p:grpSp>
      <p:sp>
        <p:nvSpPr>
          <p:cNvPr name="TextBox 5" id="5"/>
          <p:cNvSpPr txBox="true"/>
          <p:nvPr/>
        </p:nvSpPr>
        <p:spPr>
          <a:xfrm rot="0">
            <a:off x="1786806" y="581025"/>
            <a:ext cx="16262613" cy="1149348"/>
          </a:xfrm>
          <a:prstGeom prst="rect">
            <a:avLst/>
          </a:prstGeom>
        </p:spPr>
        <p:txBody>
          <a:bodyPr anchor="t" rtlCol="false" tIns="0" lIns="0" bIns="0" rIns="0">
            <a:spAutoFit/>
          </a:bodyPr>
          <a:lstStyle/>
          <a:p>
            <a:pPr algn="l" marL="0" indent="0" lvl="0">
              <a:lnSpc>
                <a:spcPts val="8799"/>
              </a:lnSpc>
            </a:pPr>
            <a:r>
              <a:rPr lang="en-US" b="true" sz="7999">
                <a:solidFill>
                  <a:srgbClr val="004247"/>
                </a:solidFill>
                <a:latin typeface="Glacial Indifference Bold"/>
                <a:ea typeface="Glacial Indifference Bold"/>
                <a:cs typeface="Glacial Indifference Bold"/>
                <a:sym typeface="Glacial Indifference Bold"/>
              </a:rPr>
              <a:t>Agenda</a:t>
            </a:r>
          </a:p>
        </p:txBody>
      </p:sp>
      <p:sp>
        <p:nvSpPr>
          <p:cNvPr name="TextBox 6" id="6"/>
          <p:cNvSpPr txBox="true"/>
          <p:nvPr/>
        </p:nvSpPr>
        <p:spPr>
          <a:xfrm rot="0">
            <a:off x="2854410" y="2410014"/>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Background</a:t>
            </a:r>
          </a:p>
        </p:txBody>
      </p:sp>
      <p:sp>
        <p:nvSpPr>
          <p:cNvPr name="TextBox 7" id="7"/>
          <p:cNvSpPr txBox="true"/>
          <p:nvPr/>
        </p:nvSpPr>
        <p:spPr>
          <a:xfrm rot="0">
            <a:off x="2854410" y="3089656"/>
            <a:ext cx="11195719"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Scope</a:t>
            </a:r>
          </a:p>
        </p:txBody>
      </p:sp>
      <p:sp>
        <p:nvSpPr>
          <p:cNvPr name="TextBox 8" id="8"/>
          <p:cNvSpPr txBox="true"/>
          <p:nvPr/>
        </p:nvSpPr>
        <p:spPr>
          <a:xfrm rot="0">
            <a:off x="2854410" y="3772916"/>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Methodology</a:t>
            </a:r>
          </a:p>
        </p:txBody>
      </p:sp>
      <p:sp>
        <p:nvSpPr>
          <p:cNvPr name="TextBox 9" id="9"/>
          <p:cNvSpPr txBox="true"/>
          <p:nvPr/>
        </p:nvSpPr>
        <p:spPr>
          <a:xfrm rot="0">
            <a:off x="2854410" y="4445511"/>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The Datasets</a:t>
            </a:r>
          </a:p>
        </p:txBody>
      </p:sp>
      <p:sp>
        <p:nvSpPr>
          <p:cNvPr name="TextBox 10" id="10"/>
          <p:cNvSpPr txBox="true"/>
          <p:nvPr/>
        </p:nvSpPr>
        <p:spPr>
          <a:xfrm rot="0">
            <a:off x="2854410" y="518077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Data Preprocessing</a:t>
            </a:r>
          </a:p>
        </p:txBody>
      </p:sp>
      <p:sp>
        <p:nvSpPr>
          <p:cNvPr name="TextBox 11" id="11"/>
          <p:cNvSpPr txBox="true"/>
          <p:nvPr/>
        </p:nvSpPr>
        <p:spPr>
          <a:xfrm rot="0">
            <a:off x="2854410" y="5911662"/>
            <a:ext cx="14621406" cy="397510"/>
          </a:xfrm>
          <a:prstGeom prst="rect">
            <a:avLst/>
          </a:prstGeom>
        </p:spPr>
        <p:txBody>
          <a:bodyPr anchor="t" rtlCol="false" tIns="0" lIns="0" bIns="0" rIns="0">
            <a:spAutoFit/>
          </a:bodyPr>
          <a:lstStyle/>
          <a:p>
            <a:pPr algn="l" marL="0" indent="0" lvl="0">
              <a:lnSpc>
                <a:spcPts val="3080"/>
              </a:lnSpc>
            </a:pPr>
            <a:r>
              <a:rPr lang="en-US" b="true" sz="2800">
                <a:solidFill>
                  <a:srgbClr val="000000"/>
                </a:solidFill>
                <a:latin typeface="Glacial Indifference Bold"/>
                <a:ea typeface="Glacial Indifference Bold"/>
                <a:cs typeface="Glacial Indifference Bold"/>
                <a:sym typeface="Glacial Indifference Bold"/>
              </a:rPr>
              <a:t>Exploratory Data Analysis</a:t>
            </a:r>
          </a:p>
        </p:txBody>
      </p:sp>
      <p:sp>
        <p:nvSpPr>
          <p:cNvPr name="TextBox 12" id="12"/>
          <p:cNvSpPr txBox="true"/>
          <p:nvPr/>
        </p:nvSpPr>
        <p:spPr>
          <a:xfrm rot="0">
            <a:off x="2854410" y="6589590"/>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Model Development</a:t>
            </a:r>
          </a:p>
        </p:txBody>
      </p:sp>
      <p:sp>
        <p:nvSpPr>
          <p:cNvPr name="TextBox 13" id="13"/>
          <p:cNvSpPr txBox="true"/>
          <p:nvPr/>
        </p:nvSpPr>
        <p:spPr>
          <a:xfrm rot="0">
            <a:off x="2854410" y="732466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Key Findings </a:t>
            </a:r>
          </a:p>
        </p:txBody>
      </p:sp>
      <p:sp>
        <p:nvSpPr>
          <p:cNvPr name="TextBox 14" id="14"/>
          <p:cNvSpPr txBox="true"/>
          <p:nvPr/>
        </p:nvSpPr>
        <p:spPr>
          <a:xfrm rot="0">
            <a:off x="2854410" y="8023604"/>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Further Research</a:t>
            </a:r>
          </a:p>
        </p:txBody>
      </p:sp>
      <p:grpSp>
        <p:nvGrpSpPr>
          <p:cNvPr name="Group 15" id="15"/>
          <p:cNvGrpSpPr/>
          <p:nvPr/>
        </p:nvGrpSpPr>
        <p:grpSpPr>
          <a:xfrm rot="0">
            <a:off x="1786806" y="2987547"/>
            <a:ext cx="573153" cy="57315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2</a:t>
              </a:r>
            </a:p>
          </p:txBody>
        </p:sp>
      </p:grpSp>
      <p:grpSp>
        <p:nvGrpSpPr>
          <p:cNvPr name="Group 18" id="18"/>
          <p:cNvGrpSpPr/>
          <p:nvPr/>
        </p:nvGrpSpPr>
        <p:grpSpPr>
          <a:xfrm rot="0">
            <a:off x="1786806" y="3665475"/>
            <a:ext cx="573153" cy="57315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0" id="20"/>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3</a:t>
              </a:r>
            </a:p>
          </p:txBody>
        </p:sp>
      </p:grpSp>
      <p:grpSp>
        <p:nvGrpSpPr>
          <p:cNvPr name="Group 21" id="21"/>
          <p:cNvGrpSpPr/>
          <p:nvPr/>
        </p:nvGrpSpPr>
        <p:grpSpPr>
          <a:xfrm rot="0">
            <a:off x="1786806" y="4343402"/>
            <a:ext cx="573153" cy="57315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3" id="23"/>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4</a:t>
              </a:r>
            </a:p>
          </p:txBody>
        </p:sp>
      </p:grpSp>
      <p:grpSp>
        <p:nvGrpSpPr>
          <p:cNvPr name="Group 24" id="24"/>
          <p:cNvGrpSpPr/>
          <p:nvPr/>
        </p:nvGrpSpPr>
        <p:grpSpPr>
          <a:xfrm rot="0">
            <a:off x="1786806" y="5074476"/>
            <a:ext cx="573153" cy="57315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6" id="26"/>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5</a:t>
              </a:r>
            </a:p>
          </p:txBody>
        </p:sp>
      </p:grpSp>
      <p:grpSp>
        <p:nvGrpSpPr>
          <p:cNvPr name="Group 27" id="27"/>
          <p:cNvGrpSpPr/>
          <p:nvPr/>
        </p:nvGrpSpPr>
        <p:grpSpPr>
          <a:xfrm rot="0">
            <a:off x="1786806" y="5809553"/>
            <a:ext cx="573153" cy="57315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4D24"/>
            </a:solidFill>
          </p:spPr>
        </p:sp>
        <p:sp>
          <p:nvSpPr>
            <p:cNvPr name="TextBox 29" id="29"/>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6</a:t>
              </a:r>
            </a:p>
          </p:txBody>
        </p:sp>
      </p:grpSp>
      <p:grpSp>
        <p:nvGrpSpPr>
          <p:cNvPr name="Group 30" id="30"/>
          <p:cNvGrpSpPr/>
          <p:nvPr/>
        </p:nvGrpSpPr>
        <p:grpSpPr>
          <a:xfrm rot="0">
            <a:off x="1786806" y="6487481"/>
            <a:ext cx="573153" cy="57315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2" id="32"/>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7</a:t>
              </a:r>
            </a:p>
          </p:txBody>
        </p:sp>
      </p:grpSp>
      <p:grpSp>
        <p:nvGrpSpPr>
          <p:cNvPr name="Group 33" id="33"/>
          <p:cNvGrpSpPr/>
          <p:nvPr/>
        </p:nvGrpSpPr>
        <p:grpSpPr>
          <a:xfrm rot="0">
            <a:off x="1786806" y="7222558"/>
            <a:ext cx="573153" cy="573153"/>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5" id="35"/>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8</a:t>
              </a:r>
            </a:p>
          </p:txBody>
        </p:sp>
      </p:grpSp>
      <p:grpSp>
        <p:nvGrpSpPr>
          <p:cNvPr name="Group 36" id="36"/>
          <p:cNvGrpSpPr/>
          <p:nvPr/>
        </p:nvGrpSpPr>
        <p:grpSpPr>
          <a:xfrm rot="0">
            <a:off x="1786806" y="7921495"/>
            <a:ext cx="573153" cy="57315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8" id="38"/>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9</a:t>
              </a:r>
            </a:p>
          </p:txBody>
        </p:sp>
      </p:grpSp>
      <p:pic>
        <p:nvPicPr>
          <p:cNvPr name="Picture 39" id="39"/>
          <p:cNvPicPr>
            <a:picLocks noChangeAspect="true"/>
          </p:cNvPicPr>
          <p:nvPr/>
        </p:nvPicPr>
        <p:blipFill>
          <a:blip r:embed="rId2"/>
          <a:stretch>
            <a:fillRect/>
          </a:stretch>
        </p:blipFill>
        <p:spPr>
          <a:xfrm rot="0">
            <a:off x="5718054" y="312264"/>
            <a:ext cx="5116406" cy="1620195"/>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05059" y="307345"/>
            <a:ext cx="0" cy="815143"/>
          </a:xfrm>
          <a:prstGeom prst="line">
            <a:avLst/>
          </a:prstGeom>
          <a:ln cap="flat" w="47625">
            <a:solidFill>
              <a:srgbClr val="206648"/>
            </a:solidFill>
            <a:prstDash val="solid"/>
            <a:headEnd type="none" len="sm" w="sm"/>
            <a:tailEnd type="none" len="sm" w="sm"/>
          </a:ln>
        </p:spPr>
      </p:sp>
      <p:sp>
        <p:nvSpPr>
          <p:cNvPr name="Freeform 3" id="3"/>
          <p:cNvSpPr/>
          <p:nvPr/>
        </p:nvSpPr>
        <p:spPr>
          <a:xfrm flipH="false" flipV="false" rot="0">
            <a:off x="405059" y="1498698"/>
            <a:ext cx="10030431" cy="4212781"/>
          </a:xfrm>
          <a:custGeom>
            <a:avLst/>
            <a:gdLst/>
            <a:ahLst/>
            <a:cxnLst/>
            <a:rect r="r" b="b" t="t" l="l"/>
            <a:pathLst>
              <a:path h="4212781" w="10030431">
                <a:moveTo>
                  <a:pt x="0" y="0"/>
                </a:moveTo>
                <a:lnTo>
                  <a:pt x="10030431" y="0"/>
                </a:lnTo>
                <a:lnTo>
                  <a:pt x="10030431" y="4212781"/>
                </a:lnTo>
                <a:lnTo>
                  <a:pt x="0" y="4212781"/>
                </a:lnTo>
                <a:lnTo>
                  <a:pt x="0" y="0"/>
                </a:lnTo>
                <a:close/>
              </a:path>
            </a:pathLst>
          </a:custGeom>
          <a:blipFill>
            <a:blip r:embed="rId2"/>
            <a:stretch>
              <a:fillRect l="0" t="0" r="0" b="0"/>
            </a:stretch>
          </a:blipFill>
          <a:ln w="9525" cap="sq">
            <a:solidFill>
              <a:srgbClr val="CFCFCF"/>
            </a:solidFill>
            <a:prstDash val="solid"/>
            <a:miter/>
          </a:ln>
        </p:spPr>
      </p:sp>
      <p:sp>
        <p:nvSpPr>
          <p:cNvPr name="Freeform 4" id="4"/>
          <p:cNvSpPr/>
          <p:nvPr/>
        </p:nvSpPr>
        <p:spPr>
          <a:xfrm flipH="false" flipV="false" rot="0">
            <a:off x="405059" y="5938132"/>
            <a:ext cx="10030431" cy="4099939"/>
          </a:xfrm>
          <a:custGeom>
            <a:avLst/>
            <a:gdLst/>
            <a:ahLst/>
            <a:cxnLst/>
            <a:rect r="r" b="b" t="t" l="l"/>
            <a:pathLst>
              <a:path h="4099939" w="10030431">
                <a:moveTo>
                  <a:pt x="0" y="0"/>
                </a:moveTo>
                <a:lnTo>
                  <a:pt x="10030431" y="0"/>
                </a:lnTo>
                <a:lnTo>
                  <a:pt x="10030431" y="4099939"/>
                </a:lnTo>
                <a:lnTo>
                  <a:pt x="0" y="4099939"/>
                </a:lnTo>
                <a:lnTo>
                  <a:pt x="0" y="0"/>
                </a:lnTo>
                <a:close/>
              </a:path>
            </a:pathLst>
          </a:custGeom>
          <a:blipFill>
            <a:blip r:embed="rId3"/>
            <a:stretch>
              <a:fillRect l="0" t="0" r="0" b="0"/>
            </a:stretch>
          </a:blipFill>
          <a:ln w="9525" cap="sq">
            <a:solidFill>
              <a:srgbClr val="CFCFCF"/>
            </a:solidFill>
            <a:prstDash val="solid"/>
            <a:miter/>
          </a:ln>
        </p:spPr>
      </p:sp>
      <p:grpSp>
        <p:nvGrpSpPr>
          <p:cNvPr name="Group 5" id="5"/>
          <p:cNvGrpSpPr/>
          <p:nvPr/>
        </p:nvGrpSpPr>
        <p:grpSpPr>
          <a:xfrm rot="0">
            <a:off x="10568717" y="5634001"/>
            <a:ext cx="7485155" cy="3453617"/>
            <a:chOff x="0" y="0"/>
            <a:chExt cx="1971399" cy="909595"/>
          </a:xfrm>
        </p:grpSpPr>
        <p:sp>
          <p:nvSpPr>
            <p:cNvPr name="Freeform 6" id="6"/>
            <p:cNvSpPr/>
            <p:nvPr/>
          </p:nvSpPr>
          <p:spPr>
            <a:xfrm flipH="false" flipV="false" rot="0">
              <a:off x="0" y="0"/>
              <a:ext cx="1971399" cy="909595"/>
            </a:xfrm>
            <a:custGeom>
              <a:avLst/>
              <a:gdLst/>
              <a:ahLst/>
              <a:cxnLst/>
              <a:rect r="r" b="b" t="t" l="l"/>
              <a:pathLst>
                <a:path h="909595" w="1971399">
                  <a:moveTo>
                    <a:pt x="0" y="0"/>
                  </a:moveTo>
                  <a:lnTo>
                    <a:pt x="1971399" y="0"/>
                  </a:lnTo>
                  <a:lnTo>
                    <a:pt x="1971399" y="909595"/>
                  </a:lnTo>
                  <a:lnTo>
                    <a:pt x="0" y="909595"/>
                  </a:lnTo>
                  <a:close/>
                </a:path>
              </a:pathLst>
            </a:custGeom>
            <a:solidFill>
              <a:srgbClr val="000000">
                <a:alpha val="0"/>
              </a:srgbClr>
            </a:solidFill>
            <a:ln w="38100" cap="sq">
              <a:solidFill>
                <a:srgbClr val="BABABA"/>
              </a:solidFill>
              <a:prstDash val="lgDash"/>
              <a:miter/>
            </a:ln>
          </p:spPr>
        </p:sp>
        <p:sp>
          <p:nvSpPr>
            <p:cNvPr name="TextBox 7" id="7"/>
            <p:cNvSpPr txBox="true"/>
            <p:nvPr/>
          </p:nvSpPr>
          <p:spPr>
            <a:xfrm>
              <a:off x="0" y="19050"/>
              <a:ext cx="1971399" cy="890545"/>
            </a:xfrm>
            <a:prstGeom prst="rect">
              <a:avLst/>
            </a:prstGeom>
          </p:spPr>
          <p:txBody>
            <a:bodyPr anchor="ctr" rtlCol="false" tIns="50800" lIns="50800" bIns="50800" rIns="50800"/>
            <a:lstStyle/>
            <a:p>
              <a:pPr algn="ctr">
                <a:lnSpc>
                  <a:spcPts val="1895"/>
                </a:lnSpc>
              </a:pPr>
            </a:p>
          </p:txBody>
        </p:sp>
      </p:grpSp>
      <p:grpSp>
        <p:nvGrpSpPr>
          <p:cNvPr name="Group 8" id="8"/>
          <p:cNvGrpSpPr/>
          <p:nvPr/>
        </p:nvGrpSpPr>
        <p:grpSpPr>
          <a:xfrm rot="0">
            <a:off x="10834776" y="5393010"/>
            <a:ext cx="2053141" cy="446151"/>
            <a:chOff x="0" y="0"/>
            <a:chExt cx="540745" cy="117505"/>
          </a:xfrm>
        </p:grpSpPr>
        <p:sp>
          <p:nvSpPr>
            <p:cNvPr name="Freeform 9" id="9"/>
            <p:cNvSpPr/>
            <p:nvPr/>
          </p:nvSpPr>
          <p:spPr>
            <a:xfrm flipH="false" flipV="false" rot="0">
              <a:off x="0" y="0"/>
              <a:ext cx="540745" cy="117505"/>
            </a:xfrm>
            <a:custGeom>
              <a:avLst/>
              <a:gdLst/>
              <a:ahLst/>
              <a:cxnLst/>
              <a:rect r="r" b="b" t="t" l="l"/>
              <a:pathLst>
                <a:path h="117505" w="540745">
                  <a:moveTo>
                    <a:pt x="30166" y="0"/>
                  </a:moveTo>
                  <a:lnTo>
                    <a:pt x="510579" y="0"/>
                  </a:lnTo>
                  <a:cubicBezTo>
                    <a:pt x="518579" y="0"/>
                    <a:pt x="526252" y="3178"/>
                    <a:pt x="531909" y="8835"/>
                  </a:cubicBezTo>
                  <a:cubicBezTo>
                    <a:pt x="537567" y="14493"/>
                    <a:pt x="540745" y="22166"/>
                    <a:pt x="540745" y="30166"/>
                  </a:cubicBezTo>
                  <a:lnTo>
                    <a:pt x="540745" y="87339"/>
                  </a:lnTo>
                  <a:cubicBezTo>
                    <a:pt x="540745" y="95339"/>
                    <a:pt x="537567" y="103012"/>
                    <a:pt x="531909" y="108669"/>
                  </a:cubicBezTo>
                  <a:cubicBezTo>
                    <a:pt x="526252" y="114327"/>
                    <a:pt x="518579" y="117505"/>
                    <a:pt x="510579" y="117505"/>
                  </a:cubicBezTo>
                  <a:lnTo>
                    <a:pt x="30166" y="117505"/>
                  </a:lnTo>
                  <a:cubicBezTo>
                    <a:pt x="22166" y="117505"/>
                    <a:pt x="14493" y="114327"/>
                    <a:pt x="8835" y="108669"/>
                  </a:cubicBezTo>
                  <a:cubicBezTo>
                    <a:pt x="3178" y="103012"/>
                    <a:pt x="0" y="95339"/>
                    <a:pt x="0" y="87339"/>
                  </a:cubicBezTo>
                  <a:lnTo>
                    <a:pt x="0" y="30166"/>
                  </a:lnTo>
                  <a:cubicBezTo>
                    <a:pt x="0" y="22166"/>
                    <a:pt x="3178" y="14493"/>
                    <a:pt x="8835" y="8835"/>
                  </a:cubicBezTo>
                  <a:cubicBezTo>
                    <a:pt x="14493" y="3178"/>
                    <a:pt x="22166" y="0"/>
                    <a:pt x="30166" y="0"/>
                  </a:cubicBezTo>
                  <a:close/>
                </a:path>
              </a:pathLst>
            </a:custGeom>
            <a:solidFill>
              <a:srgbClr val="F34D24"/>
            </a:solidFill>
          </p:spPr>
        </p:sp>
        <p:sp>
          <p:nvSpPr>
            <p:cNvPr name="TextBox 10" id="10"/>
            <p:cNvSpPr txBox="true"/>
            <p:nvPr/>
          </p:nvSpPr>
          <p:spPr>
            <a:xfrm>
              <a:off x="0" y="0"/>
              <a:ext cx="540745" cy="117505"/>
            </a:xfrm>
            <a:prstGeom prst="rect">
              <a:avLst/>
            </a:prstGeom>
          </p:spPr>
          <p:txBody>
            <a:bodyPr anchor="ctr" rtlCol="false" tIns="50800" lIns="50800" bIns="50800" rIns="50800"/>
            <a:lstStyle/>
            <a:p>
              <a:pPr algn="ctr">
                <a:lnSpc>
                  <a:spcPts val="1680"/>
                </a:lnSpc>
              </a:pPr>
              <a:r>
                <a:rPr lang="en-US" b="true" sz="1500" spc="30">
                  <a:solidFill>
                    <a:srgbClr val="FFFFFF"/>
                  </a:solidFill>
                  <a:latin typeface="Poppins Bold"/>
                  <a:ea typeface="Poppins Bold"/>
                  <a:cs typeface="Poppins Bold"/>
                  <a:sym typeface="Poppins Bold"/>
                </a:rPr>
                <a:t>Key Takeaways</a:t>
              </a:r>
            </a:p>
          </p:txBody>
        </p:sp>
      </p:grpSp>
      <p:sp>
        <p:nvSpPr>
          <p:cNvPr name="Freeform 11" id="11"/>
          <p:cNvSpPr/>
          <p:nvPr/>
        </p:nvSpPr>
        <p:spPr>
          <a:xfrm flipH="false" flipV="false" rot="0">
            <a:off x="10568717" y="1498698"/>
            <a:ext cx="7658606" cy="3723997"/>
          </a:xfrm>
          <a:custGeom>
            <a:avLst/>
            <a:gdLst/>
            <a:ahLst/>
            <a:cxnLst/>
            <a:rect r="r" b="b" t="t" l="l"/>
            <a:pathLst>
              <a:path h="3723997" w="7658606">
                <a:moveTo>
                  <a:pt x="0" y="0"/>
                </a:moveTo>
                <a:lnTo>
                  <a:pt x="7658606" y="0"/>
                </a:lnTo>
                <a:lnTo>
                  <a:pt x="7658606" y="3723997"/>
                </a:lnTo>
                <a:lnTo>
                  <a:pt x="0" y="3723997"/>
                </a:lnTo>
                <a:lnTo>
                  <a:pt x="0" y="0"/>
                </a:lnTo>
                <a:close/>
              </a:path>
            </a:pathLst>
          </a:custGeom>
          <a:blipFill>
            <a:blip r:embed="rId4"/>
            <a:stretch>
              <a:fillRect l="0" t="0" r="0" b="0"/>
            </a:stretch>
          </a:blipFill>
          <a:ln w="9525" cap="sq">
            <a:solidFill>
              <a:srgbClr val="CFCFCF"/>
            </a:solidFill>
            <a:prstDash val="solid"/>
            <a:miter/>
          </a:ln>
        </p:spPr>
      </p:sp>
      <p:sp>
        <p:nvSpPr>
          <p:cNvPr name="TextBox 12" id="12"/>
          <p:cNvSpPr txBox="true"/>
          <p:nvPr/>
        </p:nvSpPr>
        <p:spPr>
          <a:xfrm rot="0">
            <a:off x="605154" y="251145"/>
            <a:ext cx="15990534"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Temporal Analysis of TREFHT</a:t>
            </a:r>
          </a:p>
        </p:txBody>
      </p:sp>
      <p:sp>
        <p:nvSpPr>
          <p:cNvPr name="TextBox 13" id="13"/>
          <p:cNvSpPr txBox="true"/>
          <p:nvPr/>
        </p:nvSpPr>
        <p:spPr>
          <a:xfrm rot="0">
            <a:off x="605154" y="825943"/>
            <a:ext cx="15311396" cy="296545"/>
          </a:xfrm>
          <a:prstGeom prst="rect">
            <a:avLst/>
          </a:prstGeom>
        </p:spPr>
        <p:txBody>
          <a:bodyPr anchor="t" rtlCol="false" tIns="0" lIns="0" bIns="0" rIns="0">
            <a:spAutoFit/>
          </a:bodyPr>
          <a:lstStyle/>
          <a:p>
            <a:pPr algn="just">
              <a:lnSpc>
                <a:spcPts val="2240"/>
              </a:lnSpc>
            </a:pPr>
            <a:r>
              <a:rPr lang="en-US" sz="2000" spc="40">
                <a:solidFill>
                  <a:srgbClr val="FE763A"/>
                </a:solidFill>
                <a:latin typeface="Glacial Indifference"/>
                <a:ea typeface="Glacial Indifference"/>
                <a:cs typeface="Glacial Indifference"/>
                <a:sym typeface="Glacial Indifference"/>
              </a:rPr>
              <a:t>A visual summary of long-term temperature trends, seasonal cycles, and projected climate changes using TREFHT data</a:t>
            </a:r>
          </a:p>
        </p:txBody>
      </p:sp>
      <p:sp>
        <p:nvSpPr>
          <p:cNvPr name="TextBox 14" id="14"/>
          <p:cNvSpPr txBox="true"/>
          <p:nvPr/>
        </p:nvSpPr>
        <p:spPr>
          <a:xfrm rot="0">
            <a:off x="10834776" y="6028527"/>
            <a:ext cx="7038865" cy="2855642"/>
          </a:xfrm>
          <a:prstGeom prst="rect">
            <a:avLst/>
          </a:prstGeom>
        </p:spPr>
        <p:txBody>
          <a:bodyPr anchor="t" rtlCol="false" tIns="0" lIns="0" bIns="0" rIns="0">
            <a:spAutoFit/>
          </a:bodyPr>
          <a:lstStyle/>
          <a:p>
            <a:pPr algn="l">
              <a:lnSpc>
                <a:spcPts val="1895"/>
              </a:lnSpc>
              <a:spcBef>
                <a:spcPct val="0"/>
              </a:spcBef>
            </a:pPr>
            <a:r>
              <a:rPr lang="en-US" sz="1692" spc="33">
                <a:solidFill>
                  <a:srgbClr val="000000"/>
                </a:solidFill>
                <a:latin typeface="Glacial Indifference"/>
                <a:ea typeface="Glacial Indifference"/>
                <a:cs typeface="Glacial Indifference"/>
                <a:sym typeface="Glacial Indifference"/>
              </a:rPr>
              <a:t>(1) The consistent annual cycle and rising long-term trend suggest climate change impacts. Seasonal extremes (peaks and throughs) also appear to grow over time (summer vs winter temperature gap becomes larger).</a:t>
            </a:r>
          </a:p>
          <a:p>
            <a:pPr algn="l">
              <a:lnSpc>
                <a:spcPts val="1895"/>
              </a:lnSpc>
              <a:spcBef>
                <a:spcPct val="0"/>
              </a:spcBef>
            </a:pPr>
          </a:p>
          <a:p>
            <a:pPr algn="l">
              <a:lnSpc>
                <a:spcPts val="1895"/>
              </a:lnSpc>
              <a:spcBef>
                <a:spcPct val="0"/>
              </a:spcBef>
            </a:pPr>
            <a:r>
              <a:rPr lang="en-US" sz="1692" spc="33">
                <a:solidFill>
                  <a:srgbClr val="000000"/>
                </a:solidFill>
                <a:latin typeface="Glacial Indifference"/>
                <a:ea typeface="Glacial Indifference"/>
                <a:cs typeface="Glacial Indifference"/>
                <a:sym typeface="Glacial Indifference"/>
              </a:rPr>
              <a:t>(2) Annual mean TREFHT with a linear trend line, reinforcing the overall warming despite natural yearly fluctuations.</a:t>
            </a:r>
          </a:p>
          <a:p>
            <a:pPr algn="l">
              <a:lnSpc>
                <a:spcPts val="1895"/>
              </a:lnSpc>
              <a:spcBef>
                <a:spcPct val="0"/>
              </a:spcBef>
            </a:pPr>
          </a:p>
          <a:p>
            <a:pPr algn="l">
              <a:lnSpc>
                <a:spcPts val="1895"/>
              </a:lnSpc>
              <a:spcBef>
                <a:spcPct val="0"/>
              </a:spcBef>
            </a:pPr>
            <a:r>
              <a:rPr lang="en-US" sz="1692" spc="33">
                <a:solidFill>
                  <a:srgbClr val="000000"/>
                </a:solidFill>
                <a:latin typeface="Glacial Indifference"/>
                <a:ea typeface="Glacial Indifference"/>
                <a:cs typeface="Glacial Indifference"/>
                <a:sym typeface="Glacial Indifference"/>
              </a:rPr>
              <a:t>(3) The red line shows consistently higher temperatures than the blue, confirming a warming temp in the future. Seasonal extremes grow more pronounced, with future summers ~12.5% hotter and milder winters. Sharper transitions suggest shorter spring and autumn periods.</a:t>
            </a:r>
          </a:p>
        </p:txBody>
      </p:sp>
      <p:grpSp>
        <p:nvGrpSpPr>
          <p:cNvPr name="Group 15" id="15"/>
          <p:cNvGrpSpPr/>
          <p:nvPr/>
        </p:nvGrpSpPr>
        <p:grpSpPr>
          <a:xfrm rot="0">
            <a:off x="358194" y="1298777"/>
            <a:ext cx="367364" cy="326216"/>
            <a:chOff x="0" y="0"/>
            <a:chExt cx="489819" cy="434955"/>
          </a:xfrm>
        </p:grpSpPr>
        <p:grpSp>
          <p:nvGrpSpPr>
            <p:cNvPr name="Group 16" id="16"/>
            <p:cNvGrpSpPr/>
            <p:nvPr/>
          </p:nvGrpSpPr>
          <p:grpSpPr>
            <a:xfrm rot="0">
              <a:off x="0" y="0"/>
              <a:ext cx="489819" cy="434955"/>
              <a:chOff x="0" y="0"/>
              <a:chExt cx="812800" cy="721760"/>
            </a:xfrm>
          </p:grpSpPr>
          <p:sp>
            <p:nvSpPr>
              <p:cNvPr name="Freeform 17" id="17"/>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gradFill rotWithShape="true">
                <a:gsLst>
                  <a:gs pos="0">
                    <a:srgbClr val="0097B2">
                      <a:alpha val="100000"/>
                    </a:srgbClr>
                  </a:gs>
                  <a:gs pos="100000">
                    <a:srgbClr val="7ED957">
                      <a:alpha val="100000"/>
                    </a:srgbClr>
                  </a:gs>
                </a:gsLst>
                <a:lin ang="0"/>
              </a:gradFill>
            </p:spPr>
          </p:sp>
          <p:sp>
            <p:nvSpPr>
              <p:cNvPr name="TextBox 18" id="18"/>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19" id="19"/>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1</a:t>
              </a:r>
            </a:p>
          </p:txBody>
        </p:sp>
      </p:grpSp>
      <p:grpSp>
        <p:nvGrpSpPr>
          <p:cNvPr name="Group 20" id="20"/>
          <p:cNvGrpSpPr/>
          <p:nvPr/>
        </p:nvGrpSpPr>
        <p:grpSpPr>
          <a:xfrm rot="0">
            <a:off x="405059" y="5806729"/>
            <a:ext cx="367364" cy="326216"/>
            <a:chOff x="0" y="0"/>
            <a:chExt cx="489819" cy="434955"/>
          </a:xfrm>
        </p:grpSpPr>
        <p:grpSp>
          <p:nvGrpSpPr>
            <p:cNvPr name="Group 21" id="21"/>
            <p:cNvGrpSpPr/>
            <p:nvPr/>
          </p:nvGrpSpPr>
          <p:grpSpPr>
            <a:xfrm rot="0">
              <a:off x="0" y="0"/>
              <a:ext cx="489819" cy="434955"/>
              <a:chOff x="0" y="0"/>
              <a:chExt cx="812800" cy="721760"/>
            </a:xfrm>
          </p:grpSpPr>
          <p:sp>
            <p:nvSpPr>
              <p:cNvPr name="Freeform 22" id="22"/>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gradFill rotWithShape="true">
                <a:gsLst>
                  <a:gs pos="0">
                    <a:srgbClr val="0097B2">
                      <a:alpha val="100000"/>
                    </a:srgbClr>
                  </a:gs>
                  <a:gs pos="100000">
                    <a:srgbClr val="7ED957">
                      <a:alpha val="100000"/>
                    </a:srgbClr>
                  </a:gs>
                </a:gsLst>
                <a:lin ang="0"/>
              </a:gradFill>
            </p:spPr>
          </p:sp>
          <p:sp>
            <p:nvSpPr>
              <p:cNvPr name="TextBox 23" id="23"/>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24" id="24"/>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2</a:t>
              </a:r>
            </a:p>
          </p:txBody>
        </p:sp>
      </p:grpSp>
      <p:grpSp>
        <p:nvGrpSpPr>
          <p:cNvPr name="Group 25" id="25"/>
          <p:cNvGrpSpPr/>
          <p:nvPr/>
        </p:nvGrpSpPr>
        <p:grpSpPr>
          <a:xfrm rot="0">
            <a:off x="10651094" y="1298777"/>
            <a:ext cx="367364" cy="326216"/>
            <a:chOff x="0" y="0"/>
            <a:chExt cx="489819" cy="434955"/>
          </a:xfrm>
        </p:grpSpPr>
        <p:grpSp>
          <p:nvGrpSpPr>
            <p:cNvPr name="Group 26" id="26"/>
            <p:cNvGrpSpPr/>
            <p:nvPr/>
          </p:nvGrpSpPr>
          <p:grpSpPr>
            <a:xfrm rot="0">
              <a:off x="0" y="0"/>
              <a:ext cx="489819" cy="434955"/>
              <a:chOff x="0" y="0"/>
              <a:chExt cx="812800" cy="721760"/>
            </a:xfrm>
          </p:grpSpPr>
          <p:sp>
            <p:nvSpPr>
              <p:cNvPr name="Freeform 27" id="27"/>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gradFill rotWithShape="true">
                <a:gsLst>
                  <a:gs pos="0">
                    <a:srgbClr val="0097B2">
                      <a:alpha val="100000"/>
                    </a:srgbClr>
                  </a:gs>
                  <a:gs pos="100000">
                    <a:srgbClr val="7ED957">
                      <a:alpha val="100000"/>
                    </a:srgbClr>
                  </a:gs>
                </a:gsLst>
                <a:lin ang="0"/>
              </a:gradFill>
            </p:spPr>
          </p:sp>
          <p:sp>
            <p:nvSpPr>
              <p:cNvPr name="TextBox 28" id="28"/>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29" id="29"/>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3</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28872" y="213557"/>
            <a:ext cx="0" cy="815143"/>
          </a:xfrm>
          <a:prstGeom prst="line">
            <a:avLst/>
          </a:prstGeom>
          <a:ln cap="flat" w="47625">
            <a:solidFill>
              <a:srgbClr val="206648"/>
            </a:solidFill>
            <a:prstDash val="solid"/>
            <a:headEnd type="none" len="sm" w="sm"/>
            <a:tailEnd type="none" len="sm" w="sm"/>
          </a:ln>
        </p:spPr>
      </p:sp>
      <p:grpSp>
        <p:nvGrpSpPr>
          <p:cNvPr name="Group 3" id="3"/>
          <p:cNvGrpSpPr/>
          <p:nvPr/>
        </p:nvGrpSpPr>
        <p:grpSpPr>
          <a:xfrm rot="0">
            <a:off x="605154" y="8455931"/>
            <a:ext cx="17494668" cy="1686629"/>
            <a:chOff x="0" y="0"/>
            <a:chExt cx="4607649" cy="444215"/>
          </a:xfrm>
        </p:grpSpPr>
        <p:sp>
          <p:nvSpPr>
            <p:cNvPr name="Freeform 4" id="4"/>
            <p:cNvSpPr/>
            <p:nvPr/>
          </p:nvSpPr>
          <p:spPr>
            <a:xfrm flipH="false" flipV="false" rot="0">
              <a:off x="0" y="0"/>
              <a:ext cx="4607649" cy="444215"/>
            </a:xfrm>
            <a:custGeom>
              <a:avLst/>
              <a:gdLst/>
              <a:ahLst/>
              <a:cxnLst/>
              <a:rect r="r" b="b" t="t" l="l"/>
              <a:pathLst>
                <a:path h="444215" w="4607649">
                  <a:moveTo>
                    <a:pt x="0" y="0"/>
                  </a:moveTo>
                  <a:lnTo>
                    <a:pt x="4607649" y="0"/>
                  </a:lnTo>
                  <a:lnTo>
                    <a:pt x="4607649" y="444215"/>
                  </a:lnTo>
                  <a:lnTo>
                    <a:pt x="0" y="444215"/>
                  </a:lnTo>
                  <a:close/>
                </a:path>
              </a:pathLst>
            </a:custGeom>
            <a:solidFill>
              <a:srgbClr val="000000">
                <a:alpha val="0"/>
              </a:srgbClr>
            </a:solidFill>
            <a:ln w="38100" cap="sq">
              <a:solidFill>
                <a:srgbClr val="BABABA"/>
              </a:solidFill>
              <a:prstDash val="lgDash"/>
              <a:miter/>
            </a:ln>
          </p:spPr>
        </p:sp>
        <p:sp>
          <p:nvSpPr>
            <p:cNvPr name="TextBox 5" id="5"/>
            <p:cNvSpPr txBox="true"/>
            <p:nvPr/>
          </p:nvSpPr>
          <p:spPr>
            <a:xfrm>
              <a:off x="0" y="19050"/>
              <a:ext cx="4607649" cy="425165"/>
            </a:xfrm>
            <a:prstGeom prst="rect">
              <a:avLst/>
            </a:prstGeom>
          </p:spPr>
          <p:txBody>
            <a:bodyPr anchor="ctr" rtlCol="false" tIns="50800" lIns="50800" bIns="50800" rIns="50800"/>
            <a:lstStyle/>
            <a:p>
              <a:pPr algn="ctr">
                <a:lnSpc>
                  <a:spcPts val="1895"/>
                </a:lnSpc>
              </a:pPr>
            </a:p>
          </p:txBody>
        </p:sp>
      </p:grpSp>
      <p:grpSp>
        <p:nvGrpSpPr>
          <p:cNvPr name="Group 6" id="6"/>
          <p:cNvGrpSpPr/>
          <p:nvPr/>
        </p:nvGrpSpPr>
        <p:grpSpPr>
          <a:xfrm rot="0">
            <a:off x="826892" y="8232855"/>
            <a:ext cx="2053141" cy="446151"/>
            <a:chOff x="0" y="0"/>
            <a:chExt cx="540745" cy="117505"/>
          </a:xfrm>
        </p:grpSpPr>
        <p:sp>
          <p:nvSpPr>
            <p:cNvPr name="Freeform 7" id="7"/>
            <p:cNvSpPr/>
            <p:nvPr/>
          </p:nvSpPr>
          <p:spPr>
            <a:xfrm flipH="false" flipV="false" rot="0">
              <a:off x="0" y="0"/>
              <a:ext cx="540745" cy="117505"/>
            </a:xfrm>
            <a:custGeom>
              <a:avLst/>
              <a:gdLst/>
              <a:ahLst/>
              <a:cxnLst/>
              <a:rect r="r" b="b" t="t" l="l"/>
              <a:pathLst>
                <a:path h="117505" w="540745">
                  <a:moveTo>
                    <a:pt x="30166" y="0"/>
                  </a:moveTo>
                  <a:lnTo>
                    <a:pt x="510579" y="0"/>
                  </a:lnTo>
                  <a:cubicBezTo>
                    <a:pt x="518579" y="0"/>
                    <a:pt x="526252" y="3178"/>
                    <a:pt x="531909" y="8835"/>
                  </a:cubicBezTo>
                  <a:cubicBezTo>
                    <a:pt x="537567" y="14493"/>
                    <a:pt x="540745" y="22166"/>
                    <a:pt x="540745" y="30166"/>
                  </a:cubicBezTo>
                  <a:lnTo>
                    <a:pt x="540745" y="87339"/>
                  </a:lnTo>
                  <a:cubicBezTo>
                    <a:pt x="540745" y="95339"/>
                    <a:pt x="537567" y="103012"/>
                    <a:pt x="531909" y="108669"/>
                  </a:cubicBezTo>
                  <a:cubicBezTo>
                    <a:pt x="526252" y="114327"/>
                    <a:pt x="518579" y="117505"/>
                    <a:pt x="510579" y="117505"/>
                  </a:cubicBezTo>
                  <a:lnTo>
                    <a:pt x="30166" y="117505"/>
                  </a:lnTo>
                  <a:cubicBezTo>
                    <a:pt x="22166" y="117505"/>
                    <a:pt x="14493" y="114327"/>
                    <a:pt x="8835" y="108669"/>
                  </a:cubicBezTo>
                  <a:cubicBezTo>
                    <a:pt x="3178" y="103012"/>
                    <a:pt x="0" y="95339"/>
                    <a:pt x="0" y="87339"/>
                  </a:cubicBezTo>
                  <a:lnTo>
                    <a:pt x="0" y="30166"/>
                  </a:lnTo>
                  <a:cubicBezTo>
                    <a:pt x="0" y="22166"/>
                    <a:pt x="3178" y="14493"/>
                    <a:pt x="8835" y="8835"/>
                  </a:cubicBezTo>
                  <a:cubicBezTo>
                    <a:pt x="14493" y="3178"/>
                    <a:pt x="22166" y="0"/>
                    <a:pt x="30166" y="0"/>
                  </a:cubicBezTo>
                  <a:close/>
                </a:path>
              </a:pathLst>
            </a:custGeom>
            <a:solidFill>
              <a:srgbClr val="F34D24"/>
            </a:solidFill>
          </p:spPr>
        </p:sp>
        <p:sp>
          <p:nvSpPr>
            <p:cNvPr name="TextBox 8" id="8"/>
            <p:cNvSpPr txBox="true"/>
            <p:nvPr/>
          </p:nvSpPr>
          <p:spPr>
            <a:xfrm>
              <a:off x="0" y="0"/>
              <a:ext cx="540745" cy="117505"/>
            </a:xfrm>
            <a:prstGeom prst="rect">
              <a:avLst/>
            </a:prstGeom>
          </p:spPr>
          <p:txBody>
            <a:bodyPr anchor="ctr" rtlCol="false" tIns="50800" lIns="50800" bIns="50800" rIns="50800"/>
            <a:lstStyle/>
            <a:p>
              <a:pPr algn="ctr">
                <a:lnSpc>
                  <a:spcPts val="1680"/>
                </a:lnSpc>
              </a:pPr>
              <a:r>
                <a:rPr lang="en-US" b="true" sz="1500" spc="30">
                  <a:solidFill>
                    <a:srgbClr val="FFFFFF"/>
                  </a:solidFill>
                  <a:latin typeface="Poppins Bold"/>
                  <a:ea typeface="Poppins Bold"/>
                  <a:cs typeface="Poppins Bold"/>
                  <a:sym typeface="Poppins Bold"/>
                </a:rPr>
                <a:t>Key Takeaways</a:t>
              </a:r>
            </a:p>
          </p:txBody>
        </p:sp>
      </p:grpSp>
      <p:pic>
        <p:nvPicPr>
          <p:cNvPr name="Picture 9" id="9">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33930" t="8069" r="31049" b="10123"/>
          <a:stretch>
            <a:fillRect/>
          </a:stretch>
        </p:blipFill>
        <p:spPr>
          <a:xfrm flipH="false" flipV="false" rot="0">
            <a:off x="405059" y="1405241"/>
            <a:ext cx="4803407" cy="6732364"/>
          </a:xfrm>
          <a:prstGeom prst="rect">
            <a:avLst/>
          </a:prstGeom>
        </p:spPr>
      </p:pic>
      <p:sp>
        <p:nvSpPr>
          <p:cNvPr name="Freeform 10" id="10"/>
          <p:cNvSpPr/>
          <p:nvPr/>
        </p:nvSpPr>
        <p:spPr>
          <a:xfrm flipH="false" flipV="false" rot="0">
            <a:off x="5564970" y="1127275"/>
            <a:ext cx="9642007" cy="3459070"/>
          </a:xfrm>
          <a:custGeom>
            <a:avLst/>
            <a:gdLst/>
            <a:ahLst/>
            <a:cxnLst/>
            <a:rect r="r" b="b" t="t" l="l"/>
            <a:pathLst>
              <a:path h="3459070" w="9642007">
                <a:moveTo>
                  <a:pt x="0" y="0"/>
                </a:moveTo>
                <a:lnTo>
                  <a:pt x="9642007" y="0"/>
                </a:lnTo>
                <a:lnTo>
                  <a:pt x="9642007" y="3459070"/>
                </a:lnTo>
                <a:lnTo>
                  <a:pt x="0" y="3459070"/>
                </a:lnTo>
                <a:lnTo>
                  <a:pt x="0" y="0"/>
                </a:lnTo>
                <a:close/>
              </a:path>
            </a:pathLst>
          </a:custGeom>
          <a:blipFill>
            <a:blip r:embed="rId5"/>
            <a:stretch>
              <a:fillRect l="0" t="0" r="0" b="0"/>
            </a:stretch>
          </a:blipFill>
          <a:ln w="9525" cap="sq">
            <a:solidFill>
              <a:srgbClr val="CFCFCF"/>
            </a:solidFill>
            <a:prstDash val="sysDot"/>
            <a:miter/>
          </a:ln>
        </p:spPr>
      </p:sp>
      <p:sp>
        <p:nvSpPr>
          <p:cNvPr name="Freeform 11" id="11"/>
          <p:cNvSpPr/>
          <p:nvPr/>
        </p:nvSpPr>
        <p:spPr>
          <a:xfrm flipH="false" flipV="false" rot="0">
            <a:off x="5564970" y="4872360"/>
            <a:ext cx="9642007" cy="3459070"/>
          </a:xfrm>
          <a:custGeom>
            <a:avLst/>
            <a:gdLst/>
            <a:ahLst/>
            <a:cxnLst/>
            <a:rect r="r" b="b" t="t" l="l"/>
            <a:pathLst>
              <a:path h="3459070" w="9642007">
                <a:moveTo>
                  <a:pt x="0" y="0"/>
                </a:moveTo>
                <a:lnTo>
                  <a:pt x="9642007" y="0"/>
                </a:lnTo>
                <a:lnTo>
                  <a:pt x="9642007" y="3459070"/>
                </a:lnTo>
                <a:lnTo>
                  <a:pt x="0" y="3459070"/>
                </a:lnTo>
                <a:lnTo>
                  <a:pt x="0" y="0"/>
                </a:lnTo>
                <a:close/>
              </a:path>
            </a:pathLst>
          </a:custGeom>
          <a:blipFill>
            <a:blip r:embed="rId6"/>
            <a:stretch>
              <a:fillRect l="0" t="0" r="0" b="0"/>
            </a:stretch>
          </a:blipFill>
          <a:ln w="9525" cap="sq">
            <a:solidFill>
              <a:srgbClr val="CFCFCF"/>
            </a:solidFill>
            <a:prstDash val="sysDot"/>
            <a:miter/>
          </a:ln>
        </p:spPr>
      </p:sp>
      <p:sp>
        <p:nvSpPr>
          <p:cNvPr name="TextBox 12" id="12"/>
          <p:cNvSpPr txBox="true"/>
          <p:nvPr/>
        </p:nvSpPr>
        <p:spPr>
          <a:xfrm rot="0">
            <a:off x="628966" y="157357"/>
            <a:ext cx="15990534"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Spatiotemporal Analysis of TREFHT</a:t>
            </a:r>
          </a:p>
        </p:txBody>
      </p:sp>
      <p:sp>
        <p:nvSpPr>
          <p:cNvPr name="TextBox 13" id="13"/>
          <p:cNvSpPr txBox="true"/>
          <p:nvPr/>
        </p:nvSpPr>
        <p:spPr>
          <a:xfrm rot="0">
            <a:off x="628966" y="636909"/>
            <a:ext cx="15311396" cy="296545"/>
          </a:xfrm>
          <a:prstGeom prst="rect">
            <a:avLst/>
          </a:prstGeom>
        </p:spPr>
        <p:txBody>
          <a:bodyPr anchor="t" rtlCol="false" tIns="0" lIns="0" bIns="0" rIns="0">
            <a:spAutoFit/>
          </a:bodyPr>
          <a:lstStyle/>
          <a:p>
            <a:pPr algn="just">
              <a:lnSpc>
                <a:spcPts val="2240"/>
              </a:lnSpc>
            </a:pPr>
            <a:r>
              <a:rPr lang="en-US" sz="2000" spc="40">
                <a:solidFill>
                  <a:srgbClr val="FE763A"/>
                </a:solidFill>
                <a:latin typeface="Glacial Indifference"/>
                <a:ea typeface="Glacial Indifference"/>
                <a:cs typeface="Glacial Indifference"/>
                <a:sym typeface="Glacial Indifference"/>
              </a:rPr>
              <a:t>A visual overview of how near-surface air temperature (TREFHT) changes across space and time in the UK.</a:t>
            </a:r>
          </a:p>
        </p:txBody>
      </p:sp>
      <p:sp>
        <p:nvSpPr>
          <p:cNvPr name="TextBox 14" id="14"/>
          <p:cNvSpPr txBox="true"/>
          <p:nvPr/>
        </p:nvSpPr>
        <p:spPr>
          <a:xfrm rot="0">
            <a:off x="826892" y="8793306"/>
            <a:ext cx="17051191" cy="1188767"/>
          </a:xfrm>
          <a:prstGeom prst="rect">
            <a:avLst/>
          </a:prstGeom>
        </p:spPr>
        <p:txBody>
          <a:bodyPr anchor="t" rtlCol="false" tIns="0" lIns="0" bIns="0" rIns="0">
            <a:spAutoFit/>
          </a:bodyPr>
          <a:lstStyle/>
          <a:p>
            <a:pPr algn="l">
              <a:lnSpc>
                <a:spcPts val="1895"/>
              </a:lnSpc>
            </a:pPr>
            <a:r>
              <a:rPr lang="en-US" sz="1692" spc="33">
                <a:solidFill>
                  <a:srgbClr val="000000"/>
                </a:solidFill>
                <a:latin typeface="Glacial Indifference"/>
                <a:ea typeface="Glacial Indifference"/>
                <a:cs typeface="Glacial Indifference"/>
                <a:sym typeface="Glacial Indifference"/>
              </a:rPr>
              <a:t>(1) Temperatures in the UK on 15 July (peak summer) across 2006, 2025, and 2080, with a clear warming trend—especially in southern England, where temperatures exceed 22°C by 2080.</a:t>
            </a:r>
          </a:p>
          <a:p>
            <a:pPr algn="l">
              <a:lnSpc>
                <a:spcPts val="1895"/>
              </a:lnSpc>
            </a:pPr>
          </a:p>
          <a:p>
            <a:pPr algn="l">
              <a:lnSpc>
                <a:spcPts val="1895"/>
              </a:lnSpc>
              <a:spcBef>
                <a:spcPct val="0"/>
              </a:spcBef>
            </a:pPr>
            <a:r>
              <a:rPr lang="en-US" sz="1692" spc="33">
                <a:solidFill>
                  <a:srgbClr val="000000"/>
                </a:solidFill>
                <a:latin typeface="Glacial Indifference"/>
                <a:ea typeface="Glacial Indifference"/>
                <a:cs typeface="Glacial Indifference"/>
                <a:sym typeface="Glacial Indifference"/>
              </a:rPr>
              <a:t>(2) Temperatures across UK on 15 January (peak winter) from 2006 to 2080, with much of England exceeding 10°C by 2080—indicating a clear warming trend and milder winters.</a:t>
            </a:r>
          </a:p>
          <a:p>
            <a:pPr algn="l">
              <a:lnSpc>
                <a:spcPts val="1895"/>
              </a:lnSpc>
              <a:spcBef>
                <a:spcPct val="0"/>
              </a:spcBef>
            </a:pPr>
          </a:p>
        </p:txBody>
      </p:sp>
      <p:grpSp>
        <p:nvGrpSpPr>
          <p:cNvPr name="Group 15" id="15"/>
          <p:cNvGrpSpPr/>
          <p:nvPr/>
        </p:nvGrpSpPr>
        <p:grpSpPr>
          <a:xfrm rot="0">
            <a:off x="5381287" y="1057955"/>
            <a:ext cx="367364" cy="326216"/>
            <a:chOff x="0" y="0"/>
            <a:chExt cx="489819" cy="434955"/>
          </a:xfrm>
        </p:grpSpPr>
        <p:grpSp>
          <p:nvGrpSpPr>
            <p:cNvPr name="Group 16" id="16"/>
            <p:cNvGrpSpPr/>
            <p:nvPr/>
          </p:nvGrpSpPr>
          <p:grpSpPr>
            <a:xfrm rot="0">
              <a:off x="0" y="0"/>
              <a:ext cx="489819" cy="434955"/>
              <a:chOff x="0" y="0"/>
              <a:chExt cx="812800" cy="721760"/>
            </a:xfrm>
          </p:grpSpPr>
          <p:sp>
            <p:nvSpPr>
              <p:cNvPr name="Freeform 17" id="17"/>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gradFill rotWithShape="true">
                <a:gsLst>
                  <a:gs pos="0">
                    <a:srgbClr val="0097B2">
                      <a:alpha val="100000"/>
                    </a:srgbClr>
                  </a:gs>
                  <a:gs pos="100000">
                    <a:srgbClr val="7ED957">
                      <a:alpha val="100000"/>
                    </a:srgbClr>
                  </a:gs>
                </a:gsLst>
                <a:lin ang="0"/>
              </a:gradFill>
            </p:spPr>
          </p:sp>
          <p:sp>
            <p:nvSpPr>
              <p:cNvPr name="TextBox 18" id="18"/>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19" id="19"/>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1</a:t>
              </a:r>
            </a:p>
          </p:txBody>
        </p:sp>
      </p:grpSp>
      <p:grpSp>
        <p:nvGrpSpPr>
          <p:cNvPr name="Group 20" id="20"/>
          <p:cNvGrpSpPr/>
          <p:nvPr/>
        </p:nvGrpSpPr>
        <p:grpSpPr>
          <a:xfrm rot="0">
            <a:off x="5381287" y="4709252"/>
            <a:ext cx="367364" cy="326216"/>
            <a:chOff x="0" y="0"/>
            <a:chExt cx="489819" cy="434955"/>
          </a:xfrm>
        </p:grpSpPr>
        <p:grpSp>
          <p:nvGrpSpPr>
            <p:cNvPr name="Group 21" id="21"/>
            <p:cNvGrpSpPr/>
            <p:nvPr/>
          </p:nvGrpSpPr>
          <p:grpSpPr>
            <a:xfrm rot="0">
              <a:off x="0" y="0"/>
              <a:ext cx="489819" cy="434955"/>
              <a:chOff x="0" y="0"/>
              <a:chExt cx="812800" cy="721760"/>
            </a:xfrm>
          </p:grpSpPr>
          <p:sp>
            <p:nvSpPr>
              <p:cNvPr name="Freeform 22" id="22"/>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gradFill rotWithShape="true">
                <a:gsLst>
                  <a:gs pos="0">
                    <a:srgbClr val="0097B2">
                      <a:alpha val="100000"/>
                    </a:srgbClr>
                  </a:gs>
                  <a:gs pos="100000">
                    <a:srgbClr val="7ED957">
                      <a:alpha val="100000"/>
                    </a:srgbClr>
                  </a:gs>
                </a:gsLst>
                <a:lin ang="0"/>
              </a:gradFill>
            </p:spPr>
          </p:sp>
          <p:sp>
            <p:nvSpPr>
              <p:cNvPr name="TextBox 23" id="23"/>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24" id="24"/>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2</a:t>
              </a:r>
            </a:p>
          </p:txBody>
        </p:sp>
      </p:grpSp>
    </p:spTree>
  </p:cSld>
  <p:clrMapOvr>
    <a:masterClrMapping/>
  </p:clrMapOvr>
  <p:timing>
    <p:tnLst>
      <p:par>
        <p:cTn dur="indefinite" restart="never" nodeType="tmRoot">
          <p:childTnLst>
            <p:video>
              <p:cMediaNode vol="0">
                <p:cTn fill="hold" display="false">
                  <p:stCondLst>
                    <p:cond delay="indefinite"/>
                  </p:stCondLst>
                </p:cTn>
                <p:tgtEl>
                  <p:spTgt spid="9"/>
                </p:tgtEl>
              </p:cMediaNode>
            </p:video>
          </p:childTnLst>
        </p:cTn>
      </p:par>
    </p:tnLst>
  </p:timing>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05059" y="307345"/>
            <a:ext cx="0" cy="815143"/>
          </a:xfrm>
          <a:prstGeom prst="line">
            <a:avLst/>
          </a:prstGeom>
          <a:ln cap="flat" w="47625">
            <a:solidFill>
              <a:srgbClr val="206648"/>
            </a:solidFill>
            <a:prstDash val="solid"/>
            <a:headEnd type="none" len="sm" w="sm"/>
            <a:tailEnd type="none" len="sm" w="sm"/>
          </a:ln>
        </p:spPr>
      </p:sp>
      <p:sp>
        <p:nvSpPr>
          <p:cNvPr name="Freeform 3" id="3"/>
          <p:cNvSpPr/>
          <p:nvPr/>
        </p:nvSpPr>
        <p:spPr>
          <a:xfrm flipH="false" flipV="false" rot="0">
            <a:off x="405059" y="1408321"/>
            <a:ext cx="5053989" cy="5670675"/>
          </a:xfrm>
          <a:custGeom>
            <a:avLst/>
            <a:gdLst/>
            <a:ahLst/>
            <a:cxnLst/>
            <a:rect r="r" b="b" t="t" l="l"/>
            <a:pathLst>
              <a:path h="5670675" w="5053989">
                <a:moveTo>
                  <a:pt x="0" y="0"/>
                </a:moveTo>
                <a:lnTo>
                  <a:pt x="5053989" y="0"/>
                </a:lnTo>
                <a:lnTo>
                  <a:pt x="5053989" y="5670674"/>
                </a:lnTo>
                <a:lnTo>
                  <a:pt x="0" y="5670674"/>
                </a:lnTo>
                <a:lnTo>
                  <a:pt x="0" y="0"/>
                </a:lnTo>
                <a:close/>
              </a:path>
            </a:pathLst>
          </a:custGeom>
          <a:blipFill>
            <a:blip r:embed="rId2"/>
            <a:stretch>
              <a:fillRect l="0" t="0" r="0" b="0"/>
            </a:stretch>
          </a:blipFill>
          <a:ln w="9525" cap="sq">
            <a:solidFill>
              <a:srgbClr val="CFCFCF"/>
            </a:solidFill>
            <a:prstDash val="sysDot"/>
            <a:miter/>
          </a:ln>
        </p:spPr>
      </p:sp>
      <p:grpSp>
        <p:nvGrpSpPr>
          <p:cNvPr name="Group 4" id="4"/>
          <p:cNvGrpSpPr/>
          <p:nvPr/>
        </p:nvGrpSpPr>
        <p:grpSpPr>
          <a:xfrm rot="0">
            <a:off x="314843" y="1245212"/>
            <a:ext cx="367364" cy="326216"/>
            <a:chOff x="0" y="0"/>
            <a:chExt cx="489819" cy="434955"/>
          </a:xfrm>
        </p:grpSpPr>
        <p:grpSp>
          <p:nvGrpSpPr>
            <p:cNvPr name="Group 5" id="5"/>
            <p:cNvGrpSpPr/>
            <p:nvPr/>
          </p:nvGrpSpPr>
          <p:grpSpPr>
            <a:xfrm rot="0">
              <a:off x="0" y="0"/>
              <a:ext cx="489819" cy="434955"/>
              <a:chOff x="0" y="0"/>
              <a:chExt cx="812800" cy="721760"/>
            </a:xfrm>
          </p:grpSpPr>
          <p:sp>
            <p:nvSpPr>
              <p:cNvPr name="Freeform 6" id="6"/>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gradFill rotWithShape="true">
                <a:gsLst>
                  <a:gs pos="0">
                    <a:srgbClr val="0097B2">
                      <a:alpha val="100000"/>
                    </a:srgbClr>
                  </a:gs>
                  <a:gs pos="100000">
                    <a:srgbClr val="7ED957">
                      <a:alpha val="100000"/>
                    </a:srgbClr>
                  </a:gs>
                </a:gsLst>
                <a:lin ang="0"/>
              </a:gradFill>
            </p:spPr>
          </p:sp>
          <p:sp>
            <p:nvSpPr>
              <p:cNvPr name="TextBox 7" id="7"/>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8" id="8"/>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1</a:t>
              </a:r>
            </a:p>
          </p:txBody>
        </p:sp>
      </p:grpSp>
      <p:sp>
        <p:nvSpPr>
          <p:cNvPr name="Freeform 9" id="9"/>
          <p:cNvSpPr/>
          <p:nvPr/>
        </p:nvSpPr>
        <p:spPr>
          <a:xfrm flipH="false" flipV="false" rot="0">
            <a:off x="5867460" y="1408321"/>
            <a:ext cx="5965130" cy="5010709"/>
          </a:xfrm>
          <a:custGeom>
            <a:avLst/>
            <a:gdLst/>
            <a:ahLst/>
            <a:cxnLst/>
            <a:rect r="r" b="b" t="t" l="l"/>
            <a:pathLst>
              <a:path h="5010709" w="5965130">
                <a:moveTo>
                  <a:pt x="0" y="0"/>
                </a:moveTo>
                <a:lnTo>
                  <a:pt x="5965130" y="0"/>
                </a:lnTo>
                <a:lnTo>
                  <a:pt x="5965130" y="5010709"/>
                </a:lnTo>
                <a:lnTo>
                  <a:pt x="0" y="5010709"/>
                </a:lnTo>
                <a:lnTo>
                  <a:pt x="0" y="0"/>
                </a:lnTo>
                <a:close/>
              </a:path>
            </a:pathLst>
          </a:custGeom>
          <a:blipFill>
            <a:blip r:embed="rId3"/>
            <a:stretch>
              <a:fillRect l="0" t="0" r="0" b="0"/>
            </a:stretch>
          </a:blipFill>
          <a:ln w="9525" cap="sq">
            <a:solidFill>
              <a:srgbClr val="CFCFCF"/>
            </a:solidFill>
            <a:prstDash val="sysDot"/>
            <a:miter/>
          </a:ln>
        </p:spPr>
      </p:sp>
      <p:grpSp>
        <p:nvGrpSpPr>
          <p:cNvPr name="Group 10" id="10"/>
          <p:cNvGrpSpPr/>
          <p:nvPr/>
        </p:nvGrpSpPr>
        <p:grpSpPr>
          <a:xfrm rot="0">
            <a:off x="5683778" y="1245212"/>
            <a:ext cx="367364" cy="326216"/>
            <a:chOff x="0" y="0"/>
            <a:chExt cx="489819" cy="434955"/>
          </a:xfrm>
        </p:grpSpPr>
        <p:grpSp>
          <p:nvGrpSpPr>
            <p:cNvPr name="Group 11" id="11"/>
            <p:cNvGrpSpPr/>
            <p:nvPr/>
          </p:nvGrpSpPr>
          <p:grpSpPr>
            <a:xfrm rot="0">
              <a:off x="0" y="0"/>
              <a:ext cx="489819" cy="434955"/>
              <a:chOff x="0" y="0"/>
              <a:chExt cx="812800" cy="721760"/>
            </a:xfrm>
          </p:grpSpPr>
          <p:sp>
            <p:nvSpPr>
              <p:cNvPr name="Freeform 12" id="12"/>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gradFill rotWithShape="true">
                <a:gsLst>
                  <a:gs pos="0">
                    <a:srgbClr val="0097B2">
                      <a:alpha val="100000"/>
                    </a:srgbClr>
                  </a:gs>
                  <a:gs pos="100000">
                    <a:srgbClr val="7ED957">
                      <a:alpha val="100000"/>
                    </a:srgbClr>
                  </a:gs>
                </a:gsLst>
                <a:lin ang="0"/>
              </a:gradFill>
            </p:spPr>
          </p:sp>
          <p:sp>
            <p:nvSpPr>
              <p:cNvPr name="TextBox 13" id="13"/>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14" id="14"/>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2</a:t>
              </a:r>
            </a:p>
          </p:txBody>
        </p:sp>
      </p:grpSp>
      <p:sp>
        <p:nvSpPr>
          <p:cNvPr name="Freeform 15" id="15"/>
          <p:cNvSpPr/>
          <p:nvPr/>
        </p:nvSpPr>
        <p:spPr>
          <a:xfrm flipH="false" flipV="false" rot="0">
            <a:off x="12242165" y="1408321"/>
            <a:ext cx="5774495" cy="8298676"/>
          </a:xfrm>
          <a:custGeom>
            <a:avLst/>
            <a:gdLst/>
            <a:ahLst/>
            <a:cxnLst/>
            <a:rect r="r" b="b" t="t" l="l"/>
            <a:pathLst>
              <a:path h="8298676" w="5774495">
                <a:moveTo>
                  <a:pt x="0" y="0"/>
                </a:moveTo>
                <a:lnTo>
                  <a:pt x="5774495" y="0"/>
                </a:lnTo>
                <a:lnTo>
                  <a:pt x="5774495" y="8298676"/>
                </a:lnTo>
                <a:lnTo>
                  <a:pt x="0" y="8298676"/>
                </a:lnTo>
                <a:lnTo>
                  <a:pt x="0" y="0"/>
                </a:lnTo>
                <a:close/>
              </a:path>
            </a:pathLst>
          </a:custGeom>
          <a:blipFill>
            <a:blip r:embed="rId4"/>
            <a:stretch>
              <a:fillRect l="0" t="0" r="0" b="0"/>
            </a:stretch>
          </a:blipFill>
          <a:ln w="9525" cap="sq">
            <a:solidFill>
              <a:srgbClr val="CFCFCF"/>
            </a:solidFill>
            <a:prstDash val="sysDot"/>
            <a:miter/>
          </a:ln>
        </p:spPr>
      </p:sp>
      <p:sp>
        <p:nvSpPr>
          <p:cNvPr name="TextBox 16" id="16"/>
          <p:cNvSpPr txBox="true"/>
          <p:nvPr/>
        </p:nvSpPr>
        <p:spPr>
          <a:xfrm rot="0">
            <a:off x="605154" y="251145"/>
            <a:ext cx="15990534"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Understanding TREFHT Drivers: Correlation and Relationship Patterns</a:t>
            </a:r>
          </a:p>
        </p:txBody>
      </p:sp>
      <p:sp>
        <p:nvSpPr>
          <p:cNvPr name="TextBox 17" id="17"/>
          <p:cNvSpPr txBox="true"/>
          <p:nvPr/>
        </p:nvSpPr>
        <p:spPr>
          <a:xfrm rot="0">
            <a:off x="605154" y="732155"/>
            <a:ext cx="16891759" cy="296545"/>
          </a:xfrm>
          <a:prstGeom prst="rect">
            <a:avLst/>
          </a:prstGeom>
        </p:spPr>
        <p:txBody>
          <a:bodyPr anchor="t" rtlCol="false" tIns="0" lIns="0" bIns="0" rIns="0">
            <a:spAutoFit/>
          </a:bodyPr>
          <a:lstStyle/>
          <a:p>
            <a:pPr algn="just">
              <a:lnSpc>
                <a:spcPts val="2240"/>
              </a:lnSpc>
            </a:pPr>
            <a:r>
              <a:rPr lang="en-US" sz="2000" spc="40">
                <a:solidFill>
                  <a:srgbClr val="FE763A"/>
                </a:solidFill>
                <a:latin typeface="Glacial Indifference"/>
                <a:ea typeface="Glacial Indifference"/>
                <a:cs typeface="Glacial Indifference"/>
                <a:sym typeface="Glacial Indifference"/>
              </a:rPr>
              <a:t>This slide explores how TREFHT relates to key climate variables, highlighting both overall correlations and regional variations across the UK.</a:t>
            </a:r>
          </a:p>
        </p:txBody>
      </p:sp>
      <p:grpSp>
        <p:nvGrpSpPr>
          <p:cNvPr name="Group 18" id="18"/>
          <p:cNvGrpSpPr/>
          <p:nvPr/>
        </p:nvGrpSpPr>
        <p:grpSpPr>
          <a:xfrm rot="0">
            <a:off x="12143716" y="1245212"/>
            <a:ext cx="367364" cy="326216"/>
            <a:chOff x="0" y="0"/>
            <a:chExt cx="489819" cy="434955"/>
          </a:xfrm>
        </p:grpSpPr>
        <p:grpSp>
          <p:nvGrpSpPr>
            <p:cNvPr name="Group 19" id="19"/>
            <p:cNvGrpSpPr/>
            <p:nvPr/>
          </p:nvGrpSpPr>
          <p:grpSpPr>
            <a:xfrm rot="0">
              <a:off x="0" y="0"/>
              <a:ext cx="489819" cy="434955"/>
              <a:chOff x="0" y="0"/>
              <a:chExt cx="812800" cy="721760"/>
            </a:xfrm>
          </p:grpSpPr>
          <p:sp>
            <p:nvSpPr>
              <p:cNvPr name="Freeform 20" id="20"/>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gradFill rotWithShape="true">
                <a:gsLst>
                  <a:gs pos="0">
                    <a:srgbClr val="0097B2">
                      <a:alpha val="100000"/>
                    </a:srgbClr>
                  </a:gs>
                  <a:gs pos="100000">
                    <a:srgbClr val="7ED957">
                      <a:alpha val="100000"/>
                    </a:srgbClr>
                  </a:gs>
                </a:gsLst>
                <a:lin ang="0"/>
              </a:gradFill>
            </p:spPr>
          </p:sp>
          <p:sp>
            <p:nvSpPr>
              <p:cNvPr name="TextBox 21" id="21"/>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22" id="22"/>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3</a:t>
              </a:r>
            </a:p>
          </p:txBody>
        </p:sp>
      </p:grpSp>
      <p:grpSp>
        <p:nvGrpSpPr>
          <p:cNvPr name="Group 23" id="23"/>
          <p:cNvGrpSpPr/>
          <p:nvPr/>
        </p:nvGrpSpPr>
        <p:grpSpPr>
          <a:xfrm rot="0">
            <a:off x="314843" y="7593345"/>
            <a:ext cx="11517747" cy="2513368"/>
            <a:chOff x="0" y="0"/>
            <a:chExt cx="3033481" cy="661957"/>
          </a:xfrm>
        </p:grpSpPr>
        <p:sp>
          <p:nvSpPr>
            <p:cNvPr name="Freeform 24" id="24"/>
            <p:cNvSpPr/>
            <p:nvPr/>
          </p:nvSpPr>
          <p:spPr>
            <a:xfrm flipH="false" flipV="false" rot="0">
              <a:off x="0" y="0"/>
              <a:ext cx="3033481" cy="661957"/>
            </a:xfrm>
            <a:custGeom>
              <a:avLst/>
              <a:gdLst/>
              <a:ahLst/>
              <a:cxnLst/>
              <a:rect r="r" b="b" t="t" l="l"/>
              <a:pathLst>
                <a:path h="661957" w="3033481">
                  <a:moveTo>
                    <a:pt x="0" y="0"/>
                  </a:moveTo>
                  <a:lnTo>
                    <a:pt x="3033481" y="0"/>
                  </a:lnTo>
                  <a:lnTo>
                    <a:pt x="3033481" y="661957"/>
                  </a:lnTo>
                  <a:lnTo>
                    <a:pt x="0" y="661957"/>
                  </a:lnTo>
                  <a:close/>
                </a:path>
              </a:pathLst>
            </a:custGeom>
            <a:solidFill>
              <a:srgbClr val="000000">
                <a:alpha val="0"/>
              </a:srgbClr>
            </a:solidFill>
            <a:ln w="38100" cap="sq">
              <a:solidFill>
                <a:srgbClr val="BABABA"/>
              </a:solidFill>
              <a:prstDash val="lgDash"/>
              <a:miter/>
            </a:ln>
          </p:spPr>
        </p:sp>
        <p:sp>
          <p:nvSpPr>
            <p:cNvPr name="TextBox 25" id="25"/>
            <p:cNvSpPr txBox="true"/>
            <p:nvPr/>
          </p:nvSpPr>
          <p:spPr>
            <a:xfrm>
              <a:off x="0" y="19050"/>
              <a:ext cx="3033481" cy="642907"/>
            </a:xfrm>
            <a:prstGeom prst="rect">
              <a:avLst/>
            </a:prstGeom>
          </p:spPr>
          <p:txBody>
            <a:bodyPr anchor="ctr" rtlCol="false" tIns="50800" lIns="50800" bIns="50800" rIns="50800"/>
            <a:lstStyle/>
            <a:p>
              <a:pPr algn="ctr">
                <a:lnSpc>
                  <a:spcPts val="1895"/>
                </a:lnSpc>
              </a:pPr>
            </a:p>
          </p:txBody>
        </p:sp>
      </p:grpSp>
      <p:grpSp>
        <p:nvGrpSpPr>
          <p:cNvPr name="Group 26" id="26"/>
          <p:cNvGrpSpPr/>
          <p:nvPr/>
        </p:nvGrpSpPr>
        <p:grpSpPr>
          <a:xfrm rot="0">
            <a:off x="536581" y="7364745"/>
            <a:ext cx="2053141" cy="446151"/>
            <a:chOff x="0" y="0"/>
            <a:chExt cx="540745" cy="117505"/>
          </a:xfrm>
        </p:grpSpPr>
        <p:sp>
          <p:nvSpPr>
            <p:cNvPr name="Freeform 27" id="27"/>
            <p:cNvSpPr/>
            <p:nvPr/>
          </p:nvSpPr>
          <p:spPr>
            <a:xfrm flipH="false" flipV="false" rot="0">
              <a:off x="0" y="0"/>
              <a:ext cx="540745" cy="117505"/>
            </a:xfrm>
            <a:custGeom>
              <a:avLst/>
              <a:gdLst/>
              <a:ahLst/>
              <a:cxnLst/>
              <a:rect r="r" b="b" t="t" l="l"/>
              <a:pathLst>
                <a:path h="117505" w="540745">
                  <a:moveTo>
                    <a:pt x="30166" y="0"/>
                  </a:moveTo>
                  <a:lnTo>
                    <a:pt x="510579" y="0"/>
                  </a:lnTo>
                  <a:cubicBezTo>
                    <a:pt x="518579" y="0"/>
                    <a:pt x="526252" y="3178"/>
                    <a:pt x="531909" y="8835"/>
                  </a:cubicBezTo>
                  <a:cubicBezTo>
                    <a:pt x="537567" y="14493"/>
                    <a:pt x="540745" y="22166"/>
                    <a:pt x="540745" y="30166"/>
                  </a:cubicBezTo>
                  <a:lnTo>
                    <a:pt x="540745" y="87339"/>
                  </a:lnTo>
                  <a:cubicBezTo>
                    <a:pt x="540745" y="95339"/>
                    <a:pt x="537567" y="103012"/>
                    <a:pt x="531909" y="108669"/>
                  </a:cubicBezTo>
                  <a:cubicBezTo>
                    <a:pt x="526252" y="114327"/>
                    <a:pt x="518579" y="117505"/>
                    <a:pt x="510579" y="117505"/>
                  </a:cubicBezTo>
                  <a:lnTo>
                    <a:pt x="30166" y="117505"/>
                  </a:lnTo>
                  <a:cubicBezTo>
                    <a:pt x="22166" y="117505"/>
                    <a:pt x="14493" y="114327"/>
                    <a:pt x="8835" y="108669"/>
                  </a:cubicBezTo>
                  <a:cubicBezTo>
                    <a:pt x="3178" y="103012"/>
                    <a:pt x="0" y="95339"/>
                    <a:pt x="0" y="87339"/>
                  </a:cubicBezTo>
                  <a:lnTo>
                    <a:pt x="0" y="30166"/>
                  </a:lnTo>
                  <a:cubicBezTo>
                    <a:pt x="0" y="22166"/>
                    <a:pt x="3178" y="14493"/>
                    <a:pt x="8835" y="8835"/>
                  </a:cubicBezTo>
                  <a:cubicBezTo>
                    <a:pt x="14493" y="3178"/>
                    <a:pt x="22166" y="0"/>
                    <a:pt x="30166" y="0"/>
                  </a:cubicBezTo>
                  <a:close/>
                </a:path>
              </a:pathLst>
            </a:custGeom>
            <a:solidFill>
              <a:srgbClr val="F34D24"/>
            </a:solidFill>
          </p:spPr>
        </p:sp>
        <p:sp>
          <p:nvSpPr>
            <p:cNvPr name="TextBox 28" id="28"/>
            <p:cNvSpPr txBox="true"/>
            <p:nvPr/>
          </p:nvSpPr>
          <p:spPr>
            <a:xfrm>
              <a:off x="0" y="0"/>
              <a:ext cx="540745" cy="117505"/>
            </a:xfrm>
            <a:prstGeom prst="rect">
              <a:avLst/>
            </a:prstGeom>
          </p:spPr>
          <p:txBody>
            <a:bodyPr anchor="ctr" rtlCol="false" tIns="50800" lIns="50800" bIns="50800" rIns="50800"/>
            <a:lstStyle/>
            <a:p>
              <a:pPr algn="ctr">
                <a:lnSpc>
                  <a:spcPts val="1680"/>
                </a:lnSpc>
              </a:pPr>
              <a:r>
                <a:rPr lang="en-US" b="true" sz="1500" spc="30">
                  <a:solidFill>
                    <a:srgbClr val="FFFFFF"/>
                  </a:solidFill>
                  <a:latin typeface="Poppins Bold"/>
                  <a:ea typeface="Poppins Bold"/>
                  <a:cs typeface="Poppins Bold"/>
                  <a:sym typeface="Poppins Bold"/>
                </a:rPr>
                <a:t>Key Takeaways</a:t>
              </a:r>
            </a:p>
          </p:txBody>
        </p:sp>
      </p:grpSp>
      <p:sp>
        <p:nvSpPr>
          <p:cNvPr name="TextBox 29" id="29"/>
          <p:cNvSpPr txBox="true"/>
          <p:nvPr/>
        </p:nvSpPr>
        <p:spPr>
          <a:xfrm rot="0">
            <a:off x="536581" y="7953771"/>
            <a:ext cx="11042192" cy="2379392"/>
          </a:xfrm>
          <a:prstGeom prst="rect">
            <a:avLst/>
          </a:prstGeom>
        </p:spPr>
        <p:txBody>
          <a:bodyPr anchor="t" rtlCol="false" tIns="0" lIns="0" bIns="0" rIns="0">
            <a:spAutoFit/>
          </a:bodyPr>
          <a:lstStyle/>
          <a:p>
            <a:pPr algn="l">
              <a:lnSpc>
                <a:spcPts val="1895"/>
              </a:lnSpc>
            </a:pPr>
            <a:r>
              <a:rPr lang="en-US" sz="1692" spc="33">
                <a:solidFill>
                  <a:srgbClr val="000000"/>
                </a:solidFill>
                <a:latin typeface="Glacial Indifference"/>
                <a:ea typeface="Glacial Indifference"/>
                <a:cs typeface="Glacial Indifference"/>
                <a:sym typeface="Glacial Indifference"/>
              </a:rPr>
              <a:t>(1) TREFHT Shows Mixed Linear and Nonlinear Relationships with Predictors</a:t>
            </a:r>
          </a:p>
          <a:p>
            <a:pPr algn="l">
              <a:lnSpc>
                <a:spcPts val="1895"/>
              </a:lnSpc>
            </a:pPr>
          </a:p>
          <a:p>
            <a:pPr algn="l">
              <a:lnSpc>
                <a:spcPts val="1895"/>
              </a:lnSpc>
            </a:pPr>
            <a:r>
              <a:rPr lang="en-US" sz="1692" spc="33">
                <a:solidFill>
                  <a:srgbClr val="000000"/>
                </a:solidFill>
                <a:latin typeface="Glacial Indifference"/>
                <a:ea typeface="Glacial Indifference"/>
                <a:cs typeface="Glacial Indifference"/>
                <a:sym typeface="Glacial Indifference"/>
              </a:rPr>
              <a:t>(2) QBOT/humidity (ρ = 0.97), PRSN/snowfall rate (ρ = -0.76), and FSNS/solar flux (ρ = 0.70) have the strongest correlation with TREFHT</a:t>
            </a:r>
          </a:p>
          <a:p>
            <a:pPr algn="l">
              <a:lnSpc>
                <a:spcPts val="1895"/>
              </a:lnSpc>
            </a:pPr>
          </a:p>
          <a:p>
            <a:pPr algn="l">
              <a:lnSpc>
                <a:spcPts val="1895"/>
              </a:lnSpc>
            </a:pPr>
            <a:r>
              <a:rPr lang="en-US" sz="1692" spc="33">
                <a:solidFill>
                  <a:srgbClr val="000000"/>
                </a:solidFill>
                <a:latin typeface="Glacial Indifference"/>
                <a:ea typeface="Glacial Indifference"/>
                <a:cs typeface="Glacial Indifference"/>
                <a:sym typeface="Glacial Indifference"/>
              </a:rPr>
              <a:t>(3) Compare spearman correlation matrix across all locations to see if the key factors are consistent: QBOT, FSNS, and PRSN consistently correlate strongly with TREFHT across locations, while FLNS and wind variables vary more by region. This suggests core drivers are stable, but some effects are location-dependent.</a:t>
            </a:r>
          </a:p>
          <a:p>
            <a:pPr algn="l">
              <a:lnSpc>
                <a:spcPts val="1895"/>
              </a:lnSpc>
              <a:spcBef>
                <a:spcPct val="0"/>
              </a:spcBef>
            </a:pPr>
          </a:p>
          <a:p>
            <a:pPr algn="l">
              <a:lnSpc>
                <a:spcPts val="1895"/>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5154" y="3920846"/>
            <a:ext cx="6632056" cy="2735723"/>
          </a:xfrm>
          <a:custGeom>
            <a:avLst/>
            <a:gdLst/>
            <a:ahLst/>
            <a:cxnLst/>
            <a:rect r="r" b="b" t="t" l="l"/>
            <a:pathLst>
              <a:path h="2735723" w="6632056">
                <a:moveTo>
                  <a:pt x="0" y="0"/>
                </a:moveTo>
                <a:lnTo>
                  <a:pt x="6632056" y="0"/>
                </a:lnTo>
                <a:lnTo>
                  <a:pt x="6632056" y="2735723"/>
                </a:lnTo>
                <a:lnTo>
                  <a:pt x="0" y="2735723"/>
                </a:lnTo>
                <a:lnTo>
                  <a:pt x="0" y="0"/>
                </a:lnTo>
                <a:close/>
              </a:path>
            </a:pathLst>
          </a:custGeom>
          <a:blipFill>
            <a:blip r:embed="rId2"/>
            <a:stretch>
              <a:fillRect l="0" t="0" r="0" b="0"/>
            </a:stretch>
          </a:blipFill>
        </p:spPr>
      </p:sp>
      <p:sp>
        <p:nvSpPr>
          <p:cNvPr name="Freeform 3" id="3"/>
          <p:cNvSpPr/>
          <p:nvPr/>
        </p:nvSpPr>
        <p:spPr>
          <a:xfrm flipH="false" flipV="false" rot="0">
            <a:off x="605154" y="7029163"/>
            <a:ext cx="6577131" cy="2704845"/>
          </a:xfrm>
          <a:custGeom>
            <a:avLst/>
            <a:gdLst/>
            <a:ahLst/>
            <a:cxnLst/>
            <a:rect r="r" b="b" t="t" l="l"/>
            <a:pathLst>
              <a:path h="2704845" w="6577131">
                <a:moveTo>
                  <a:pt x="0" y="0"/>
                </a:moveTo>
                <a:lnTo>
                  <a:pt x="6577131" y="0"/>
                </a:lnTo>
                <a:lnTo>
                  <a:pt x="6577131" y="2704845"/>
                </a:lnTo>
                <a:lnTo>
                  <a:pt x="0" y="2704845"/>
                </a:lnTo>
                <a:lnTo>
                  <a:pt x="0" y="0"/>
                </a:lnTo>
                <a:close/>
              </a:path>
            </a:pathLst>
          </a:custGeom>
          <a:blipFill>
            <a:blip r:embed="rId3"/>
            <a:stretch>
              <a:fillRect l="0" t="0" r="0" b="0"/>
            </a:stretch>
          </a:blipFill>
        </p:spPr>
      </p:sp>
      <p:sp>
        <p:nvSpPr>
          <p:cNvPr name="Freeform 4" id="4"/>
          <p:cNvSpPr/>
          <p:nvPr/>
        </p:nvSpPr>
        <p:spPr>
          <a:xfrm flipH="false" flipV="false" rot="0">
            <a:off x="7856877" y="1122488"/>
            <a:ext cx="4311514" cy="3622869"/>
          </a:xfrm>
          <a:custGeom>
            <a:avLst/>
            <a:gdLst/>
            <a:ahLst/>
            <a:cxnLst/>
            <a:rect r="r" b="b" t="t" l="l"/>
            <a:pathLst>
              <a:path h="3622869" w="4311514">
                <a:moveTo>
                  <a:pt x="0" y="0"/>
                </a:moveTo>
                <a:lnTo>
                  <a:pt x="4311514" y="0"/>
                </a:lnTo>
                <a:lnTo>
                  <a:pt x="4311514" y="3622869"/>
                </a:lnTo>
                <a:lnTo>
                  <a:pt x="0" y="3622869"/>
                </a:lnTo>
                <a:lnTo>
                  <a:pt x="0" y="0"/>
                </a:lnTo>
                <a:close/>
              </a:path>
            </a:pathLst>
          </a:custGeom>
          <a:blipFill>
            <a:blip r:embed="rId4"/>
            <a:stretch>
              <a:fillRect l="0" t="0" r="0" b="0"/>
            </a:stretch>
          </a:blipFill>
        </p:spPr>
      </p:sp>
      <p:sp>
        <p:nvSpPr>
          <p:cNvPr name="Freeform 5" id="5"/>
          <p:cNvSpPr/>
          <p:nvPr/>
        </p:nvSpPr>
        <p:spPr>
          <a:xfrm flipH="false" flipV="false" rot="0">
            <a:off x="13012841" y="1122488"/>
            <a:ext cx="4970536" cy="3529081"/>
          </a:xfrm>
          <a:custGeom>
            <a:avLst/>
            <a:gdLst/>
            <a:ahLst/>
            <a:cxnLst/>
            <a:rect r="r" b="b" t="t" l="l"/>
            <a:pathLst>
              <a:path h="3529081" w="4970536">
                <a:moveTo>
                  <a:pt x="0" y="0"/>
                </a:moveTo>
                <a:lnTo>
                  <a:pt x="4970537" y="0"/>
                </a:lnTo>
                <a:lnTo>
                  <a:pt x="4970537" y="3529081"/>
                </a:lnTo>
                <a:lnTo>
                  <a:pt x="0" y="3529081"/>
                </a:lnTo>
                <a:lnTo>
                  <a:pt x="0" y="0"/>
                </a:lnTo>
                <a:close/>
              </a:path>
            </a:pathLst>
          </a:custGeom>
          <a:blipFill>
            <a:blip r:embed="rId5"/>
            <a:stretch>
              <a:fillRect l="0" t="0" r="0" b="0"/>
            </a:stretch>
          </a:blipFill>
        </p:spPr>
      </p:sp>
      <p:sp>
        <p:nvSpPr>
          <p:cNvPr name="AutoShape 6" id="6"/>
          <p:cNvSpPr/>
          <p:nvPr/>
        </p:nvSpPr>
        <p:spPr>
          <a:xfrm>
            <a:off x="405059" y="307345"/>
            <a:ext cx="0" cy="815143"/>
          </a:xfrm>
          <a:prstGeom prst="line">
            <a:avLst/>
          </a:prstGeom>
          <a:ln cap="flat" w="47625">
            <a:solidFill>
              <a:srgbClr val="206648"/>
            </a:solidFill>
            <a:prstDash val="solid"/>
            <a:headEnd type="none" len="sm" w="sm"/>
            <a:tailEnd type="none" len="sm" w="sm"/>
          </a:ln>
        </p:spPr>
      </p:sp>
      <p:sp>
        <p:nvSpPr>
          <p:cNvPr name="Freeform 7" id="7"/>
          <p:cNvSpPr/>
          <p:nvPr/>
        </p:nvSpPr>
        <p:spPr>
          <a:xfrm flipH="false" flipV="false" rot="0">
            <a:off x="605154" y="1028700"/>
            <a:ext cx="6577131" cy="2633644"/>
          </a:xfrm>
          <a:custGeom>
            <a:avLst/>
            <a:gdLst/>
            <a:ahLst/>
            <a:cxnLst/>
            <a:rect r="r" b="b" t="t" l="l"/>
            <a:pathLst>
              <a:path h="2633644" w="6577131">
                <a:moveTo>
                  <a:pt x="0" y="0"/>
                </a:moveTo>
                <a:lnTo>
                  <a:pt x="6577131" y="0"/>
                </a:lnTo>
                <a:lnTo>
                  <a:pt x="6577131" y="2633644"/>
                </a:lnTo>
                <a:lnTo>
                  <a:pt x="0" y="2633644"/>
                </a:lnTo>
                <a:lnTo>
                  <a:pt x="0" y="0"/>
                </a:lnTo>
                <a:close/>
              </a:path>
            </a:pathLst>
          </a:custGeom>
          <a:blipFill>
            <a:blip r:embed="rId6"/>
            <a:stretch>
              <a:fillRect l="0" t="-1351" r="0" b="-1351"/>
            </a:stretch>
          </a:blipFill>
        </p:spPr>
      </p:sp>
      <p:sp>
        <p:nvSpPr>
          <p:cNvPr name="TextBox 8" id="8"/>
          <p:cNvSpPr txBox="true"/>
          <p:nvPr/>
        </p:nvSpPr>
        <p:spPr>
          <a:xfrm rot="0">
            <a:off x="17259300" y="983137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Glacial Indifference Bold"/>
                <a:ea typeface="Glacial Indifference Bold"/>
                <a:cs typeface="Glacial Indifference Bold"/>
                <a:sym typeface="Glacial Indifference Bold"/>
              </a:rPr>
              <a:t>1</a:t>
            </a:r>
          </a:p>
        </p:txBody>
      </p:sp>
      <p:sp>
        <p:nvSpPr>
          <p:cNvPr name="TextBox 9" id="9"/>
          <p:cNvSpPr txBox="true"/>
          <p:nvPr/>
        </p:nvSpPr>
        <p:spPr>
          <a:xfrm rot="0">
            <a:off x="7856877" y="5887552"/>
            <a:ext cx="9402423" cy="3370748"/>
          </a:xfrm>
          <a:prstGeom prst="rect">
            <a:avLst/>
          </a:prstGeom>
        </p:spPr>
        <p:txBody>
          <a:bodyPr anchor="t" rtlCol="false" tIns="0" lIns="0" bIns="0" rIns="0">
            <a:spAutoFit/>
          </a:bodyPr>
          <a:lstStyle/>
          <a:p>
            <a:pPr algn="ctr" marL="477183" indent="-238591" lvl="1">
              <a:lnSpc>
                <a:spcPts val="2475"/>
              </a:lnSpc>
              <a:buFont typeface="Arial"/>
              <a:buChar char="•"/>
            </a:pPr>
            <a:r>
              <a:rPr lang="en-US" sz="2210" spc="44">
                <a:solidFill>
                  <a:srgbClr val="000000"/>
                </a:solidFill>
                <a:latin typeface="Glacial Indifference"/>
                <a:ea typeface="Glacial Indifference"/>
                <a:cs typeface="Glacial Indifference"/>
                <a:sym typeface="Glacial Indifference"/>
              </a:rPr>
              <a:t>Annual mean soil and air temperature show simiar trends over time with a steady increase between 2006-2024 at a similar rate (approx. 0.03 Celsius/year).</a:t>
            </a:r>
          </a:p>
          <a:p>
            <a:pPr algn="ctr" marL="477183" indent="-238591" lvl="1">
              <a:lnSpc>
                <a:spcPts val="2475"/>
              </a:lnSpc>
              <a:buFont typeface="Arial"/>
              <a:buChar char="•"/>
            </a:pPr>
            <a:r>
              <a:rPr lang="en-US" sz="2210" spc="44">
                <a:solidFill>
                  <a:srgbClr val="000000"/>
                </a:solidFill>
                <a:latin typeface="Glacial Indifference"/>
                <a:ea typeface="Glacial Indifference"/>
                <a:cs typeface="Glacial Indifference"/>
                <a:sym typeface="Glacial Indifference"/>
              </a:rPr>
              <a:t>These two variables show a strong positive correlation</a:t>
            </a:r>
          </a:p>
          <a:p>
            <a:pPr algn="ctr" marL="477183" indent="-238591" lvl="1">
              <a:lnSpc>
                <a:spcPts val="2475"/>
              </a:lnSpc>
              <a:buFont typeface="Arial"/>
              <a:buChar char="•"/>
            </a:pPr>
            <a:r>
              <a:rPr lang="en-US" sz="2210" spc="44">
                <a:solidFill>
                  <a:srgbClr val="000000"/>
                </a:solidFill>
                <a:latin typeface="Glacial Indifference"/>
                <a:ea typeface="Glacial Indifference"/>
                <a:cs typeface="Glacial Indifference"/>
                <a:sym typeface="Glacial Indifference"/>
              </a:rPr>
              <a:t>As temperatures have risen, soil moisture has slowly decreased, showing a weak-to-moderate negative correlation with both temperature variables</a:t>
            </a:r>
          </a:p>
          <a:p>
            <a:pPr algn="ctr" marL="477183" indent="-238591" lvl="1">
              <a:lnSpc>
                <a:spcPts val="2475"/>
              </a:lnSpc>
              <a:buFont typeface="Arial"/>
              <a:buChar char="•"/>
            </a:pPr>
            <a:r>
              <a:rPr lang="en-US" sz="2210" spc="44">
                <a:solidFill>
                  <a:srgbClr val="000000"/>
                </a:solidFill>
                <a:latin typeface="Glacial Indifference"/>
                <a:ea typeface="Glacial Indifference"/>
                <a:cs typeface="Glacial Indifference"/>
                <a:sym typeface="Glacial Indifference"/>
              </a:rPr>
              <a:t>Soil moisture trending towards 0.2 m³/m³ which would be where plants begin to experience water stress, especially during dry periods</a:t>
            </a:r>
          </a:p>
          <a:p>
            <a:pPr algn="ctr" marL="477183" indent="-238591" lvl="1">
              <a:lnSpc>
                <a:spcPts val="2475"/>
              </a:lnSpc>
              <a:spcBef>
                <a:spcPct val="0"/>
              </a:spcBef>
              <a:buFont typeface="Arial"/>
              <a:buChar char="•"/>
            </a:pPr>
            <a:r>
              <a:rPr lang="en-US" sz="2210" spc="44">
                <a:solidFill>
                  <a:srgbClr val="000000"/>
                </a:solidFill>
                <a:latin typeface="Glacial Indifference"/>
                <a:ea typeface="Glacial Indifference"/>
                <a:cs typeface="Glacial Indifference"/>
                <a:sym typeface="Glacial Indifference"/>
              </a:rPr>
              <a:t>Should water moisture drop below 0.1, the soil will become very dry, posing serious risks such as drought and crop failure</a:t>
            </a:r>
          </a:p>
        </p:txBody>
      </p:sp>
      <p:sp>
        <p:nvSpPr>
          <p:cNvPr name="TextBox 10" id="10"/>
          <p:cNvSpPr txBox="true"/>
          <p:nvPr/>
        </p:nvSpPr>
        <p:spPr>
          <a:xfrm rot="0">
            <a:off x="605154" y="251145"/>
            <a:ext cx="15990534"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Understanding Topsoil Temperature &amp; Moisture: Correlations &amp; Trends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86806" y="2307906"/>
            <a:ext cx="573153" cy="57315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1</a:t>
              </a:r>
            </a:p>
          </p:txBody>
        </p:sp>
      </p:grpSp>
      <p:sp>
        <p:nvSpPr>
          <p:cNvPr name="TextBox 5" id="5"/>
          <p:cNvSpPr txBox="true"/>
          <p:nvPr/>
        </p:nvSpPr>
        <p:spPr>
          <a:xfrm rot="0">
            <a:off x="1786806" y="581025"/>
            <a:ext cx="16262613" cy="1149348"/>
          </a:xfrm>
          <a:prstGeom prst="rect">
            <a:avLst/>
          </a:prstGeom>
        </p:spPr>
        <p:txBody>
          <a:bodyPr anchor="t" rtlCol="false" tIns="0" lIns="0" bIns="0" rIns="0">
            <a:spAutoFit/>
          </a:bodyPr>
          <a:lstStyle/>
          <a:p>
            <a:pPr algn="l" marL="0" indent="0" lvl="0">
              <a:lnSpc>
                <a:spcPts val="8799"/>
              </a:lnSpc>
            </a:pPr>
            <a:r>
              <a:rPr lang="en-US" b="true" sz="7999">
                <a:solidFill>
                  <a:srgbClr val="004247"/>
                </a:solidFill>
                <a:latin typeface="Glacial Indifference Bold"/>
                <a:ea typeface="Glacial Indifference Bold"/>
                <a:cs typeface="Glacial Indifference Bold"/>
                <a:sym typeface="Glacial Indifference Bold"/>
              </a:rPr>
              <a:t>Agenda</a:t>
            </a:r>
          </a:p>
        </p:txBody>
      </p:sp>
      <p:sp>
        <p:nvSpPr>
          <p:cNvPr name="TextBox 6" id="6"/>
          <p:cNvSpPr txBox="true"/>
          <p:nvPr/>
        </p:nvSpPr>
        <p:spPr>
          <a:xfrm rot="0">
            <a:off x="2854410" y="2410014"/>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Background</a:t>
            </a:r>
          </a:p>
        </p:txBody>
      </p:sp>
      <p:sp>
        <p:nvSpPr>
          <p:cNvPr name="TextBox 7" id="7"/>
          <p:cNvSpPr txBox="true"/>
          <p:nvPr/>
        </p:nvSpPr>
        <p:spPr>
          <a:xfrm rot="0">
            <a:off x="2854410" y="3089656"/>
            <a:ext cx="11195719"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Scope</a:t>
            </a:r>
          </a:p>
        </p:txBody>
      </p:sp>
      <p:sp>
        <p:nvSpPr>
          <p:cNvPr name="TextBox 8" id="8"/>
          <p:cNvSpPr txBox="true"/>
          <p:nvPr/>
        </p:nvSpPr>
        <p:spPr>
          <a:xfrm rot="0">
            <a:off x="2854410" y="3772916"/>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Methodology</a:t>
            </a:r>
          </a:p>
        </p:txBody>
      </p:sp>
      <p:sp>
        <p:nvSpPr>
          <p:cNvPr name="TextBox 9" id="9"/>
          <p:cNvSpPr txBox="true"/>
          <p:nvPr/>
        </p:nvSpPr>
        <p:spPr>
          <a:xfrm rot="0">
            <a:off x="2854410" y="4445511"/>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The Datasets</a:t>
            </a:r>
          </a:p>
        </p:txBody>
      </p:sp>
      <p:sp>
        <p:nvSpPr>
          <p:cNvPr name="TextBox 10" id="10"/>
          <p:cNvSpPr txBox="true"/>
          <p:nvPr/>
        </p:nvSpPr>
        <p:spPr>
          <a:xfrm rot="0">
            <a:off x="2854410" y="518077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Data Preprocessing</a:t>
            </a:r>
          </a:p>
        </p:txBody>
      </p:sp>
      <p:sp>
        <p:nvSpPr>
          <p:cNvPr name="TextBox 11" id="11"/>
          <p:cNvSpPr txBox="true"/>
          <p:nvPr/>
        </p:nvSpPr>
        <p:spPr>
          <a:xfrm rot="0">
            <a:off x="2854410" y="5911662"/>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Exploratory Data Analysis</a:t>
            </a:r>
          </a:p>
        </p:txBody>
      </p:sp>
      <p:sp>
        <p:nvSpPr>
          <p:cNvPr name="TextBox 12" id="12"/>
          <p:cNvSpPr txBox="true"/>
          <p:nvPr/>
        </p:nvSpPr>
        <p:spPr>
          <a:xfrm rot="0">
            <a:off x="2854410" y="6589590"/>
            <a:ext cx="14621406" cy="397510"/>
          </a:xfrm>
          <a:prstGeom prst="rect">
            <a:avLst/>
          </a:prstGeom>
        </p:spPr>
        <p:txBody>
          <a:bodyPr anchor="t" rtlCol="false" tIns="0" lIns="0" bIns="0" rIns="0">
            <a:spAutoFit/>
          </a:bodyPr>
          <a:lstStyle/>
          <a:p>
            <a:pPr algn="l" marL="0" indent="0" lvl="0">
              <a:lnSpc>
                <a:spcPts val="3080"/>
              </a:lnSpc>
            </a:pPr>
            <a:r>
              <a:rPr lang="en-US" b="true" sz="2800">
                <a:solidFill>
                  <a:srgbClr val="000000"/>
                </a:solidFill>
                <a:latin typeface="Glacial Indifference Bold"/>
                <a:ea typeface="Glacial Indifference Bold"/>
                <a:cs typeface="Glacial Indifference Bold"/>
                <a:sym typeface="Glacial Indifference Bold"/>
              </a:rPr>
              <a:t>Model Development</a:t>
            </a:r>
          </a:p>
        </p:txBody>
      </p:sp>
      <p:sp>
        <p:nvSpPr>
          <p:cNvPr name="TextBox 13" id="13"/>
          <p:cNvSpPr txBox="true"/>
          <p:nvPr/>
        </p:nvSpPr>
        <p:spPr>
          <a:xfrm rot="0">
            <a:off x="2854410" y="732466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Key Findings </a:t>
            </a:r>
          </a:p>
        </p:txBody>
      </p:sp>
      <p:sp>
        <p:nvSpPr>
          <p:cNvPr name="TextBox 14" id="14"/>
          <p:cNvSpPr txBox="true"/>
          <p:nvPr/>
        </p:nvSpPr>
        <p:spPr>
          <a:xfrm rot="0">
            <a:off x="2854410" y="8023604"/>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Further Research</a:t>
            </a:r>
          </a:p>
        </p:txBody>
      </p:sp>
      <p:grpSp>
        <p:nvGrpSpPr>
          <p:cNvPr name="Group 15" id="15"/>
          <p:cNvGrpSpPr/>
          <p:nvPr/>
        </p:nvGrpSpPr>
        <p:grpSpPr>
          <a:xfrm rot="0">
            <a:off x="1786806" y="2987547"/>
            <a:ext cx="573153" cy="57315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2</a:t>
              </a:r>
            </a:p>
          </p:txBody>
        </p:sp>
      </p:grpSp>
      <p:grpSp>
        <p:nvGrpSpPr>
          <p:cNvPr name="Group 18" id="18"/>
          <p:cNvGrpSpPr/>
          <p:nvPr/>
        </p:nvGrpSpPr>
        <p:grpSpPr>
          <a:xfrm rot="0">
            <a:off x="1786806" y="3665475"/>
            <a:ext cx="573153" cy="57315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0" id="20"/>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3</a:t>
              </a:r>
            </a:p>
          </p:txBody>
        </p:sp>
      </p:grpSp>
      <p:grpSp>
        <p:nvGrpSpPr>
          <p:cNvPr name="Group 21" id="21"/>
          <p:cNvGrpSpPr/>
          <p:nvPr/>
        </p:nvGrpSpPr>
        <p:grpSpPr>
          <a:xfrm rot="0">
            <a:off x="1786806" y="4343402"/>
            <a:ext cx="573153" cy="57315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3" id="23"/>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4</a:t>
              </a:r>
            </a:p>
          </p:txBody>
        </p:sp>
      </p:grpSp>
      <p:grpSp>
        <p:nvGrpSpPr>
          <p:cNvPr name="Group 24" id="24"/>
          <p:cNvGrpSpPr/>
          <p:nvPr/>
        </p:nvGrpSpPr>
        <p:grpSpPr>
          <a:xfrm rot="0">
            <a:off x="1786806" y="5074476"/>
            <a:ext cx="573153" cy="57315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6" id="26"/>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5</a:t>
              </a:r>
            </a:p>
          </p:txBody>
        </p:sp>
      </p:grpSp>
      <p:grpSp>
        <p:nvGrpSpPr>
          <p:cNvPr name="Group 27" id="27"/>
          <p:cNvGrpSpPr/>
          <p:nvPr/>
        </p:nvGrpSpPr>
        <p:grpSpPr>
          <a:xfrm rot="0">
            <a:off x="1786806" y="5809553"/>
            <a:ext cx="573153" cy="57315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9" id="29"/>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6</a:t>
              </a:r>
            </a:p>
          </p:txBody>
        </p:sp>
      </p:grpSp>
      <p:grpSp>
        <p:nvGrpSpPr>
          <p:cNvPr name="Group 30" id="30"/>
          <p:cNvGrpSpPr/>
          <p:nvPr/>
        </p:nvGrpSpPr>
        <p:grpSpPr>
          <a:xfrm rot="0">
            <a:off x="1786806" y="6487481"/>
            <a:ext cx="573153" cy="57315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4D24"/>
            </a:solidFill>
          </p:spPr>
        </p:sp>
        <p:sp>
          <p:nvSpPr>
            <p:cNvPr name="TextBox 32" id="32"/>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7</a:t>
              </a:r>
            </a:p>
          </p:txBody>
        </p:sp>
      </p:grpSp>
      <p:grpSp>
        <p:nvGrpSpPr>
          <p:cNvPr name="Group 33" id="33"/>
          <p:cNvGrpSpPr/>
          <p:nvPr/>
        </p:nvGrpSpPr>
        <p:grpSpPr>
          <a:xfrm rot="0">
            <a:off x="1786806" y="7222558"/>
            <a:ext cx="573153" cy="573153"/>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5" id="35"/>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8</a:t>
              </a:r>
            </a:p>
          </p:txBody>
        </p:sp>
      </p:grpSp>
      <p:grpSp>
        <p:nvGrpSpPr>
          <p:cNvPr name="Group 36" id="36"/>
          <p:cNvGrpSpPr/>
          <p:nvPr/>
        </p:nvGrpSpPr>
        <p:grpSpPr>
          <a:xfrm rot="0">
            <a:off x="1786806" y="7921495"/>
            <a:ext cx="573153" cy="57315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8" id="38"/>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9</a:t>
              </a:r>
            </a:p>
          </p:txBody>
        </p:sp>
      </p:grpSp>
      <p:pic>
        <p:nvPicPr>
          <p:cNvPr name="Picture 39" id="39"/>
          <p:cNvPicPr>
            <a:picLocks noChangeAspect="true"/>
          </p:cNvPicPr>
          <p:nvPr/>
        </p:nvPicPr>
        <p:blipFill>
          <a:blip r:embed="rId2"/>
          <a:stretch>
            <a:fillRect/>
          </a:stretch>
        </p:blipFill>
        <p:spPr>
          <a:xfrm rot="0">
            <a:off x="5718054" y="312264"/>
            <a:ext cx="5116406" cy="1620195"/>
          </a:xfrm>
          <a:prstGeom prst="rect">
            <a:avLst/>
          </a:prstGeom>
        </p:spPr>
      </p:pic>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343033" y="423189"/>
            <a:ext cx="0" cy="815143"/>
          </a:xfrm>
          <a:prstGeom prst="line">
            <a:avLst/>
          </a:prstGeom>
          <a:ln cap="flat" w="47625">
            <a:solidFill>
              <a:srgbClr val="206648"/>
            </a:solidFill>
            <a:prstDash val="solid"/>
            <a:headEnd type="none" len="sm" w="sm"/>
            <a:tailEnd type="none" len="sm" w="sm"/>
          </a:ln>
        </p:spPr>
      </p:sp>
      <p:grpSp>
        <p:nvGrpSpPr>
          <p:cNvPr name="Group 3" id="3"/>
          <p:cNvGrpSpPr/>
          <p:nvPr/>
        </p:nvGrpSpPr>
        <p:grpSpPr>
          <a:xfrm rot="0">
            <a:off x="287298" y="1914576"/>
            <a:ext cx="17623104" cy="3476625"/>
            <a:chOff x="0" y="0"/>
            <a:chExt cx="4641476" cy="915654"/>
          </a:xfrm>
        </p:grpSpPr>
        <p:sp>
          <p:nvSpPr>
            <p:cNvPr name="Freeform 4" id="4"/>
            <p:cNvSpPr/>
            <p:nvPr/>
          </p:nvSpPr>
          <p:spPr>
            <a:xfrm flipH="false" flipV="false" rot="0">
              <a:off x="0" y="0"/>
              <a:ext cx="4641476" cy="915654"/>
            </a:xfrm>
            <a:custGeom>
              <a:avLst/>
              <a:gdLst/>
              <a:ahLst/>
              <a:cxnLst/>
              <a:rect r="r" b="b" t="t" l="l"/>
              <a:pathLst>
                <a:path h="915654" w="4641476">
                  <a:moveTo>
                    <a:pt x="0" y="0"/>
                  </a:moveTo>
                  <a:lnTo>
                    <a:pt x="4641476" y="0"/>
                  </a:lnTo>
                  <a:lnTo>
                    <a:pt x="4641476" y="915654"/>
                  </a:lnTo>
                  <a:lnTo>
                    <a:pt x="0" y="915654"/>
                  </a:lnTo>
                  <a:close/>
                </a:path>
              </a:pathLst>
            </a:custGeom>
            <a:solidFill>
              <a:srgbClr val="000000">
                <a:alpha val="0"/>
              </a:srgbClr>
            </a:solidFill>
            <a:ln w="28575" cap="sq">
              <a:solidFill>
                <a:srgbClr val="18AFD6"/>
              </a:solidFill>
              <a:prstDash val="solid"/>
              <a:miter/>
            </a:ln>
          </p:spPr>
        </p:sp>
        <p:sp>
          <p:nvSpPr>
            <p:cNvPr name="TextBox 5" id="5"/>
            <p:cNvSpPr txBox="true"/>
            <p:nvPr/>
          </p:nvSpPr>
          <p:spPr>
            <a:xfrm>
              <a:off x="0" y="19050"/>
              <a:ext cx="4641476" cy="896604"/>
            </a:xfrm>
            <a:prstGeom prst="rect">
              <a:avLst/>
            </a:prstGeom>
          </p:spPr>
          <p:txBody>
            <a:bodyPr anchor="ctr" rtlCol="false" tIns="50800" lIns="50800" bIns="50800" rIns="50800"/>
            <a:lstStyle/>
            <a:p>
              <a:pPr algn="ctr">
                <a:lnSpc>
                  <a:spcPts val="1895"/>
                </a:lnSpc>
              </a:pPr>
            </a:p>
          </p:txBody>
        </p:sp>
      </p:grpSp>
      <p:grpSp>
        <p:nvGrpSpPr>
          <p:cNvPr name="Group 6" id="6"/>
          <p:cNvGrpSpPr/>
          <p:nvPr/>
        </p:nvGrpSpPr>
        <p:grpSpPr>
          <a:xfrm rot="0">
            <a:off x="7729374" y="1647906"/>
            <a:ext cx="2053141" cy="533338"/>
            <a:chOff x="0" y="0"/>
            <a:chExt cx="540745" cy="140468"/>
          </a:xfrm>
        </p:grpSpPr>
        <p:sp>
          <p:nvSpPr>
            <p:cNvPr name="Freeform 7" id="7"/>
            <p:cNvSpPr/>
            <p:nvPr/>
          </p:nvSpPr>
          <p:spPr>
            <a:xfrm flipH="false" flipV="false" rot="0">
              <a:off x="0" y="0"/>
              <a:ext cx="540745" cy="140468"/>
            </a:xfrm>
            <a:custGeom>
              <a:avLst/>
              <a:gdLst/>
              <a:ahLst/>
              <a:cxnLst/>
              <a:rect r="r" b="b" t="t" l="l"/>
              <a:pathLst>
                <a:path h="140468" w="540745">
                  <a:moveTo>
                    <a:pt x="30166" y="0"/>
                  </a:moveTo>
                  <a:lnTo>
                    <a:pt x="510579" y="0"/>
                  </a:lnTo>
                  <a:cubicBezTo>
                    <a:pt x="518579" y="0"/>
                    <a:pt x="526252" y="3178"/>
                    <a:pt x="531909" y="8835"/>
                  </a:cubicBezTo>
                  <a:cubicBezTo>
                    <a:pt x="537567" y="14493"/>
                    <a:pt x="540745" y="22166"/>
                    <a:pt x="540745" y="30166"/>
                  </a:cubicBezTo>
                  <a:lnTo>
                    <a:pt x="540745" y="110302"/>
                  </a:lnTo>
                  <a:cubicBezTo>
                    <a:pt x="540745" y="118302"/>
                    <a:pt x="537567" y="125975"/>
                    <a:pt x="531909" y="131632"/>
                  </a:cubicBezTo>
                  <a:cubicBezTo>
                    <a:pt x="526252" y="137290"/>
                    <a:pt x="518579" y="140468"/>
                    <a:pt x="510579" y="140468"/>
                  </a:cubicBezTo>
                  <a:lnTo>
                    <a:pt x="30166" y="140468"/>
                  </a:lnTo>
                  <a:cubicBezTo>
                    <a:pt x="22166" y="140468"/>
                    <a:pt x="14493" y="137290"/>
                    <a:pt x="8835" y="131632"/>
                  </a:cubicBezTo>
                  <a:cubicBezTo>
                    <a:pt x="3178" y="125975"/>
                    <a:pt x="0" y="118302"/>
                    <a:pt x="0" y="110302"/>
                  </a:cubicBezTo>
                  <a:lnTo>
                    <a:pt x="0" y="30166"/>
                  </a:lnTo>
                  <a:cubicBezTo>
                    <a:pt x="0" y="22166"/>
                    <a:pt x="3178" y="14493"/>
                    <a:pt x="8835" y="8835"/>
                  </a:cubicBezTo>
                  <a:cubicBezTo>
                    <a:pt x="14493" y="3178"/>
                    <a:pt x="22166" y="0"/>
                    <a:pt x="30166" y="0"/>
                  </a:cubicBezTo>
                  <a:close/>
                </a:path>
              </a:pathLst>
            </a:custGeom>
            <a:solidFill>
              <a:srgbClr val="D6F5F2"/>
            </a:solidFill>
          </p:spPr>
        </p:sp>
        <p:sp>
          <p:nvSpPr>
            <p:cNvPr name="TextBox 8" id="8"/>
            <p:cNvSpPr txBox="true"/>
            <p:nvPr/>
          </p:nvSpPr>
          <p:spPr>
            <a:xfrm>
              <a:off x="0" y="-9525"/>
              <a:ext cx="540745" cy="149993"/>
            </a:xfrm>
            <a:prstGeom prst="rect">
              <a:avLst/>
            </a:prstGeom>
          </p:spPr>
          <p:txBody>
            <a:bodyPr anchor="ctr" rtlCol="false" tIns="50800" lIns="50800" bIns="50800" rIns="50800"/>
            <a:lstStyle/>
            <a:p>
              <a:pPr algn="ctr">
                <a:lnSpc>
                  <a:spcPts val="1895"/>
                </a:lnSpc>
              </a:pPr>
              <a:r>
                <a:rPr lang="en-US" b="true" sz="1692" spc="33">
                  <a:solidFill>
                    <a:srgbClr val="000000"/>
                  </a:solidFill>
                  <a:latin typeface="Poppins Bold"/>
                  <a:ea typeface="Poppins Bold"/>
                  <a:cs typeface="Poppins Bold"/>
                  <a:sym typeface="Poppins Bold"/>
                </a:rPr>
                <a:t>Stage 1</a:t>
              </a:r>
            </a:p>
          </p:txBody>
        </p:sp>
      </p:grpSp>
      <p:grpSp>
        <p:nvGrpSpPr>
          <p:cNvPr name="Group 9" id="9"/>
          <p:cNvGrpSpPr/>
          <p:nvPr/>
        </p:nvGrpSpPr>
        <p:grpSpPr>
          <a:xfrm rot="0">
            <a:off x="450272" y="2200295"/>
            <a:ext cx="984623" cy="3034916"/>
            <a:chOff x="0" y="0"/>
            <a:chExt cx="292574" cy="901805"/>
          </a:xfrm>
        </p:grpSpPr>
        <p:sp>
          <p:nvSpPr>
            <p:cNvPr name="Freeform 10" id="10"/>
            <p:cNvSpPr/>
            <p:nvPr/>
          </p:nvSpPr>
          <p:spPr>
            <a:xfrm flipH="false" flipV="false" rot="0">
              <a:off x="0" y="0"/>
              <a:ext cx="292574" cy="901805"/>
            </a:xfrm>
            <a:custGeom>
              <a:avLst/>
              <a:gdLst/>
              <a:ahLst/>
              <a:cxnLst/>
              <a:rect r="r" b="b" t="t" l="l"/>
              <a:pathLst>
                <a:path h="901805" w="292574">
                  <a:moveTo>
                    <a:pt x="62903" y="0"/>
                  </a:moveTo>
                  <a:lnTo>
                    <a:pt x="229672" y="0"/>
                  </a:lnTo>
                  <a:cubicBezTo>
                    <a:pt x="264412" y="0"/>
                    <a:pt x="292574" y="28162"/>
                    <a:pt x="292574" y="62903"/>
                  </a:cubicBezTo>
                  <a:lnTo>
                    <a:pt x="292574" y="838902"/>
                  </a:lnTo>
                  <a:cubicBezTo>
                    <a:pt x="292574" y="855585"/>
                    <a:pt x="285947" y="871585"/>
                    <a:pt x="274150" y="883381"/>
                  </a:cubicBezTo>
                  <a:cubicBezTo>
                    <a:pt x="262354" y="895178"/>
                    <a:pt x="246354" y="901805"/>
                    <a:pt x="229672" y="901805"/>
                  </a:cubicBezTo>
                  <a:lnTo>
                    <a:pt x="62903" y="901805"/>
                  </a:lnTo>
                  <a:cubicBezTo>
                    <a:pt x="46220" y="901805"/>
                    <a:pt x="30220" y="895178"/>
                    <a:pt x="18424" y="883381"/>
                  </a:cubicBezTo>
                  <a:cubicBezTo>
                    <a:pt x="6627" y="871585"/>
                    <a:pt x="0" y="855585"/>
                    <a:pt x="0" y="838902"/>
                  </a:cubicBezTo>
                  <a:lnTo>
                    <a:pt x="0" y="62903"/>
                  </a:lnTo>
                  <a:cubicBezTo>
                    <a:pt x="0" y="46220"/>
                    <a:pt x="6627" y="30220"/>
                    <a:pt x="18424" y="18424"/>
                  </a:cubicBezTo>
                  <a:cubicBezTo>
                    <a:pt x="30220" y="6627"/>
                    <a:pt x="46220" y="0"/>
                    <a:pt x="62903" y="0"/>
                  </a:cubicBezTo>
                  <a:close/>
                </a:path>
              </a:pathLst>
            </a:custGeom>
            <a:solidFill>
              <a:srgbClr val="D6F5F2"/>
            </a:solidFill>
          </p:spPr>
        </p:sp>
        <p:sp>
          <p:nvSpPr>
            <p:cNvPr name="TextBox 11" id="11"/>
            <p:cNvSpPr txBox="true"/>
            <p:nvPr/>
          </p:nvSpPr>
          <p:spPr>
            <a:xfrm>
              <a:off x="0" y="-9525"/>
              <a:ext cx="292574" cy="911330"/>
            </a:xfrm>
            <a:prstGeom prst="rect">
              <a:avLst/>
            </a:prstGeom>
          </p:spPr>
          <p:txBody>
            <a:bodyPr anchor="ctr" rtlCol="false" tIns="45027" lIns="45027" bIns="45027" rIns="45027"/>
            <a:lstStyle/>
            <a:p>
              <a:pPr algn="ctr">
                <a:lnSpc>
                  <a:spcPts val="1895"/>
                </a:lnSpc>
              </a:pPr>
            </a:p>
          </p:txBody>
        </p:sp>
      </p:grpSp>
      <p:grpSp>
        <p:nvGrpSpPr>
          <p:cNvPr name="Group 12" id="12"/>
          <p:cNvGrpSpPr/>
          <p:nvPr/>
        </p:nvGrpSpPr>
        <p:grpSpPr>
          <a:xfrm rot="0">
            <a:off x="1637141" y="2217473"/>
            <a:ext cx="3199395" cy="1482276"/>
            <a:chOff x="0" y="0"/>
            <a:chExt cx="842639" cy="390394"/>
          </a:xfrm>
        </p:grpSpPr>
        <p:sp>
          <p:nvSpPr>
            <p:cNvPr name="Freeform 13" id="13"/>
            <p:cNvSpPr/>
            <p:nvPr/>
          </p:nvSpPr>
          <p:spPr>
            <a:xfrm flipH="false" flipV="false" rot="0">
              <a:off x="0" y="0"/>
              <a:ext cx="842639" cy="390394"/>
            </a:xfrm>
            <a:custGeom>
              <a:avLst/>
              <a:gdLst/>
              <a:ahLst/>
              <a:cxnLst/>
              <a:rect r="r" b="b" t="t" l="l"/>
              <a:pathLst>
                <a:path h="390394" w="842639">
                  <a:moveTo>
                    <a:pt x="19358" y="0"/>
                  </a:moveTo>
                  <a:lnTo>
                    <a:pt x="823280" y="0"/>
                  </a:lnTo>
                  <a:cubicBezTo>
                    <a:pt x="833972" y="0"/>
                    <a:pt x="842639" y="8667"/>
                    <a:pt x="842639" y="19358"/>
                  </a:cubicBezTo>
                  <a:lnTo>
                    <a:pt x="842639" y="371035"/>
                  </a:lnTo>
                  <a:cubicBezTo>
                    <a:pt x="842639" y="381727"/>
                    <a:pt x="833972" y="390394"/>
                    <a:pt x="823280" y="390394"/>
                  </a:cubicBezTo>
                  <a:lnTo>
                    <a:pt x="19358" y="390394"/>
                  </a:lnTo>
                  <a:cubicBezTo>
                    <a:pt x="8667" y="390394"/>
                    <a:pt x="0" y="381727"/>
                    <a:pt x="0" y="371035"/>
                  </a:cubicBezTo>
                  <a:lnTo>
                    <a:pt x="0" y="19358"/>
                  </a:lnTo>
                  <a:cubicBezTo>
                    <a:pt x="0" y="8667"/>
                    <a:pt x="8667" y="0"/>
                    <a:pt x="19358" y="0"/>
                  </a:cubicBezTo>
                  <a:close/>
                </a:path>
              </a:pathLst>
            </a:custGeom>
            <a:solidFill>
              <a:srgbClr val="F5F5F5"/>
            </a:solidFill>
          </p:spPr>
        </p:sp>
        <p:sp>
          <p:nvSpPr>
            <p:cNvPr name="TextBox 14" id="14"/>
            <p:cNvSpPr txBox="true"/>
            <p:nvPr/>
          </p:nvSpPr>
          <p:spPr>
            <a:xfrm>
              <a:off x="0" y="-9525"/>
              <a:ext cx="842639" cy="399919"/>
            </a:xfrm>
            <a:prstGeom prst="rect">
              <a:avLst/>
            </a:prstGeom>
          </p:spPr>
          <p:txBody>
            <a:bodyPr anchor="ctr" rtlCol="false" tIns="50800" lIns="50800" bIns="50800" rIns="50800"/>
            <a:lstStyle/>
            <a:p>
              <a:pPr algn="ctr">
                <a:lnSpc>
                  <a:spcPts val="1895"/>
                </a:lnSpc>
              </a:pPr>
            </a:p>
          </p:txBody>
        </p:sp>
      </p:grpSp>
      <p:sp>
        <p:nvSpPr>
          <p:cNvPr name="AutoShape 15" id="15"/>
          <p:cNvSpPr/>
          <p:nvPr/>
        </p:nvSpPr>
        <p:spPr>
          <a:xfrm>
            <a:off x="1792749" y="2543736"/>
            <a:ext cx="853362" cy="0"/>
          </a:xfrm>
          <a:prstGeom prst="line">
            <a:avLst/>
          </a:prstGeom>
          <a:ln cap="flat" w="38100">
            <a:solidFill>
              <a:srgbClr val="F34D24"/>
            </a:solidFill>
            <a:prstDash val="solid"/>
            <a:headEnd type="none" len="sm" w="sm"/>
            <a:tailEnd type="none" len="sm" w="sm"/>
          </a:ln>
        </p:spPr>
      </p:sp>
      <p:grpSp>
        <p:nvGrpSpPr>
          <p:cNvPr name="Group 16" id="16"/>
          <p:cNvGrpSpPr/>
          <p:nvPr/>
        </p:nvGrpSpPr>
        <p:grpSpPr>
          <a:xfrm rot="0">
            <a:off x="1637141" y="3791606"/>
            <a:ext cx="3199395" cy="1482276"/>
            <a:chOff x="0" y="0"/>
            <a:chExt cx="842639" cy="390394"/>
          </a:xfrm>
        </p:grpSpPr>
        <p:sp>
          <p:nvSpPr>
            <p:cNvPr name="Freeform 17" id="17"/>
            <p:cNvSpPr/>
            <p:nvPr/>
          </p:nvSpPr>
          <p:spPr>
            <a:xfrm flipH="false" flipV="false" rot="0">
              <a:off x="0" y="0"/>
              <a:ext cx="842639" cy="390394"/>
            </a:xfrm>
            <a:custGeom>
              <a:avLst/>
              <a:gdLst/>
              <a:ahLst/>
              <a:cxnLst/>
              <a:rect r="r" b="b" t="t" l="l"/>
              <a:pathLst>
                <a:path h="390394" w="842639">
                  <a:moveTo>
                    <a:pt x="19358" y="0"/>
                  </a:moveTo>
                  <a:lnTo>
                    <a:pt x="823280" y="0"/>
                  </a:lnTo>
                  <a:cubicBezTo>
                    <a:pt x="833972" y="0"/>
                    <a:pt x="842639" y="8667"/>
                    <a:pt x="842639" y="19358"/>
                  </a:cubicBezTo>
                  <a:lnTo>
                    <a:pt x="842639" y="371035"/>
                  </a:lnTo>
                  <a:cubicBezTo>
                    <a:pt x="842639" y="381727"/>
                    <a:pt x="833972" y="390394"/>
                    <a:pt x="823280" y="390394"/>
                  </a:cubicBezTo>
                  <a:lnTo>
                    <a:pt x="19358" y="390394"/>
                  </a:lnTo>
                  <a:cubicBezTo>
                    <a:pt x="8667" y="390394"/>
                    <a:pt x="0" y="381727"/>
                    <a:pt x="0" y="371035"/>
                  </a:cubicBezTo>
                  <a:lnTo>
                    <a:pt x="0" y="19358"/>
                  </a:lnTo>
                  <a:cubicBezTo>
                    <a:pt x="0" y="8667"/>
                    <a:pt x="8667" y="0"/>
                    <a:pt x="19358" y="0"/>
                  </a:cubicBezTo>
                  <a:close/>
                </a:path>
              </a:pathLst>
            </a:custGeom>
            <a:solidFill>
              <a:srgbClr val="F5F5F5"/>
            </a:solidFill>
          </p:spPr>
        </p:sp>
        <p:sp>
          <p:nvSpPr>
            <p:cNvPr name="TextBox 18" id="18"/>
            <p:cNvSpPr txBox="true"/>
            <p:nvPr/>
          </p:nvSpPr>
          <p:spPr>
            <a:xfrm>
              <a:off x="0" y="-9525"/>
              <a:ext cx="842639" cy="399919"/>
            </a:xfrm>
            <a:prstGeom prst="rect">
              <a:avLst/>
            </a:prstGeom>
          </p:spPr>
          <p:txBody>
            <a:bodyPr anchor="ctr" rtlCol="false" tIns="50800" lIns="50800" bIns="50800" rIns="50800"/>
            <a:lstStyle/>
            <a:p>
              <a:pPr algn="ctr">
                <a:lnSpc>
                  <a:spcPts val="1895"/>
                </a:lnSpc>
              </a:pPr>
            </a:p>
          </p:txBody>
        </p:sp>
      </p:grpSp>
      <p:sp>
        <p:nvSpPr>
          <p:cNvPr name="AutoShape 19" id="19"/>
          <p:cNvSpPr/>
          <p:nvPr/>
        </p:nvSpPr>
        <p:spPr>
          <a:xfrm>
            <a:off x="1792749" y="4089467"/>
            <a:ext cx="853362" cy="0"/>
          </a:xfrm>
          <a:prstGeom prst="line">
            <a:avLst/>
          </a:prstGeom>
          <a:ln cap="flat" w="38100">
            <a:solidFill>
              <a:srgbClr val="F34D24"/>
            </a:solidFill>
            <a:prstDash val="solid"/>
            <a:headEnd type="none" len="sm" w="sm"/>
            <a:tailEnd type="none" len="sm" w="sm"/>
          </a:ln>
        </p:spPr>
      </p:sp>
      <p:sp>
        <p:nvSpPr>
          <p:cNvPr name="TextBox 20" id="20"/>
          <p:cNvSpPr txBox="true"/>
          <p:nvPr/>
        </p:nvSpPr>
        <p:spPr>
          <a:xfrm rot="0">
            <a:off x="1637141" y="2671000"/>
            <a:ext cx="3199395" cy="576199"/>
          </a:xfrm>
          <a:prstGeom prst="rect">
            <a:avLst/>
          </a:prstGeom>
        </p:spPr>
        <p:txBody>
          <a:bodyPr anchor="t" rtlCol="false" tIns="0" lIns="0" bIns="0" rIns="0">
            <a:spAutoFit/>
          </a:bodyPr>
          <a:lstStyle/>
          <a:p>
            <a:pPr algn="l" marL="302261" indent="-151130" lvl="1">
              <a:lnSpc>
                <a:spcPts val="1568"/>
              </a:lnSpc>
              <a:buFont typeface="Arial"/>
              <a:buChar char="•"/>
            </a:pPr>
            <a:r>
              <a:rPr lang="en-US" sz="1400" spc="28">
                <a:solidFill>
                  <a:srgbClr val="000000"/>
                </a:solidFill>
                <a:latin typeface="Glacial Indifference"/>
                <a:ea typeface="Glacial Indifference"/>
                <a:cs typeface="Glacial Indifference"/>
                <a:sym typeface="Glacial Indifference"/>
              </a:rPr>
              <a:t>Target: TREFHT</a:t>
            </a:r>
          </a:p>
          <a:p>
            <a:pPr algn="l" marL="302261" indent="-151130" lvl="1">
              <a:lnSpc>
                <a:spcPts val="1568"/>
              </a:lnSpc>
              <a:buFont typeface="Arial"/>
              <a:buChar char="•"/>
            </a:pPr>
            <a:r>
              <a:rPr lang="en-US" sz="1400" spc="28">
                <a:solidFill>
                  <a:srgbClr val="000000"/>
                </a:solidFill>
                <a:latin typeface="Glacial Indifference"/>
                <a:ea typeface="Glacial Indifference"/>
                <a:cs typeface="Glacial Indifference"/>
                <a:sym typeface="Glacial Indifference"/>
              </a:rPr>
              <a:t>Predictor: FSNS, FLNS, PRECT, PRSN, QBOT, UBOT, and VBOT</a:t>
            </a:r>
          </a:p>
        </p:txBody>
      </p:sp>
      <p:sp>
        <p:nvSpPr>
          <p:cNvPr name="TextBox 21" id="21"/>
          <p:cNvSpPr txBox="true"/>
          <p:nvPr/>
        </p:nvSpPr>
        <p:spPr>
          <a:xfrm rot="0">
            <a:off x="1637141" y="4173364"/>
            <a:ext cx="3199395" cy="385699"/>
          </a:xfrm>
          <a:prstGeom prst="rect">
            <a:avLst/>
          </a:prstGeom>
        </p:spPr>
        <p:txBody>
          <a:bodyPr anchor="t" rtlCol="false" tIns="0" lIns="0" bIns="0" rIns="0">
            <a:spAutoFit/>
          </a:bodyPr>
          <a:lstStyle/>
          <a:p>
            <a:pPr algn="l" marL="302261" indent="-151130" lvl="1">
              <a:lnSpc>
                <a:spcPts val="1568"/>
              </a:lnSpc>
              <a:buFont typeface="Arial"/>
              <a:buChar char="•"/>
            </a:pPr>
            <a:r>
              <a:rPr lang="en-US" sz="1400" spc="28">
                <a:solidFill>
                  <a:srgbClr val="000000"/>
                </a:solidFill>
                <a:latin typeface="Glacial Indifference"/>
                <a:ea typeface="Glacial Indifference"/>
                <a:cs typeface="Glacial Indifference"/>
                <a:sym typeface="Glacial Indifference"/>
              </a:rPr>
              <a:t>Train: 2006-2024</a:t>
            </a:r>
          </a:p>
          <a:p>
            <a:pPr algn="l" marL="302261" indent="-151130" lvl="1">
              <a:lnSpc>
                <a:spcPts val="1568"/>
              </a:lnSpc>
              <a:buFont typeface="Arial"/>
              <a:buChar char="•"/>
            </a:pPr>
            <a:r>
              <a:rPr lang="en-US" sz="1400" spc="28">
                <a:solidFill>
                  <a:srgbClr val="000000"/>
                </a:solidFill>
                <a:latin typeface="Glacial Indifference"/>
                <a:ea typeface="Glacial Indifference"/>
                <a:cs typeface="Glacial Indifference"/>
                <a:sym typeface="Glacial Indifference"/>
              </a:rPr>
              <a:t>Test: 2025-2080</a:t>
            </a:r>
          </a:p>
        </p:txBody>
      </p:sp>
      <p:grpSp>
        <p:nvGrpSpPr>
          <p:cNvPr name="Group 22" id="22"/>
          <p:cNvGrpSpPr/>
          <p:nvPr/>
        </p:nvGrpSpPr>
        <p:grpSpPr>
          <a:xfrm rot="0">
            <a:off x="6160117" y="2230481"/>
            <a:ext cx="4532647" cy="3043401"/>
            <a:chOff x="0" y="0"/>
            <a:chExt cx="1193784" cy="801554"/>
          </a:xfrm>
        </p:grpSpPr>
        <p:sp>
          <p:nvSpPr>
            <p:cNvPr name="Freeform 23" id="23"/>
            <p:cNvSpPr/>
            <p:nvPr/>
          </p:nvSpPr>
          <p:spPr>
            <a:xfrm flipH="false" flipV="false" rot="0">
              <a:off x="0" y="0"/>
              <a:ext cx="1193784" cy="801554"/>
            </a:xfrm>
            <a:custGeom>
              <a:avLst/>
              <a:gdLst/>
              <a:ahLst/>
              <a:cxnLst/>
              <a:rect r="r" b="b" t="t" l="l"/>
              <a:pathLst>
                <a:path h="801554" w="1193784">
                  <a:moveTo>
                    <a:pt x="13664" y="0"/>
                  </a:moveTo>
                  <a:lnTo>
                    <a:pt x="1180119" y="0"/>
                  </a:lnTo>
                  <a:cubicBezTo>
                    <a:pt x="1187666" y="0"/>
                    <a:pt x="1193784" y="6118"/>
                    <a:pt x="1193784" y="13664"/>
                  </a:cubicBezTo>
                  <a:lnTo>
                    <a:pt x="1193784" y="787890"/>
                  </a:lnTo>
                  <a:cubicBezTo>
                    <a:pt x="1193784" y="791514"/>
                    <a:pt x="1192344" y="794990"/>
                    <a:pt x="1189782" y="797552"/>
                  </a:cubicBezTo>
                  <a:cubicBezTo>
                    <a:pt x="1187219" y="800115"/>
                    <a:pt x="1183743" y="801554"/>
                    <a:pt x="1180119" y="801554"/>
                  </a:cubicBezTo>
                  <a:lnTo>
                    <a:pt x="13664" y="801554"/>
                  </a:lnTo>
                  <a:cubicBezTo>
                    <a:pt x="6118" y="801554"/>
                    <a:pt x="0" y="795437"/>
                    <a:pt x="0" y="787890"/>
                  </a:cubicBezTo>
                  <a:lnTo>
                    <a:pt x="0" y="13664"/>
                  </a:lnTo>
                  <a:cubicBezTo>
                    <a:pt x="0" y="10040"/>
                    <a:pt x="1440" y="6565"/>
                    <a:pt x="4002" y="4002"/>
                  </a:cubicBezTo>
                  <a:cubicBezTo>
                    <a:pt x="6565" y="1440"/>
                    <a:pt x="10040" y="0"/>
                    <a:pt x="13664" y="0"/>
                  </a:cubicBezTo>
                  <a:close/>
                </a:path>
              </a:pathLst>
            </a:custGeom>
            <a:solidFill>
              <a:srgbClr val="F5F5F5"/>
            </a:solidFill>
          </p:spPr>
        </p:sp>
        <p:sp>
          <p:nvSpPr>
            <p:cNvPr name="TextBox 24" id="24"/>
            <p:cNvSpPr txBox="true"/>
            <p:nvPr/>
          </p:nvSpPr>
          <p:spPr>
            <a:xfrm>
              <a:off x="0" y="-9525"/>
              <a:ext cx="1193784" cy="811079"/>
            </a:xfrm>
            <a:prstGeom prst="rect">
              <a:avLst/>
            </a:prstGeom>
          </p:spPr>
          <p:txBody>
            <a:bodyPr anchor="ctr" rtlCol="false" tIns="50800" lIns="50800" bIns="50800" rIns="50800"/>
            <a:lstStyle/>
            <a:p>
              <a:pPr algn="ctr">
                <a:lnSpc>
                  <a:spcPts val="1895"/>
                </a:lnSpc>
              </a:pPr>
            </a:p>
          </p:txBody>
        </p:sp>
      </p:grpSp>
      <p:sp>
        <p:nvSpPr>
          <p:cNvPr name="AutoShape 25" id="25"/>
          <p:cNvSpPr/>
          <p:nvPr/>
        </p:nvSpPr>
        <p:spPr>
          <a:xfrm flipV="true">
            <a:off x="6290382" y="2496111"/>
            <a:ext cx="1133555" cy="0"/>
          </a:xfrm>
          <a:prstGeom prst="line">
            <a:avLst/>
          </a:prstGeom>
          <a:ln cap="flat" w="38100">
            <a:solidFill>
              <a:srgbClr val="F34D24"/>
            </a:solidFill>
            <a:prstDash val="solid"/>
            <a:headEnd type="none" len="sm" w="sm"/>
            <a:tailEnd type="none" len="sm" w="sm"/>
          </a:ln>
        </p:spPr>
      </p:sp>
      <p:grpSp>
        <p:nvGrpSpPr>
          <p:cNvPr name="Group 26" id="26"/>
          <p:cNvGrpSpPr/>
          <p:nvPr/>
        </p:nvGrpSpPr>
        <p:grpSpPr>
          <a:xfrm rot="0">
            <a:off x="13083540" y="2861965"/>
            <a:ext cx="4175760" cy="1845412"/>
            <a:chOff x="0" y="0"/>
            <a:chExt cx="1391900" cy="615128"/>
          </a:xfrm>
        </p:grpSpPr>
        <p:sp>
          <p:nvSpPr>
            <p:cNvPr name="Freeform 27" id="27"/>
            <p:cNvSpPr/>
            <p:nvPr/>
          </p:nvSpPr>
          <p:spPr>
            <a:xfrm flipH="false" flipV="false" rot="0">
              <a:off x="0" y="0"/>
              <a:ext cx="1391900" cy="615128"/>
            </a:xfrm>
            <a:custGeom>
              <a:avLst/>
              <a:gdLst/>
              <a:ahLst/>
              <a:cxnLst/>
              <a:rect r="r" b="b" t="t" l="l"/>
              <a:pathLst>
                <a:path h="615128" w="1391900">
                  <a:moveTo>
                    <a:pt x="18540" y="0"/>
                  </a:moveTo>
                  <a:lnTo>
                    <a:pt x="1373360" y="0"/>
                  </a:lnTo>
                  <a:cubicBezTo>
                    <a:pt x="1383599" y="0"/>
                    <a:pt x="1391900" y="8301"/>
                    <a:pt x="1391900" y="18540"/>
                  </a:cubicBezTo>
                  <a:lnTo>
                    <a:pt x="1391900" y="596588"/>
                  </a:lnTo>
                  <a:cubicBezTo>
                    <a:pt x="1391900" y="606827"/>
                    <a:pt x="1383599" y="615128"/>
                    <a:pt x="1373360" y="615128"/>
                  </a:cubicBezTo>
                  <a:lnTo>
                    <a:pt x="18540" y="615128"/>
                  </a:lnTo>
                  <a:cubicBezTo>
                    <a:pt x="8301" y="615128"/>
                    <a:pt x="0" y="606827"/>
                    <a:pt x="0" y="596588"/>
                  </a:cubicBezTo>
                  <a:lnTo>
                    <a:pt x="0" y="18540"/>
                  </a:lnTo>
                  <a:cubicBezTo>
                    <a:pt x="0" y="8301"/>
                    <a:pt x="8301" y="0"/>
                    <a:pt x="18540" y="0"/>
                  </a:cubicBezTo>
                  <a:close/>
                </a:path>
              </a:pathLst>
            </a:custGeom>
            <a:solidFill>
              <a:srgbClr val="000000">
                <a:alpha val="0"/>
              </a:srgbClr>
            </a:solidFill>
            <a:ln w="28575" cap="sq">
              <a:solidFill>
                <a:srgbClr val="E61C24"/>
              </a:solidFill>
              <a:prstDash val="solid"/>
              <a:miter/>
            </a:ln>
          </p:spPr>
        </p:sp>
        <p:sp>
          <p:nvSpPr>
            <p:cNvPr name="TextBox 28" id="28"/>
            <p:cNvSpPr txBox="true"/>
            <p:nvPr/>
          </p:nvSpPr>
          <p:spPr>
            <a:xfrm>
              <a:off x="0" y="0"/>
              <a:ext cx="1391900" cy="615128"/>
            </a:xfrm>
            <a:prstGeom prst="rect">
              <a:avLst/>
            </a:prstGeom>
          </p:spPr>
          <p:txBody>
            <a:bodyPr anchor="ctr" rtlCol="false" tIns="50800" lIns="50800" bIns="50800" rIns="50800"/>
            <a:lstStyle/>
            <a:p>
              <a:pPr algn="ctr">
                <a:lnSpc>
                  <a:spcPts val="1671"/>
                </a:lnSpc>
              </a:pPr>
            </a:p>
          </p:txBody>
        </p:sp>
      </p:grpSp>
      <p:grpSp>
        <p:nvGrpSpPr>
          <p:cNvPr name="Group 29" id="29"/>
          <p:cNvGrpSpPr/>
          <p:nvPr/>
        </p:nvGrpSpPr>
        <p:grpSpPr>
          <a:xfrm rot="0">
            <a:off x="13582296" y="2718137"/>
            <a:ext cx="3221356" cy="292100"/>
            <a:chOff x="0" y="0"/>
            <a:chExt cx="848423" cy="76932"/>
          </a:xfrm>
        </p:grpSpPr>
        <p:sp>
          <p:nvSpPr>
            <p:cNvPr name="Freeform 30" id="30"/>
            <p:cNvSpPr/>
            <p:nvPr/>
          </p:nvSpPr>
          <p:spPr>
            <a:xfrm flipH="false" flipV="false" rot="0">
              <a:off x="0" y="0"/>
              <a:ext cx="848423" cy="76932"/>
            </a:xfrm>
            <a:custGeom>
              <a:avLst/>
              <a:gdLst/>
              <a:ahLst/>
              <a:cxnLst/>
              <a:rect r="r" b="b" t="t" l="l"/>
              <a:pathLst>
                <a:path h="76932" w="848423">
                  <a:moveTo>
                    <a:pt x="38466" y="0"/>
                  </a:moveTo>
                  <a:lnTo>
                    <a:pt x="809957" y="0"/>
                  </a:lnTo>
                  <a:cubicBezTo>
                    <a:pt x="831201" y="0"/>
                    <a:pt x="848423" y="17222"/>
                    <a:pt x="848423" y="38466"/>
                  </a:cubicBezTo>
                  <a:lnTo>
                    <a:pt x="848423" y="38466"/>
                  </a:lnTo>
                  <a:cubicBezTo>
                    <a:pt x="848423" y="59710"/>
                    <a:pt x="831201" y="76932"/>
                    <a:pt x="809957" y="76932"/>
                  </a:cubicBezTo>
                  <a:lnTo>
                    <a:pt x="38466" y="76932"/>
                  </a:lnTo>
                  <a:cubicBezTo>
                    <a:pt x="17222" y="76932"/>
                    <a:pt x="0" y="59710"/>
                    <a:pt x="0" y="38466"/>
                  </a:cubicBezTo>
                  <a:lnTo>
                    <a:pt x="0" y="38466"/>
                  </a:lnTo>
                  <a:cubicBezTo>
                    <a:pt x="0" y="17222"/>
                    <a:pt x="17222" y="0"/>
                    <a:pt x="38466" y="0"/>
                  </a:cubicBezTo>
                  <a:close/>
                </a:path>
              </a:pathLst>
            </a:custGeom>
            <a:solidFill>
              <a:srgbClr val="E62E3A"/>
            </a:solidFill>
          </p:spPr>
        </p:sp>
        <p:sp>
          <p:nvSpPr>
            <p:cNvPr name="TextBox 31" id="31"/>
            <p:cNvSpPr txBox="true"/>
            <p:nvPr/>
          </p:nvSpPr>
          <p:spPr>
            <a:xfrm>
              <a:off x="0" y="19050"/>
              <a:ext cx="848423" cy="57882"/>
            </a:xfrm>
            <a:prstGeom prst="rect">
              <a:avLst/>
            </a:prstGeom>
          </p:spPr>
          <p:txBody>
            <a:bodyPr anchor="ctr" rtlCol="false" tIns="50800" lIns="50800" bIns="50800" rIns="50800"/>
            <a:lstStyle/>
            <a:p>
              <a:pPr algn="ctr">
                <a:lnSpc>
                  <a:spcPts val="1895"/>
                </a:lnSpc>
              </a:pPr>
            </a:p>
          </p:txBody>
        </p:sp>
      </p:grpSp>
      <p:grpSp>
        <p:nvGrpSpPr>
          <p:cNvPr name="Group 32" id="32"/>
          <p:cNvGrpSpPr/>
          <p:nvPr/>
        </p:nvGrpSpPr>
        <p:grpSpPr>
          <a:xfrm rot="0">
            <a:off x="287298" y="6150841"/>
            <a:ext cx="17623104" cy="3476625"/>
            <a:chOff x="0" y="0"/>
            <a:chExt cx="4641476" cy="915654"/>
          </a:xfrm>
        </p:grpSpPr>
        <p:sp>
          <p:nvSpPr>
            <p:cNvPr name="Freeform 33" id="33"/>
            <p:cNvSpPr/>
            <p:nvPr/>
          </p:nvSpPr>
          <p:spPr>
            <a:xfrm flipH="false" flipV="false" rot="0">
              <a:off x="0" y="0"/>
              <a:ext cx="4641476" cy="915654"/>
            </a:xfrm>
            <a:custGeom>
              <a:avLst/>
              <a:gdLst/>
              <a:ahLst/>
              <a:cxnLst/>
              <a:rect r="r" b="b" t="t" l="l"/>
              <a:pathLst>
                <a:path h="915654" w="4641476">
                  <a:moveTo>
                    <a:pt x="0" y="0"/>
                  </a:moveTo>
                  <a:lnTo>
                    <a:pt x="4641476" y="0"/>
                  </a:lnTo>
                  <a:lnTo>
                    <a:pt x="4641476" y="915654"/>
                  </a:lnTo>
                  <a:lnTo>
                    <a:pt x="0" y="915654"/>
                  </a:lnTo>
                  <a:close/>
                </a:path>
              </a:pathLst>
            </a:custGeom>
            <a:solidFill>
              <a:srgbClr val="000000">
                <a:alpha val="0"/>
              </a:srgbClr>
            </a:solidFill>
            <a:ln w="28575" cap="sq">
              <a:solidFill>
                <a:srgbClr val="8C52FF"/>
              </a:solidFill>
              <a:prstDash val="solid"/>
              <a:miter/>
            </a:ln>
          </p:spPr>
        </p:sp>
        <p:sp>
          <p:nvSpPr>
            <p:cNvPr name="TextBox 34" id="34"/>
            <p:cNvSpPr txBox="true"/>
            <p:nvPr/>
          </p:nvSpPr>
          <p:spPr>
            <a:xfrm>
              <a:off x="0" y="19050"/>
              <a:ext cx="4641476" cy="896604"/>
            </a:xfrm>
            <a:prstGeom prst="rect">
              <a:avLst/>
            </a:prstGeom>
          </p:spPr>
          <p:txBody>
            <a:bodyPr anchor="ctr" rtlCol="false" tIns="50800" lIns="50800" bIns="50800" rIns="50800"/>
            <a:lstStyle/>
            <a:p>
              <a:pPr algn="ctr">
                <a:lnSpc>
                  <a:spcPts val="1895"/>
                </a:lnSpc>
              </a:pPr>
            </a:p>
          </p:txBody>
        </p:sp>
      </p:grpSp>
      <p:grpSp>
        <p:nvGrpSpPr>
          <p:cNvPr name="Group 35" id="35"/>
          <p:cNvGrpSpPr/>
          <p:nvPr/>
        </p:nvGrpSpPr>
        <p:grpSpPr>
          <a:xfrm rot="0">
            <a:off x="7729374" y="5916619"/>
            <a:ext cx="2398793" cy="533338"/>
            <a:chOff x="0" y="0"/>
            <a:chExt cx="631781" cy="140468"/>
          </a:xfrm>
        </p:grpSpPr>
        <p:sp>
          <p:nvSpPr>
            <p:cNvPr name="Freeform 36" id="36"/>
            <p:cNvSpPr/>
            <p:nvPr/>
          </p:nvSpPr>
          <p:spPr>
            <a:xfrm flipH="false" flipV="false" rot="0">
              <a:off x="0" y="0"/>
              <a:ext cx="631781" cy="140468"/>
            </a:xfrm>
            <a:custGeom>
              <a:avLst/>
              <a:gdLst/>
              <a:ahLst/>
              <a:cxnLst/>
              <a:rect r="r" b="b" t="t" l="l"/>
              <a:pathLst>
                <a:path h="140468" w="631781">
                  <a:moveTo>
                    <a:pt x="25819" y="0"/>
                  </a:moveTo>
                  <a:lnTo>
                    <a:pt x="605961" y="0"/>
                  </a:lnTo>
                  <a:cubicBezTo>
                    <a:pt x="620221" y="0"/>
                    <a:pt x="631781" y="11560"/>
                    <a:pt x="631781" y="25819"/>
                  </a:cubicBezTo>
                  <a:lnTo>
                    <a:pt x="631781" y="114648"/>
                  </a:lnTo>
                  <a:cubicBezTo>
                    <a:pt x="631781" y="128908"/>
                    <a:pt x="620221" y="140468"/>
                    <a:pt x="605961" y="140468"/>
                  </a:cubicBezTo>
                  <a:lnTo>
                    <a:pt x="25819" y="140468"/>
                  </a:lnTo>
                  <a:cubicBezTo>
                    <a:pt x="11560" y="140468"/>
                    <a:pt x="0" y="128908"/>
                    <a:pt x="0" y="114648"/>
                  </a:cubicBezTo>
                  <a:lnTo>
                    <a:pt x="0" y="25819"/>
                  </a:lnTo>
                  <a:cubicBezTo>
                    <a:pt x="0" y="11560"/>
                    <a:pt x="11560" y="0"/>
                    <a:pt x="25819" y="0"/>
                  </a:cubicBezTo>
                  <a:close/>
                </a:path>
              </a:pathLst>
            </a:custGeom>
            <a:solidFill>
              <a:srgbClr val="8C52FF"/>
            </a:solidFill>
          </p:spPr>
        </p:sp>
        <p:sp>
          <p:nvSpPr>
            <p:cNvPr name="TextBox 37" id="37"/>
            <p:cNvSpPr txBox="true"/>
            <p:nvPr/>
          </p:nvSpPr>
          <p:spPr>
            <a:xfrm>
              <a:off x="0" y="-9525"/>
              <a:ext cx="631781" cy="149993"/>
            </a:xfrm>
            <a:prstGeom prst="rect">
              <a:avLst/>
            </a:prstGeom>
          </p:spPr>
          <p:txBody>
            <a:bodyPr anchor="ctr" rtlCol="false" tIns="50800" lIns="50800" bIns="50800" rIns="50800"/>
            <a:lstStyle/>
            <a:p>
              <a:pPr algn="ctr">
                <a:lnSpc>
                  <a:spcPts val="1895"/>
                </a:lnSpc>
              </a:pPr>
              <a:r>
                <a:rPr lang="en-US" b="true" sz="1692" spc="33">
                  <a:solidFill>
                    <a:srgbClr val="FFFFFF"/>
                  </a:solidFill>
                  <a:latin typeface="Poppins Bold"/>
                  <a:ea typeface="Poppins Bold"/>
                  <a:cs typeface="Poppins Bold"/>
                  <a:sym typeface="Poppins Bold"/>
                </a:rPr>
                <a:t>Stage 2</a:t>
              </a:r>
            </a:p>
          </p:txBody>
        </p:sp>
      </p:grpSp>
      <p:grpSp>
        <p:nvGrpSpPr>
          <p:cNvPr name="Group 38" id="38"/>
          <p:cNvGrpSpPr/>
          <p:nvPr/>
        </p:nvGrpSpPr>
        <p:grpSpPr>
          <a:xfrm rot="0">
            <a:off x="450272" y="6330290"/>
            <a:ext cx="984623" cy="1499455"/>
            <a:chOff x="0" y="0"/>
            <a:chExt cx="292574" cy="445553"/>
          </a:xfrm>
        </p:grpSpPr>
        <p:sp>
          <p:nvSpPr>
            <p:cNvPr name="Freeform 39" id="39"/>
            <p:cNvSpPr/>
            <p:nvPr/>
          </p:nvSpPr>
          <p:spPr>
            <a:xfrm flipH="false" flipV="false" rot="0">
              <a:off x="0" y="0"/>
              <a:ext cx="292574" cy="445553"/>
            </a:xfrm>
            <a:custGeom>
              <a:avLst/>
              <a:gdLst/>
              <a:ahLst/>
              <a:cxnLst/>
              <a:rect r="r" b="b" t="t" l="l"/>
              <a:pathLst>
                <a:path h="445553" w="292574">
                  <a:moveTo>
                    <a:pt x="62903" y="0"/>
                  </a:moveTo>
                  <a:lnTo>
                    <a:pt x="229672" y="0"/>
                  </a:lnTo>
                  <a:cubicBezTo>
                    <a:pt x="264412" y="0"/>
                    <a:pt x="292574" y="28162"/>
                    <a:pt x="292574" y="62903"/>
                  </a:cubicBezTo>
                  <a:lnTo>
                    <a:pt x="292574" y="382650"/>
                  </a:lnTo>
                  <a:cubicBezTo>
                    <a:pt x="292574" y="399333"/>
                    <a:pt x="285947" y="415333"/>
                    <a:pt x="274150" y="427129"/>
                  </a:cubicBezTo>
                  <a:cubicBezTo>
                    <a:pt x="262354" y="438926"/>
                    <a:pt x="246354" y="445553"/>
                    <a:pt x="229672" y="445553"/>
                  </a:cubicBezTo>
                  <a:lnTo>
                    <a:pt x="62903" y="445553"/>
                  </a:lnTo>
                  <a:cubicBezTo>
                    <a:pt x="46220" y="445553"/>
                    <a:pt x="30220" y="438926"/>
                    <a:pt x="18424" y="427129"/>
                  </a:cubicBezTo>
                  <a:cubicBezTo>
                    <a:pt x="6627" y="415333"/>
                    <a:pt x="0" y="399333"/>
                    <a:pt x="0" y="382650"/>
                  </a:cubicBezTo>
                  <a:lnTo>
                    <a:pt x="0" y="62903"/>
                  </a:lnTo>
                  <a:cubicBezTo>
                    <a:pt x="0" y="46220"/>
                    <a:pt x="6627" y="30220"/>
                    <a:pt x="18424" y="18424"/>
                  </a:cubicBezTo>
                  <a:cubicBezTo>
                    <a:pt x="30220" y="6627"/>
                    <a:pt x="46220" y="0"/>
                    <a:pt x="62903" y="0"/>
                  </a:cubicBezTo>
                  <a:close/>
                </a:path>
              </a:pathLst>
            </a:custGeom>
            <a:solidFill>
              <a:srgbClr val="D6F5F2"/>
            </a:solidFill>
          </p:spPr>
        </p:sp>
        <p:sp>
          <p:nvSpPr>
            <p:cNvPr name="TextBox 40" id="40"/>
            <p:cNvSpPr txBox="true"/>
            <p:nvPr/>
          </p:nvSpPr>
          <p:spPr>
            <a:xfrm>
              <a:off x="0" y="-9525"/>
              <a:ext cx="292574" cy="455078"/>
            </a:xfrm>
            <a:prstGeom prst="rect">
              <a:avLst/>
            </a:prstGeom>
          </p:spPr>
          <p:txBody>
            <a:bodyPr anchor="ctr" rtlCol="false" tIns="45027" lIns="45027" bIns="45027" rIns="45027"/>
            <a:lstStyle/>
            <a:p>
              <a:pPr algn="ctr">
                <a:lnSpc>
                  <a:spcPts val="1895"/>
                </a:lnSpc>
              </a:pPr>
            </a:p>
          </p:txBody>
        </p:sp>
      </p:grpSp>
      <p:grpSp>
        <p:nvGrpSpPr>
          <p:cNvPr name="Group 41" id="41"/>
          <p:cNvGrpSpPr/>
          <p:nvPr/>
        </p:nvGrpSpPr>
        <p:grpSpPr>
          <a:xfrm rot="0">
            <a:off x="473474" y="7972446"/>
            <a:ext cx="984623" cy="1475802"/>
            <a:chOff x="0" y="0"/>
            <a:chExt cx="292574" cy="438525"/>
          </a:xfrm>
        </p:grpSpPr>
        <p:sp>
          <p:nvSpPr>
            <p:cNvPr name="Freeform 42" id="42"/>
            <p:cNvSpPr/>
            <p:nvPr/>
          </p:nvSpPr>
          <p:spPr>
            <a:xfrm flipH="false" flipV="false" rot="0">
              <a:off x="0" y="0"/>
              <a:ext cx="292574" cy="438525"/>
            </a:xfrm>
            <a:custGeom>
              <a:avLst/>
              <a:gdLst/>
              <a:ahLst/>
              <a:cxnLst/>
              <a:rect r="r" b="b" t="t" l="l"/>
              <a:pathLst>
                <a:path h="438525" w="292574">
                  <a:moveTo>
                    <a:pt x="62903" y="0"/>
                  </a:moveTo>
                  <a:lnTo>
                    <a:pt x="229672" y="0"/>
                  </a:lnTo>
                  <a:cubicBezTo>
                    <a:pt x="264412" y="0"/>
                    <a:pt x="292574" y="28162"/>
                    <a:pt x="292574" y="62903"/>
                  </a:cubicBezTo>
                  <a:lnTo>
                    <a:pt x="292574" y="375622"/>
                  </a:lnTo>
                  <a:cubicBezTo>
                    <a:pt x="292574" y="392305"/>
                    <a:pt x="285947" y="408305"/>
                    <a:pt x="274150" y="420101"/>
                  </a:cubicBezTo>
                  <a:cubicBezTo>
                    <a:pt x="262354" y="431898"/>
                    <a:pt x="246354" y="438525"/>
                    <a:pt x="229672" y="438525"/>
                  </a:cubicBezTo>
                  <a:lnTo>
                    <a:pt x="62903" y="438525"/>
                  </a:lnTo>
                  <a:cubicBezTo>
                    <a:pt x="46220" y="438525"/>
                    <a:pt x="30220" y="431898"/>
                    <a:pt x="18424" y="420101"/>
                  </a:cubicBezTo>
                  <a:cubicBezTo>
                    <a:pt x="6627" y="408305"/>
                    <a:pt x="0" y="392305"/>
                    <a:pt x="0" y="375622"/>
                  </a:cubicBezTo>
                  <a:lnTo>
                    <a:pt x="0" y="62903"/>
                  </a:lnTo>
                  <a:cubicBezTo>
                    <a:pt x="0" y="46220"/>
                    <a:pt x="6627" y="30220"/>
                    <a:pt x="18424" y="18424"/>
                  </a:cubicBezTo>
                  <a:cubicBezTo>
                    <a:pt x="30220" y="6627"/>
                    <a:pt x="46220" y="0"/>
                    <a:pt x="62903" y="0"/>
                  </a:cubicBezTo>
                  <a:close/>
                </a:path>
              </a:pathLst>
            </a:custGeom>
            <a:solidFill>
              <a:srgbClr val="D6F5F2"/>
            </a:solidFill>
          </p:spPr>
        </p:sp>
        <p:sp>
          <p:nvSpPr>
            <p:cNvPr name="TextBox 43" id="43"/>
            <p:cNvSpPr txBox="true"/>
            <p:nvPr/>
          </p:nvSpPr>
          <p:spPr>
            <a:xfrm>
              <a:off x="0" y="-9525"/>
              <a:ext cx="292574" cy="448050"/>
            </a:xfrm>
            <a:prstGeom prst="rect">
              <a:avLst/>
            </a:prstGeom>
          </p:spPr>
          <p:txBody>
            <a:bodyPr anchor="ctr" rtlCol="false" tIns="45027" lIns="45027" bIns="45027" rIns="45027"/>
            <a:lstStyle/>
            <a:p>
              <a:pPr algn="ctr">
                <a:lnSpc>
                  <a:spcPts val="1895"/>
                </a:lnSpc>
              </a:pPr>
            </a:p>
          </p:txBody>
        </p:sp>
      </p:grpSp>
      <p:grpSp>
        <p:nvGrpSpPr>
          <p:cNvPr name="Group 44" id="44"/>
          <p:cNvGrpSpPr/>
          <p:nvPr/>
        </p:nvGrpSpPr>
        <p:grpSpPr>
          <a:xfrm rot="0">
            <a:off x="1637141" y="6347468"/>
            <a:ext cx="3199395" cy="1482276"/>
            <a:chOff x="0" y="0"/>
            <a:chExt cx="842639" cy="390394"/>
          </a:xfrm>
        </p:grpSpPr>
        <p:sp>
          <p:nvSpPr>
            <p:cNvPr name="Freeform 45" id="45"/>
            <p:cNvSpPr/>
            <p:nvPr/>
          </p:nvSpPr>
          <p:spPr>
            <a:xfrm flipH="false" flipV="false" rot="0">
              <a:off x="0" y="0"/>
              <a:ext cx="842639" cy="390394"/>
            </a:xfrm>
            <a:custGeom>
              <a:avLst/>
              <a:gdLst/>
              <a:ahLst/>
              <a:cxnLst/>
              <a:rect r="r" b="b" t="t" l="l"/>
              <a:pathLst>
                <a:path h="390394" w="842639">
                  <a:moveTo>
                    <a:pt x="19358" y="0"/>
                  </a:moveTo>
                  <a:lnTo>
                    <a:pt x="823280" y="0"/>
                  </a:lnTo>
                  <a:cubicBezTo>
                    <a:pt x="833972" y="0"/>
                    <a:pt x="842639" y="8667"/>
                    <a:pt x="842639" y="19358"/>
                  </a:cubicBezTo>
                  <a:lnTo>
                    <a:pt x="842639" y="371035"/>
                  </a:lnTo>
                  <a:cubicBezTo>
                    <a:pt x="842639" y="381727"/>
                    <a:pt x="833972" y="390394"/>
                    <a:pt x="823280" y="390394"/>
                  </a:cubicBezTo>
                  <a:lnTo>
                    <a:pt x="19358" y="390394"/>
                  </a:lnTo>
                  <a:cubicBezTo>
                    <a:pt x="8667" y="390394"/>
                    <a:pt x="0" y="381727"/>
                    <a:pt x="0" y="371035"/>
                  </a:cubicBezTo>
                  <a:lnTo>
                    <a:pt x="0" y="19358"/>
                  </a:lnTo>
                  <a:cubicBezTo>
                    <a:pt x="0" y="8667"/>
                    <a:pt x="8667" y="0"/>
                    <a:pt x="19358" y="0"/>
                  </a:cubicBezTo>
                  <a:close/>
                </a:path>
              </a:pathLst>
            </a:custGeom>
            <a:solidFill>
              <a:srgbClr val="F5F5F5"/>
            </a:solidFill>
          </p:spPr>
        </p:sp>
        <p:sp>
          <p:nvSpPr>
            <p:cNvPr name="TextBox 46" id="46"/>
            <p:cNvSpPr txBox="true"/>
            <p:nvPr/>
          </p:nvSpPr>
          <p:spPr>
            <a:xfrm>
              <a:off x="0" y="-9525"/>
              <a:ext cx="842639" cy="399919"/>
            </a:xfrm>
            <a:prstGeom prst="rect">
              <a:avLst/>
            </a:prstGeom>
          </p:spPr>
          <p:txBody>
            <a:bodyPr anchor="ctr" rtlCol="false" tIns="50800" lIns="50800" bIns="50800" rIns="50800"/>
            <a:lstStyle/>
            <a:p>
              <a:pPr algn="ctr">
                <a:lnSpc>
                  <a:spcPts val="1895"/>
                </a:lnSpc>
              </a:pPr>
            </a:p>
          </p:txBody>
        </p:sp>
      </p:grpSp>
      <p:sp>
        <p:nvSpPr>
          <p:cNvPr name="AutoShape 47" id="47"/>
          <p:cNvSpPr/>
          <p:nvPr/>
        </p:nvSpPr>
        <p:spPr>
          <a:xfrm>
            <a:off x="1792749" y="6673731"/>
            <a:ext cx="853362" cy="0"/>
          </a:xfrm>
          <a:prstGeom prst="line">
            <a:avLst/>
          </a:prstGeom>
          <a:ln cap="flat" w="38100">
            <a:solidFill>
              <a:srgbClr val="F34D24"/>
            </a:solidFill>
            <a:prstDash val="solid"/>
            <a:headEnd type="none" len="sm" w="sm"/>
            <a:tailEnd type="none" len="sm" w="sm"/>
          </a:ln>
        </p:spPr>
      </p:sp>
      <p:grpSp>
        <p:nvGrpSpPr>
          <p:cNvPr name="Group 48" id="48"/>
          <p:cNvGrpSpPr/>
          <p:nvPr/>
        </p:nvGrpSpPr>
        <p:grpSpPr>
          <a:xfrm rot="0">
            <a:off x="1637141" y="7921600"/>
            <a:ext cx="3199395" cy="1482276"/>
            <a:chOff x="0" y="0"/>
            <a:chExt cx="842639" cy="390394"/>
          </a:xfrm>
        </p:grpSpPr>
        <p:sp>
          <p:nvSpPr>
            <p:cNvPr name="Freeform 49" id="49"/>
            <p:cNvSpPr/>
            <p:nvPr/>
          </p:nvSpPr>
          <p:spPr>
            <a:xfrm flipH="false" flipV="false" rot="0">
              <a:off x="0" y="0"/>
              <a:ext cx="842639" cy="390394"/>
            </a:xfrm>
            <a:custGeom>
              <a:avLst/>
              <a:gdLst/>
              <a:ahLst/>
              <a:cxnLst/>
              <a:rect r="r" b="b" t="t" l="l"/>
              <a:pathLst>
                <a:path h="390394" w="842639">
                  <a:moveTo>
                    <a:pt x="19358" y="0"/>
                  </a:moveTo>
                  <a:lnTo>
                    <a:pt x="823280" y="0"/>
                  </a:lnTo>
                  <a:cubicBezTo>
                    <a:pt x="833972" y="0"/>
                    <a:pt x="842639" y="8667"/>
                    <a:pt x="842639" y="19358"/>
                  </a:cubicBezTo>
                  <a:lnTo>
                    <a:pt x="842639" y="371035"/>
                  </a:lnTo>
                  <a:cubicBezTo>
                    <a:pt x="842639" y="381727"/>
                    <a:pt x="833972" y="390394"/>
                    <a:pt x="823280" y="390394"/>
                  </a:cubicBezTo>
                  <a:lnTo>
                    <a:pt x="19358" y="390394"/>
                  </a:lnTo>
                  <a:cubicBezTo>
                    <a:pt x="8667" y="390394"/>
                    <a:pt x="0" y="381727"/>
                    <a:pt x="0" y="371035"/>
                  </a:cubicBezTo>
                  <a:lnTo>
                    <a:pt x="0" y="19358"/>
                  </a:lnTo>
                  <a:cubicBezTo>
                    <a:pt x="0" y="8667"/>
                    <a:pt x="8667" y="0"/>
                    <a:pt x="19358" y="0"/>
                  </a:cubicBezTo>
                  <a:close/>
                </a:path>
              </a:pathLst>
            </a:custGeom>
            <a:solidFill>
              <a:srgbClr val="F5F5F5"/>
            </a:solidFill>
          </p:spPr>
        </p:sp>
        <p:sp>
          <p:nvSpPr>
            <p:cNvPr name="TextBox 50" id="50"/>
            <p:cNvSpPr txBox="true"/>
            <p:nvPr/>
          </p:nvSpPr>
          <p:spPr>
            <a:xfrm>
              <a:off x="0" y="-9525"/>
              <a:ext cx="842639" cy="399919"/>
            </a:xfrm>
            <a:prstGeom prst="rect">
              <a:avLst/>
            </a:prstGeom>
          </p:spPr>
          <p:txBody>
            <a:bodyPr anchor="ctr" rtlCol="false" tIns="50800" lIns="50800" bIns="50800" rIns="50800"/>
            <a:lstStyle/>
            <a:p>
              <a:pPr algn="ctr">
                <a:lnSpc>
                  <a:spcPts val="1895"/>
                </a:lnSpc>
              </a:pPr>
            </a:p>
          </p:txBody>
        </p:sp>
      </p:grpSp>
      <p:sp>
        <p:nvSpPr>
          <p:cNvPr name="AutoShape 51" id="51"/>
          <p:cNvSpPr/>
          <p:nvPr/>
        </p:nvSpPr>
        <p:spPr>
          <a:xfrm>
            <a:off x="1792673" y="8209937"/>
            <a:ext cx="1199520" cy="0"/>
          </a:xfrm>
          <a:prstGeom prst="line">
            <a:avLst/>
          </a:prstGeom>
          <a:ln cap="flat" w="38100">
            <a:solidFill>
              <a:srgbClr val="F34D24"/>
            </a:solidFill>
            <a:prstDash val="solid"/>
            <a:headEnd type="none" len="sm" w="sm"/>
            <a:tailEnd type="none" len="sm" w="sm"/>
          </a:ln>
        </p:spPr>
      </p:sp>
      <p:sp>
        <p:nvSpPr>
          <p:cNvPr name="TextBox 52" id="52"/>
          <p:cNvSpPr txBox="true"/>
          <p:nvPr/>
        </p:nvSpPr>
        <p:spPr>
          <a:xfrm rot="0">
            <a:off x="1637141" y="6800995"/>
            <a:ext cx="3199395" cy="385699"/>
          </a:xfrm>
          <a:prstGeom prst="rect">
            <a:avLst/>
          </a:prstGeom>
        </p:spPr>
        <p:txBody>
          <a:bodyPr anchor="t" rtlCol="false" tIns="0" lIns="0" bIns="0" rIns="0">
            <a:spAutoFit/>
          </a:bodyPr>
          <a:lstStyle/>
          <a:p>
            <a:pPr algn="l" marL="302261" indent="-151130" lvl="1">
              <a:lnSpc>
                <a:spcPts val="1568"/>
              </a:lnSpc>
              <a:buFont typeface="Arial"/>
              <a:buChar char="•"/>
            </a:pPr>
            <a:r>
              <a:rPr lang="en-US" sz="1400" spc="28">
                <a:solidFill>
                  <a:srgbClr val="000000"/>
                </a:solidFill>
                <a:latin typeface="Glacial Indifference"/>
                <a:ea typeface="Glacial Indifference"/>
                <a:cs typeface="Glacial Indifference"/>
                <a:sym typeface="Glacial Indifference"/>
              </a:rPr>
              <a:t>Target: swvl1 (soil moisture)</a:t>
            </a:r>
          </a:p>
          <a:p>
            <a:pPr algn="l" marL="302261" indent="-151130" lvl="1">
              <a:lnSpc>
                <a:spcPts val="1568"/>
              </a:lnSpc>
              <a:buFont typeface="Arial"/>
              <a:buChar char="•"/>
            </a:pPr>
            <a:r>
              <a:rPr lang="en-US" sz="1400" spc="28">
                <a:solidFill>
                  <a:srgbClr val="000000"/>
                </a:solidFill>
                <a:latin typeface="Glacial Indifference"/>
                <a:ea typeface="Glacial Indifference"/>
                <a:cs typeface="Glacial Indifference"/>
                <a:sym typeface="Glacial Indifference"/>
              </a:rPr>
              <a:t>Predictor: t2m (temperature)</a:t>
            </a:r>
          </a:p>
        </p:txBody>
      </p:sp>
      <p:sp>
        <p:nvSpPr>
          <p:cNvPr name="TextBox 53" id="53"/>
          <p:cNvSpPr txBox="true"/>
          <p:nvPr/>
        </p:nvSpPr>
        <p:spPr>
          <a:xfrm rot="0">
            <a:off x="1637141" y="8303359"/>
            <a:ext cx="3199395" cy="385699"/>
          </a:xfrm>
          <a:prstGeom prst="rect">
            <a:avLst/>
          </a:prstGeom>
        </p:spPr>
        <p:txBody>
          <a:bodyPr anchor="t" rtlCol="false" tIns="0" lIns="0" bIns="0" rIns="0">
            <a:spAutoFit/>
          </a:bodyPr>
          <a:lstStyle/>
          <a:p>
            <a:pPr algn="l" marL="302261" indent="-151130" lvl="1">
              <a:lnSpc>
                <a:spcPts val="1568"/>
              </a:lnSpc>
              <a:buFont typeface="Arial"/>
              <a:buChar char="•"/>
            </a:pPr>
            <a:r>
              <a:rPr lang="en-US" sz="1400" spc="28">
                <a:solidFill>
                  <a:srgbClr val="000000"/>
                </a:solidFill>
                <a:latin typeface="Glacial Indifference"/>
                <a:ea typeface="Glacial Indifference"/>
                <a:cs typeface="Glacial Indifference"/>
                <a:sym typeface="Glacial Indifference"/>
              </a:rPr>
              <a:t>Train: 2006-2024</a:t>
            </a:r>
          </a:p>
          <a:p>
            <a:pPr algn="l" marL="302261" indent="-151130" lvl="1">
              <a:lnSpc>
                <a:spcPts val="1568"/>
              </a:lnSpc>
              <a:buFont typeface="Arial"/>
              <a:buChar char="•"/>
            </a:pPr>
            <a:r>
              <a:rPr lang="en-US" sz="1400" spc="28">
                <a:solidFill>
                  <a:srgbClr val="000000"/>
                </a:solidFill>
                <a:latin typeface="Glacial Indifference"/>
                <a:ea typeface="Glacial Indifference"/>
                <a:cs typeface="Glacial Indifference"/>
                <a:sym typeface="Glacial Indifference"/>
              </a:rPr>
              <a:t>Test: 2025-2080</a:t>
            </a:r>
          </a:p>
        </p:txBody>
      </p:sp>
      <p:grpSp>
        <p:nvGrpSpPr>
          <p:cNvPr name="Group 54" id="54"/>
          <p:cNvGrpSpPr/>
          <p:nvPr/>
        </p:nvGrpSpPr>
        <p:grpSpPr>
          <a:xfrm rot="0">
            <a:off x="6092313" y="6459482"/>
            <a:ext cx="4532647" cy="2944395"/>
            <a:chOff x="0" y="0"/>
            <a:chExt cx="1193784" cy="775478"/>
          </a:xfrm>
        </p:grpSpPr>
        <p:sp>
          <p:nvSpPr>
            <p:cNvPr name="Freeform 55" id="55"/>
            <p:cNvSpPr/>
            <p:nvPr/>
          </p:nvSpPr>
          <p:spPr>
            <a:xfrm flipH="false" flipV="false" rot="0">
              <a:off x="0" y="0"/>
              <a:ext cx="1193784" cy="775478"/>
            </a:xfrm>
            <a:custGeom>
              <a:avLst/>
              <a:gdLst/>
              <a:ahLst/>
              <a:cxnLst/>
              <a:rect r="r" b="b" t="t" l="l"/>
              <a:pathLst>
                <a:path h="775478" w="1193784">
                  <a:moveTo>
                    <a:pt x="13664" y="0"/>
                  </a:moveTo>
                  <a:lnTo>
                    <a:pt x="1180119" y="0"/>
                  </a:lnTo>
                  <a:cubicBezTo>
                    <a:pt x="1187666" y="0"/>
                    <a:pt x="1193784" y="6118"/>
                    <a:pt x="1193784" y="13664"/>
                  </a:cubicBezTo>
                  <a:lnTo>
                    <a:pt x="1193784" y="761814"/>
                  </a:lnTo>
                  <a:cubicBezTo>
                    <a:pt x="1193784" y="765438"/>
                    <a:pt x="1192344" y="768914"/>
                    <a:pt x="1189782" y="771476"/>
                  </a:cubicBezTo>
                  <a:cubicBezTo>
                    <a:pt x="1187219" y="774039"/>
                    <a:pt x="1183743" y="775478"/>
                    <a:pt x="1180119" y="775478"/>
                  </a:cubicBezTo>
                  <a:lnTo>
                    <a:pt x="13664" y="775478"/>
                  </a:lnTo>
                  <a:cubicBezTo>
                    <a:pt x="10040" y="775478"/>
                    <a:pt x="6565" y="774039"/>
                    <a:pt x="4002" y="771476"/>
                  </a:cubicBezTo>
                  <a:cubicBezTo>
                    <a:pt x="1440" y="768914"/>
                    <a:pt x="0" y="765438"/>
                    <a:pt x="0" y="761814"/>
                  </a:cubicBezTo>
                  <a:lnTo>
                    <a:pt x="0" y="13664"/>
                  </a:lnTo>
                  <a:cubicBezTo>
                    <a:pt x="0" y="10040"/>
                    <a:pt x="1440" y="6565"/>
                    <a:pt x="4002" y="4002"/>
                  </a:cubicBezTo>
                  <a:cubicBezTo>
                    <a:pt x="6565" y="1440"/>
                    <a:pt x="10040" y="0"/>
                    <a:pt x="13664" y="0"/>
                  </a:cubicBezTo>
                  <a:close/>
                </a:path>
              </a:pathLst>
            </a:custGeom>
            <a:solidFill>
              <a:srgbClr val="F5F5F5"/>
            </a:solidFill>
          </p:spPr>
        </p:sp>
        <p:sp>
          <p:nvSpPr>
            <p:cNvPr name="TextBox 56" id="56"/>
            <p:cNvSpPr txBox="true"/>
            <p:nvPr/>
          </p:nvSpPr>
          <p:spPr>
            <a:xfrm>
              <a:off x="0" y="-9525"/>
              <a:ext cx="1193784" cy="785003"/>
            </a:xfrm>
            <a:prstGeom prst="rect">
              <a:avLst/>
            </a:prstGeom>
          </p:spPr>
          <p:txBody>
            <a:bodyPr anchor="ctr" rtlCol="false" tIns="50800" lIns="50800" bIns="50800" rIns="50800"/>
            <a:lstStyle/>
            <a:p>
              <a:pPr algn="ctr">
                <a:lnSpc>
                  <a:spcPts val="1895"/>
                </a:lnSpc>
              </a:pPr>
            </a:p>
          </p:txBody>
        </p:sp>
      </p:grpSp>
      <p:sp>
        <p:nvSpPr>
          <p:cNvPr name="AutoShape 57" id="57"/>
          <p:cNvSpPr/>
          <p:nvPr/>
        </p:nvSpPr>
        <p:spPr>
          <a:xfrm>
            <a:off x="6174387" y="7458128"/>
            <a:ext cx="1133555" cy="0"/>
          </a:xfrm>
          <a:prstGeom prst="line">
            <a:avLst/>
          </a:prstGeom>
          <a:ln cap="flat" w="38100">
            <a:solidFill>
              <a:srgbClr val="F34D24"/>
            </a:solidFill>
            <a:prstDash val="solid"/>
            <a:headEnd type="none" len="sm" w="sm"/>
            <a:tailEnd type="none" len="sm" w="sm"/>
          </a:ln>
        </p:spPr>
      </p:sp>
      <p:grpSp>
        <p:nvGrpSpPr>
          <p:cNvPr name="Group 58" id="58"/>
          <p:cNvGrpSpPr/>
          <p:nvPr/>
        </p:nvGrpSpPr>
        <p:grpSpPr>
          <a:xfrm rot="0">
            <a:off x="13093638" y="7038361"/>
            <a:ext cx="4175760" cy="2008706"/>
            <a:chOff x="0" y="0"/>
            <a:chExt cx="1391900" cy="669559"/>
          </a:xfrm>
        </p:grpSpPr>
        <p:sp>
          <p:nvSpPr>
            <p:cNvPr name="Freeform 59" id="59"/>
            <p:cNvSpPr/>
            <p:nvPr/>
          </p:nvSpPr>
          <p:spPr>
            <a:xfrm flipH="false" flipV="false" rot="0">
              <a:off x="0" y="0"/>
              <a:ext cx="1391900" cy="669559"/>
            </a:xfrm>
            <a:custGeom>
              <a:avLst/>
              <a:gdLst/>
              <a:ahLst/>
              <a:cxnLst/>
              <a:rect r="r" b="b" t="t" l="l"/>
              <a:pathLst>
                <a:path h="669559" w="1391900">
                  <a:moveTo>
                    <a:pt x="18540" y="0"/>
                  </a:moveTo>
                  <a:lnTo>
                    <a:pt x="1373360" y="0"/>
                  </a:lnTo>
                  <a:cubicBezTo>
                    <a:pt x="1383599" y="0"/>
                    <a:pt x="1391900" y="8301"/>
                    <a:pt x="1391900" y="18540"/>
                  </a:cubicBezTo>
                  <a:lnTo>
                    <a:pt x="1391900" y="651019"/>
                  </a:lnTo>
                  <a:cubicBezTo>
                    <a:pt x="1391900" y="661258"/>
                    <a:pt x="1383599" y="669559"/>
                    <a:pt x="1373360" y="669559"/>
                  </a:cubicBezTo>
                  <a:lnTo>
                    <a:pt x="18540" y="669559"/>
                  </a:lnTo>
                  <a:cubicBezTo>
                    <a:pt x="8301" y="669559"/>
                    <a:pt x="0" y="661258"/>
                    <a:pt x="0" y="651019"/>
                  </a:cubicBezTo>
                  <a:lnTo>
                    <a:pt x="0" y="18540"/>
                  </a:lnTo>
                  <a:cubicBezTo>
                    <a:pt x="0" y="8301"/>
                    <a:pt x="8301" y="0"/>
                    <a:pt x="18540" y="0"/>
                  </a:cubicBezTo>
                  <a:close/>
                </a:path>
              </a:pathLst>
            </a:custGeom>
            <a:solidFill>
              <a:srgbClr val="000000">
                <a:alpha val="0"/>
              </a:srgbClr>
            </a:solidFill>
            <a:ln w="28575" cap="sq">
              <a:solidFill>
                <a:srgbClr val="E61C24"/>
              </a:solidFill>
              <a:prstDash val="solid"/>
              <a:miter/>
            </a:ln>
          </p:spPr>
        </p:sp>
        <p:sp>
          <p:nvSpPr>
            <p:cNvPr name="TextBox 60" id="60"/>
            <p:cNvSpPr txBox="true"/>
            <p:nvPr/>
          </p:nvSpPr>
          <p:spPr>
            <a:xfrm>
              <a:off x="0" y="0"/>
              <a:ext cx="1391900" cy="669559"/>
            </a:xfrm>
            <a:prstGeom prst="rect">
              <a:avLst/>
            </a:prstGeom>
          </p:spPr>
          <p:txBody>
            <a:bodyPr anchor="ctr" rtlCol="false" tIns="50800" lIns="50800" bIns="50800" rIns="50800"/>
            <a:lstStyle/>
            <a:p>
              <a:pPr algn="ctr">
                <a:lnSpc>
                  <a:spcPts val="1671"/>
                </a:lnSpc>
              </a:pPr>
            </a:p>
          </p:txBody>
        </p:sp>
      </p:grpSp>
      <p:grpSp>
        <p:nvGrpSpPr>
          <p:cNvPr name="Group 61" id="61"/>
          <p:cNvGrpSpPr/>
          <p:nvPr/>
        </p:nvGrpSpPr>
        <p:grpSpPr>
          <a:xfrm rot="0">
            <a:off x="13592394" y="6894533"/>
            <a:ext cx="3221356" cy="292100"/>
            <a:chOff x="0" y="0"/>
            <a:chExt cx="848423" cy="76932"/>
          </a:xfrm>
        </p:grpSpPr>
        <p:sp>
          <p:nvSpPr>
            <p:cNvPr name="Freeform 62" id="62"/>
            <p:cNvSpPr/>
            <p:nvPr/>
          </p:nvSpPr>
          <p:spPr>
            <a:xfrm flipH="false" flipV="false" rot="0">
              <a:off x="0" y="0"/>
              <a:ext cx="848423" cy="76932"/>
            </a:xfrm>
            <a:custGeom>
              <a:avLst/>
              <a:gdLst/>
              <a:ahLst/>
              <a:cxnLst/>
              <a:rect r="r" b="b" t="t" l="l"/>
              <a:pathLst>
                <a:path h="76932" w="848423">
                  <a:moveTo>
                    <a:pt x="38466" y="0"/>
                  </a:moveTo>
                  <a:lnTo>
                    <a:pt x="809957" y="0"/>
                  </a:lnTo>
                  <a:cubicBezTo>
                    <a:pt x="831201" y="0"/>
                    <a:pt x="848423" y="17222"/>
                    <a:pt x="848423" y="38466"/>
                  </a:cubicBezTo>
                  <a:lnTo>
                    <a:pt x="848423" y="38466"/>
                  </a:lnTo>
                  <a:cubicBezTo>
                    <a:pt x="848423" y="59710"/>
                    <a:pt x="831201" y="76932"/>
                    <a:pt x="809957" y="76932"/>
                  </a:cubicBezTo>
                  <a:lnTo>
                    <a:pt x="38466" y="76932"/>
                  </a:lnTo>
                  <a:cubicBezTo>
                    <a:pt x="17222" y="76932"/>
                    <a:pt x="0" y="59710"/>
                    <a:pt x="0" y="38466"/>
                  </a:cubicBezTo>
                  <a:lnTo>
                    <a:pt x="0" y="38466"/>
                  </a:lnTo>
                  <a:cubicBezTo>
                    <a:pt x="0" y="17222"/>
                    <a:pt x="17222" y="0"/>
                    <a:pt x="38466" y="0"/>
                  </a:cubicBezTo>
                  <a:close/>
                </a:path>
              </a:pathLst>
            </a:custGeom>
            <a:solidFill>
              <a:srgbClr val="E62E3A"/>
            </a:solidFill>
          </p:spPr>
        </p:sp>
        <p:sp>
          <p:nvSpPr>
            <p:cNvPr name="TextBox 63" id="63"/>
            <p:cNvSpPr txBox="true"/>
            <p:nvPr/>
          </p:nvSpPr>
          <p:spPr>
            <a:xfrm>
              <a:off x="0" y="19050"/>
              <a:ext cx="848423" cy="57882"/>
            </a:xfrm>
            <a:prstGeom prst="rect">
              <a:avLst/>
            </a:prstGeom>
          </p:spPr>
          <p:txBody>
            <a:bodyPr anchor="ctr" rtlCol="false" tIns="50800" lIns="50800" bIns="50800" rIns="50800"/>
            <a:lstStyle/>
            <a:p>
              <a:pPr algn="ctr">
                <a:lnSpc>
                  <a:spcPts val="1895"/>
                </a:lnSpc>
              </a:pPr>
            </a:p>
          </p:txBody>
        </p:sp>
      </p:grpSp>
      <p:sp>
        <p:nvSpPr>
          <p:cNvPr name="AutoShape 64" id="64"/>
          <p:cNvSpPr/>
          <p:nvPr/>
        </p:nvSpPr>
        <p:spPr>
          <a:xfrm>
            <a:off x="4800638" y="2952465"/>
            <a:ext cx="1220537" cy="700423"/>
          </a:xfrm>
          <a:prstGeom prst="line">
            <a:avLst/>
          </a:prstGeom>
          <a:ln cap="flat" w="38100">
            <a:solidFill>
              <a:srgbClr val="F34D24"/>
            </a:solidFill>
            <a:prstDash val="solid"/>
            <a:headEnd type="none" len="sm" w="sm"/>
            <a:tailEnd type="triangle" len="med" w="lg"/>
          </a:ln>
        </p:spPr>
      </p:sp>
      <p:sp>
        <p:nvSpPr>
          <p:cNvPr name="AutoShape 65" id="65"/>
          <p:cNvSpPr/>
          <p:nvPr/>
        </p:nvSpPr>
        <p:spPr>
          <a:xfrm flipV="true">
            <a:off x="4800638" y="3784671"/>
            <a:ext cx="1217047" cy="794545"/>
          </a:xfrm>
          <a:prstGeom prst="line">
            <a:avLst/>
          </a:prstGeom>
          <a:ln cap="flat" w="38100">
            <a:solidFill>
              <a:srgbClr val="F34D24"/>
            </a:solidFill>
            <a:prstDash val="solid"/>
            <a:headEnd type="none" len="sm" w="sm"/>
            <a:tailEnd type="triangle" len="med" w="lg"/>
          </a:ln>
        </p:spPr>
      </p:sp>
      <p:sp>
        <p:nvSpPr>
          <p:cNvPr name="AutoShape 66" id="66"/>
          <p:cNvSpPr/>
          <p:nvPr/>
        </p:nvSpPr>
        <p:spPr>
          <a:xfrm>
            <a:off x="10692765" y="3791606"/>
            <a:ext cx="2290408" cy="0"/>
          </a:xfrm>
          <a:prstGeom prst="line">
            <a:avLst/>
          </a:prstGeom>
          <a:ln cap="flat" w="38100">
            <a:solidFill>
              <a:srgbClr val="F34D24"/>
            </a:solidFill>
            <a:prstDash val="solid"/>
            <a:headEnd type="none" len="sm" w="sm"/>
            <a:tailEnd type="triangle" len="med" w="lg"/>
          </a:ln>
        </p:spPr>
      </p:sp>
      <p:sp>
        <p:nvSpPr>
          <p:cNvPr name="AutoShape 67" id="67"/>
          <p:cNvSpPr/>
          <p:nvPr/>
        </p:nvSpPr>
        <p:spPr>
          <a:xfrm>
            <a:off x="4800638" y="7110272"/>
            <a:ext cx="1220537" cy="700423"/>
          </a:xfrm>
          <a:prstGeom prst="line">
            <a:avLst/>
          </a:prstGeom>
          <a:ln cap="flat" w="38100">
            <a:solidFill>
              <a:srgbClr val="F34D24"/>
            </a:solidFill>
            <a:prstDash val="solid"/>
            <a:headEnd type="none" len="sm" w="sm"/>
            <a:tailEnd type="triangle" len="med" w="lg"/>
          </a:ln>
        </p:spPr>
      </p:sp>
      <p:sp>
        <p:nvSpPr>
          <p:cNvPr name="AutoShape 68" id="68"/>
          <p:cNvSpPr/>
          <p:nvPr/>
        </p:nvSpPr>
        <p:spPr>
          <a:xfrm flipV="true">
            <a:off x="4804128" y="7803140"/>
            <a:ext cx="1217047" cy="794545"/>
          </a:xfrm>
          <a:prstGeom prst="line">
            <a:avLst/>
          </a:prstGeom>
          <a:ln cap="flat" w="38100">
            <a:solidFill>
              <a:srgbClr val="F34D24"/>
            </a:solidFill>
            <a:prstDash val="solid"/>
            <a:headEnd type="none" len="sm" w="sm"/>
            <a:tailEnd type="triangle" len="med" w="lg"/>
          </a:ln>
        </p:spPr>
      </p:sp>
      <p:sp>
        <p:nvSpPr>
          <p:cNvPr name="AutoShape 69" id="69"/>
          <p:cNvSpPr/>
          <p:nvPr/>
        </p:nvSpPr>
        <p:spPr>
          <a:xfrm>
            <a:off x="10624961" y="7953396"/>
            <a:ext cx="2468677" cy="0"/>
          </a:xfrm>
          <a:prstGeom prst="line">
            <a:avLst/>
          </a:prstGeom>
          <a:ln cap="flat" w="38100">
            <a:solidFill>
              <a:srgbClr val="F34D24"/>
            </a:solidFill>
            <a:prstDash val="solid"/>
            <a:headEnd type="none" len="sm" w="sm"/>
            <a:tailEnd type="triangle" len="med" w="lg"/>
          </a:ln>
        </p:spPr>
      </p:sp>
      <p:sp>
        <p:nvSpPr>
          <p:cNvPr name="Freeform 70" id="70"/>
          <p:cNvSpPr/>
          <p:nvPr/>
        </p:nvSpPr>
        <p:spPr>
          <a:xfrm flipH="false" flipV="false" rot="0">
            <a:off x="11690436" y="177518"/>
            <a:ext cx="1528538" cy="1528538"/>
          </a:xfrm>
          <a:custGeom>
            <a:avLst/>
            <a:gdLst/>
            <a:ahLst/>
            <a:cxnLst/>
            <a:rect r="r" b="b" t="t" l="l"/>
            <a:pathLst>
              <a:path h="1528538" w="1528538">
                <a:moveTo>
                  <a:pt x="0" y="0"/>
                </a:moveTo>
                <a:lnTo>
                  <a:pt x="1528538" y="0"/>
                </a:lnTo>
                <a:lnTo>
                  <a:pt x="1528538" y="1528537"/>
                </a:lnTo>
                <a:lnTo>
                  <a:pt x="0" y="15285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1" id="71"/>
          <p:cNvSpPr txBox="true"/>
          <p:nvPr/>
        </p:nvSpPr>
        <p:spPr>
          <a:xfrm rot="0">
            <a:off x="543127" y="366988"/>
            <a:ext cx="15990534"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Modelling Future Soil Moisture under Climate Change</a:t>
            </a:r>
          </a:p>
        </p:txBody>
      </p:sp>
      <p:sp>
        <p:nvSpPr>
          <p:cNvPr name="TextBox 72" id="72"/>
          <p:cNvSpPr txBox="true"/>
          <p:nvPr/>
        </p:nvSpPr>
        <p:spPr>
          <a:xfrm rot="0">
            <a:off x="543127" y="941786"/>
            <a:ext cx="15311396" cy="296545"/>
          </a:xfrm>
          <a:prstGeom prst="rect">
            <a:avLst/>
          </a:prstGeom>
        </p:spPr>
        <p:txBody>
          <a:bodyPr anchor="t" rtlCol="false" tIns="0" lIns="0" bIns="0" rIns="0">
            <a:spAutoFit/>
          </a:bodyPr>
          <a:lstStyle/>
          <a:p>
            <a:pPr algn="just">
              <a:lnSpc>
                <a:spcPts val="2240"/>
              </a:lnSpc>
            </a:pPr>
            <a:r>
              <a:rPr lang="en-US" sz="2000" spc="40">
                <a:solidFill>
                  <a:srgbClr val="FE763A"/>
                </a:solidFill>
                <a:latin typeface="Glacial Indifference"/>
                <a:ea typeface="Glacial Indifference"/>
                <a:cs typeface="Glacial Indifference"/>
                <a:sym typeface="Glacial Indifference"/>
              </a:rPr>
              <a:t>A Two-Stage Framework Combining Time Series Forecasting and Machine Learning</a:t>
            </a:r>
          </a:p>
        </p:txBody>
      </p:sp>
      <p:sp>
        <p:nvSpPr>
          <p:cNvPr name="TextBox 73" id="73"/>
          <p:cNvSpPr txBox="true"/>
          <p:nvPr/>
        </p:nvSpPr>
        <p:spPr>
          <a:xfrm rot="0">
            <a:off x="486190" y="3283476"/>
            <a:ext cx="912786" cy="885825"/>
          </a:xfrm>
          <a:prstGeom prst="rect">
            <a:avLst/>
          </a:prstGeom>
        </p:spPr>
        <p:txBody>
          <a:bodyPr anchor="t" rtlCol="false" tIns="0" lIns="0" bIns="0" rIns="0">
            <a:spAutoFit/>
          </a:bodyPr>
          <a:lstStyle/>
          <a:p>
            <a:pPr algn="ctr">
              <a:lnSpc>
                <a:spcPts val="1725"/>
              </a:lnSpc>
            </a:pPr>
            <a:r>
              <a:rPr lang="en-US" b="true" sz="1500">
                <a:solidFill>
                  <a:srgbClr val="000000"/>
                </a:solidFill>
                <a:latin typeface="Glacial Indifference Bold"/>
                <a:ea typeface="Glacial Indifference Bold"/>
                <a:cs typeface="Glacial Indifference Bold"/>
                <a:sym typeface="Glacial Indifference Bold"/>
              </a:rPr>
              <a:t>CEMS Datasets (2006-2080)</a:t>
            </a:r>
          </a:p>
        </p:txBody>
      </p:sp>
      <p:sp>
        <p:nvSpPr>
          <p:cNvPr name="TextBox 74" id="74"/>
          <p:cNvSpPr txBox="true"/>
          <p:nvPr/>
        </p:nvSpPr>
        <p:spPr>
          <a:xfrm rot="0">
            <a:off x="1792749" y="2329487"/>
            <a:ext cx="1091675" cy="195199"/>
          </a:xfrm>
          <a:prstGeom prst="rect">
            <a:avLst/>
          </a:prstGeom>
        </p:spPr>
        <p:txBody>
          <a:bodyPr anchor="t" rtlCol="false" tIns="0" lIns="0" bIns="0" rIns="0">
            <a:spAutoFit/>
          </a:bodyPr>
          <a:lstStyle/>
          <a:p>
            <a:pPr algn="l">
              <a:lnSpc>
                <a:spcPts val="1568"/>
              </a:lnSpc>
            </a:pPr>
            <a:r>
              <a:rPr lang="en-US" sz="1400" spc="28" b="true">
                <a:solidFill>
                  <a:srgbClr val="000000"/>
                </a:solidFill>
                <a:latin typeface="Glacial Indifference Bold"/>
                <a:ea typeface="Glacial Indifference Bold"/>
                <a:cs typeface="Glacial Indifference Bold"/>
                <a:sym typeface="Glacial Indifference Bold"/>
              </a:rPr>
              <a:t>Variables</a:t>
            </a:r>
          </a:p>
        </p:txBody>
      </p:sp>
      <p:sp>
        <p:nvSpPr>
          <p:cNvPr name="TextBox 75" id="75"/>
          <p:cNvSpPr txBox="true"/>
          <p:nvPr/>
        </p:nvSpPr>
        <p:spPr>
          <a:xfrm rot="0">
            <a:off x="1792749" y="3875218"/>
            <a:ext cx="1091675" cy="195199"/>
          </a:xfrm>
          <a:prstGeom prst="rect">
            <a:avLst/>
          </a:prstGeom>
        </p:spPr>
        <p:txBody>
          <a:bodyPr anchor="t" rtlCol="false" tIns="0" lIns="0" bIns="0" rIns="0">
            <a:spAutoFit/>
          </a:bodyPr>
          <a:lstStyle/>
          <a:p>
            <a:pPr algn="l">
              <a:lnSpc>
                <a:spcPts val="1568"/>
              </a:lnSpc>
            </a:pPr>
            <a:r>
              <a:rPr lang="en-US" sz="1400" spc="28" b="true">
                <a:solidFill>
                  <a:srgbClr val="000000"/>
                </a:solidFill>
                <a:latin typeface="Glacial Indifference Bold"/>
                <a:ea typeface="Glacial Indifference Bold"/>
                <a:cs typeface="Glacial Indifference Bold"/>
                <a:sym typeface="Glacial Indifference Bold"/>
              </a:rPr>
              <a:t>Train vs Test</a:t>
            </a:r>
          </a:p>
        </p:txBody>
      </p:sp>
      <p:sp>
        <p:nvSpPr>
          <p:cNvPr name="TextBox 76" id="76"/>
          <p:cNvSpPr txBox="true"/>
          <p:nvPr/>
        </p:nvSpPr>
        <p:spPr>
          <a:xfrm rot="0">
            <a:off x="6290462" y="2291387"/>
            <a:ext cx="1181667" cy="195199"/>
          </a:xfrm>
          <a:prstGeom prst="rect">
            <a:avLst/>
          </a:prstGeom>
        </p:spPr>
        <p:txBody>
          <a:bodyPr anchor="t" rtlCol="false" tIns="0" lIns="0" bIns="0" rIns="0">
            <a:spAutoFit/>
          </a:bodyPr>
          <a:lstStyle/>
          <a:p>
            <a:pPr algn="l">
              <a:lnSpc>
                <a:spcPts val="1568"/>
              </a:lnSpc>
            </a:pPr>
            <a:r>
              <a:rPr lang="en-US" sz="1400" spc="28" b="true">
                <a:solidFill>
                  <a:srgbClr val="000000"/>
                </a:solidFill>
                <a:latin typeface="Glacial Indifference Bold"/>
                <a:ea typeface="Glacial Indifference Bold"/>
                <a:cs typeface="Glacial Indifference Bold"/>
                <a:sym typeface="Glacial Indifference Bold"/>
              </a:rPr>
              <a:t>Methodology</a:t>
            </a:r>
          </a:p>
        </p:txBody>
      </p:sp>
      <p:sp>
        <p:nvSpPr>
          <p:cNvPr name="TextBox 77" id="77"/>
          <p:cNvSpPr txBox="true"/>
          <p:nvPr/>
        </p:nvSpPr>
        <p:spPr>
          <a:xfrm rot="0">
            <a:off x="6227921" y="2629461"/>
            <a:ext cx="4397040" cy="2481199"/>
          </a:xfrm>
          <a:prstGeom prst="rect">
            <a:avLst/>
          </a:prstGeom>
        </p:spPr>
        <p:txBody>
          <a:bodyPr anchor="t" rtlCol="false" tIns="0" lIns="0" bIns="0" rIns="0">
            <a:spAutoFit/>
          </a:bodyPr>
          <a:lstStyle/>
          <a:p>
            <a:pPr algn="l">
              <a:lnSpc>
                <a:spcPts val="1568"/>
              </a:lnSpc>
            </a:pPr>
            <a:r>
              <a:rPr lang="en-US" sz="1400" spc="28">
                <a:solidFill>
                  <a:srgbClr val="000000"/>
                </a:solidFill>
                <a:latin typeface="Glacial Indifference"/>
                <a:ea typeface="Glacial Indifference"/>
                <a:cs typeface="Glacial Indifference"/>
                <a:sym typeface="Glacial Indifference"/>
              </a:rPr>
              <a:t>Three modelling strategies were explored for temperature forecasting:</a:t>
            </a:r>
          </a:p>
          <a:p>
            <a:pPr algn="l">
              <a:lnSpc>
                <a:spcPts val="1568"/>
              </a:lnSpc>
            </a:pPr>
            <a:r>
              <a:rPr lang="en-US" sz="1400" spc="28">
                <a:solidFill>
                  <a:srgbClr val="000000"/>
                </a:solidFill>
                <a:latin typeface="Glacial Indifference"/>
                <a:ea typeface="Glacial Indifference"/>
                <a:cs typeface="Glacial Indifference"/>
                <a:sym typeface="Glacial Indifference"/>
              </a:rPr>
              <a:t>(1) </a:t>
            </a:r>
            <a:r>
              <a:rPr lang="en-US" sz="1400" spc="28">
                <a:solidFill>
                  <a:srgbClr val="000000"/>
                </a:solidFill>
                <a:latin typeface="Glacial Indifference"/>
                <a:ea typeface="Glacial Indifference"/>
                <a:cs typeface="Glacial Indifference"/>
                <a:sym typeface="Glacial Indifference"/>
              </a:rPr>
              <a:t>Prophet – applied to the average TREFHT across all spatial locations</a:t>
            </a:r>
          </a:p>
          <a:p>
            <a:pPr algn="l">
              <a:lnSpc>
                <a:spcPts val="1568"/>
              </a:lnSpc>
            </a:pPr>
            <a:r>
              <a:rPr lang="en-US" sz="1400" spc="28">
                <a:solidFill>
                  <a:srgbClr val="000000"/>
                </a:solidFill>
                <a:latin typeface="Glacial Indifference"/>
                <a:ea typeface="Glacial Indifference"/>
                <a:cs typeface="Glacial Indifference"/>
                <a:sym typeface="Glacial Indifference"/>
              </a:rPr>
              <a:t>(2) </a:t>
            </a:r>
            <a:r>
              <a:rPr lang="en-US" sz="1400" spc="28">
                <a:solidFill>
                  <a:srgbClr val="000000"/>
                </a:solidFill>
                <a:latin typeface="Glacial Indifference"/>
                <a:ea typeface="Glacial Indifference"/>
                <a:cs typeface="Glacial Indifference"/>
                <a:sym typeface="Glacial Indifference"/>
              </a:rPr>
              <a:t>XGBoost – using the average TREFHT values across locations</a:t>
            </a:r>
          </a:p>
          <a:p>
            <a:pPr algn="l">
              <a:lnSpc>
                <a:spcPts val="1568"/>
              </a:lnSpc>
            </a:pPr>
            <a:r>
              <a:rPr lang="en-US" sz="1400" spc="28">
                <a:solidFill>
                  <a:srgbClr val="000000"/>
                </a:solidFill>
                <a:latin typeface="Glacial Indifference"/>
                <a:ea typeface="Glacial Indifference"/>
                <a:cs typeface="Glacial Indifference"/>
                <a:sym typeface="Glacial Indifference"/>
              </a:rPr>
              <a:t>(3) </a:t>
            </a:r>
            <a:r>
              <a:rPr lang="en-US" sz="1400" spc="28">
                <a:solidFill>
                  <a:srgbClr val="000000"/>
                </a:solidFill>
                <a:latin typeface="Glacial Indifference"/>
                <a:ea typeface="Glacial Indifference"/>
                <a:cs typeface="Glacial Indifference"/>
                <a:sym typeface="Glacial Indifference"/>
              </a:rPr>
              <a:t>XGBoost with XESMF interpolation – preserving the spatial component to enable location-specific predictions</a:t>
            </a:r>
          </a:p>
          <a:p>
            <a:pPr algn="l">
              <a:lnSpc>
                <a:spcPts val="1568"/>
              </a:lnSpc>
            </a:pPr>
          </a:p>
          <a:p>
            <a:pPr algn="l">
              <a:lnSpc>
                <a:spcPts val="1568"/>
              </a:lnSpc>
            </a:pPr>
            <a:r>
              <a:rPr lang="en-US" sz="1400" spc="28">
                <a:solidFill>
                  <a:srgbClr val="000000"/>
                </a:solidFill>
                <a:latin typeface="Glacial Indifference"/>
                <a:ea typeface="Glacial Indifference"/>
                <a:cs typeface="Glacial Indifference"/>
                <a:sym typeface="Glacial Indifference"/>
              </a:rPr>
              <a:t>Each model was evaluated using cross-validation to improve generalisation and ensure robust performance. </a:t>
            </a:r>
          </a:p>
        </p:txBody>
      </p:sp>
      <p:sp>
        <p:nvSpPr>
          <p:cNvPr name="TextBox 78" id="78"/>
          <p:cNvSpPr txBox="true"/>
          <p:nvPr/>
        </p:nvSpPr>
        <p:spPr>
          <a:xfrm rot="0">
            <a:off x="13218974" y="2699997"/>
            <a:ext cx="3925089" cy="306705"/>
          </a:xfrm>
          <a:prstGeom prst="rect">
            <a:avLst/>
          </a:prstGeom>
        </p:spPr>
        <p:txBody>
          <a:bodyPr anchor="t" rtlCol="false" tIns="0" lIns="0" bIns="0" rIns="0">
            <a:spAutoFit/>
          </a:bodyPr>
          <a:lstStyle/>
          <a:p>
            <a:pPr algn="ctr">
              <a:lnSpc>
                <a:spcPts val="2519"/>
              </a:lnSpc>
            </a:pPr>
            <a:r>
              <a:rPr lang="en-US" sz="1799" b="true">
                <a:solidFill>
                  <a:srgbClr val="FFFFFF"/>
                </a:solidFill>
                <a:latin typeface="Glacial Indifference Bold"/>
                <a:ea typeface="Glacial Indifference Bold"/>
                <a:cs typeface="Glacial Indifference Bold"/>
                <a:sym typeface="Glacial Indifference Bold"/>
              </a:rPr>
              <a:t>Output</a:t>
            </a:r>
          </a:p>
        </p:txBody>
      </p:sp>
      <p:sp>
        <p:nvSpPr>
          <p:cNvPr name="TextBox 79" id="79"/>
          <p:cNvSpPr txBox="true"/>
          <p:nvPr/>
        </p:nvSpPr>
        <p:spPr>
          <a:xfrm rot="0">
            <a:off x="13298121" y="3299321"/>
            <a:ext cx="3809902" cy="195199"/>
          </a:xfrm>
          <a:prstGeom prst="rect">
            <a:avLst/>
          </a:prstGeom>
        </p:spPr>
        <p:txBody>
          <a:bodyPr anchor="t" rtlCol="false" tIns="0" lIns="0" bIns="0" rIns="0">
            <a:spAutoFit/>
          </a:bodyPr>
          <a:lstStyle/>
          <a:p>
            <a:pPr algn="l">
              <a:lnSpc>
                <a:spcPts val="1568"/>
              </a:lnSpc>
              <a:spcBef>
                <a:spcPct val="0"/>
              </a:spcBef>
            </a:pPr>
            <a:r>
              <a:rPr lang="en-US" sz="1400" spc="28">
                <a:solidFill>
                  <a:srgbClr val="000000"/>
                </a:solidFill>
                <a:latin typeface="Glacial Indifference"/>
                <a:ea typeface="Glacial Indifference"/>
                <a:cs typeface="Glacial Indifference"/>
                <a:sym typeface="Glacial Indifference"/>
              </a:rPr>
              <a:t>Projected TREFHT 2025-2080</a:t>
            </a:r>
          </a:p>
        </p:txBody>
      </p:sp>
      <p:sp>
        <p:nvSpPr>
          <p:cNvPr name="TextBox 80" id="80"/>
          <p:cNvSpPr txBox="true"/>
          <p:nvPr/>
        </p:nvSpPr>
        <p:spPr>
          <a:xfrm rot="0">
            <a:off x="13276567" y="3592595"/>
            <a:ext cx="3809902" cy="957199"/>
          </a:xfrm>
          <a:prstGeom prst="rect">
            <a:avLst/>
          </a:prstGeom>
        </p:spPr>
        <p:txBody>
          <a:bodyPr anchor="t" rtlCol="false" tIns="0" lIns="0" bIns="0" rIns="0">
            <a:spAutoFit/>
          </a:bodyPr>
          <a:lstStyle/>
          <a:p>
            <a:pPr algn="l">
              <a:lnSpc>
                <a:spcPts val="1568"/>
              </a:lnSpc>
              <a:spcBef>
                <a:spcPct val="0"/>
              </a:spcBef>
            </a:pPr>
            <a:r>
              <a:rPr lang="en-US" b="true" sz="1400" spc="28">
                <a:solidFill>
                  <a:srgbClr val="000000"/>
                </a:solidFill>
                <a:latin typeface="Glacial Indifference Bold"/>
                <a:ea typeface="Glacial Indifference Bold"/>
                <a:cs typeface="Glacial Indifference Bold"/>
                <a:sym typeface="Glacial Indifference Bold"/>
              </a:rPr>
              <a:t>Use this projection to validate the synthesis TREFHT data in the given dataset, choose the projection with the lowest error, then use it as input for the second modelling stage.</a:t>
            </a:r>
          </a:p>
        </p:txBody>
      </p:sp>
      <p:sp>
        <p:nvSpPr>
          <p:cNvPr name="TextBox 81" id="81"/>
          <p:cNvSpPr txBox="true"/>
          <p:nvPr/>
        </p:nvSpPr>
        <p:spPr>
          <a:xfrm rot="0">
            <a:off x="509392" y="6725113"/>
            <a:ext cx="912786" cy="885825"/>
          </a:xfrm>
          <a:prstGeom prst="rect">
            <a:avLst/>
          </a:prstGeom>
        </p:spPr>
        <p:txBody>
          <a:bodyPr anchor="t" rtlCol="false" tIns="0" lIns="0" bIns="0" rIns="0">
            <a:spAutoFit/>
          </a:bodyPr>
          <a:lstStyle/>
          <a:p>
            <a:pPr algn="l">
              <a:lnSpc>
                <a:spcPts val="1725"/>
              </a:lnSpc>
            </a:pPr>
            <a:r>
              <a:rPr lang="en-US" b="true" sz="1500">
                <a:solidFill>
                  <a:srgbClr val="000000"/>
                </a:solidFill>
                <a:latin typeface="Glacial Indifference Bold"/>
                <a:ea typeface="Glacial Indifference Bold"/>
                <a:cs typeface="Glacial Indifference Bold"/>
                <a:sym typeface="Glacial Indifference Bold"/>
              </a:rPr>
              <a:t>Projected TREFHT from stage 1</a:t>
            </a:r>
          </a:p>
        </p:txBody>
      </p:sp>
      <p:sp>
        <p:nvSpPr>
          <p:cNvPr name="TextBox 82" id="82"/>
          <p:cNvSpPr txBox="true"/>
          <p:nvPr/>
        </p:nvSpPr>
        <p:spPr>
          <a:xfrm rot="0">
            <a:off x="509392" y="8508020"/>
            <a:ext cx="912786" cy="408940"/>
          </a:xfrm>
          <a:prstGeom prst="rect">
            <a:avLst/>
          </a:prstGeom>
        </p:spPr>
        <p:txBody>
          <a:bodyPr anchor="t" rtlCol="false" tIns="0" lIns="0" bIns="0" rIns="0">
            <a:spAutoFit/>
          </a:bodyPr>
          <a:lstStyle/>
          <a:p>
            <a:pPr algn="l">
              <a:lnSpc>
                <a:spcPts val="1610"/>
              </a:lnSpc>
            </a:pPr>
            <a:r>
              <a:rPr lang="en-US" b="true" sz="1400">
                <a:solidFill>
                  <a:srgbClr val="000000"/>
                </a:solidFill>
                <a:latin typeface="Glacial Indifference Bold"/>
                <a:ea typeface="Glacial Indifference Bold"/>
                <a:cs typeface="Glacial Indifference Bold"/>
                <a:sym typeface="Glacial Indifference Bold"/>
              </a:rPr>
              <a:t>ERA 5 Soil Dataset</a:t>
            </a:r>
          </a:p>
        </p:txBody>
      </p:sp>
      <p:sp>
        <p:nvSpPr>
          <p:cNvPr name="TextBox 83" id="83"/>
          <p:cNvSpPr txBox="true"/>
          <p:nvPr/>
        </p:nvSpPr>
        <p:spPr>
          <a:xfrm rot="0">
            <a:off x="1792749" y="6459482"/>
            <a:ext cx="1091675" cy="195199"/>
          </a:xfrm>
          <a:prstGeom prst="rect">
            <a:avLst/>
          </a:prstGeom>
        </p:spPr>
        <p:txBody>
          <a:bodyPr anchor="t" rtlCol="false" tIns="0" lIns="0" bIns="0" rIns="0">
            <a:spAutoFit/>
          </a:bodyPr>
          <a:lstStyle/>
          <a:p>
            <a:pPr algn="l">
              <a:lnSpc>
                <a:spcPts val="1568"/>
              </a:lnSpc>
            </a:pPr>
            <a:r>
              <a:rPr lang="en-US" sz="1400" spc="28" b="true">
                <a:solidFill>
                  <a:srgbClr val="000000"/>
                </a:solidFill>
                <a:latin typeface="Glacial Indifference Bold"/>
                <a:ea typeface="Glacial Indifference Bold"/>
                <a:cs typeface="Glacial Indifference Bold"/>
                <a:sym typeface="Glacial Indifference Bold"/>
              </a:rPr>
              <a:t>Variables</a:t>
            </a:r>
          </a:p>
        </p:txBody>
      </p:sp>
      <p:sp>
        <p:nvSpPr>
          <p:cNvPr name="TextBox 84" id="84"/>
          <p:cNvSpPr txBox="true"/>
          <p:nvPr/>
        </p:nvSpPr>
        <p:spPr>
          <a:xfrm rot="0">
            <a:off x="1792749" y="8005213"/>
            <a:ext cx="1199369" cy="195199"/>
          </a:xfrm>
          <a:prstGeom prst="rect">
            <a:avLst/>
          </a:prstGeom>
        </p:spPr>
        <p:txBody>
          <a:bodyPr anchor="t" rtlCol="false" tIns="0" lIns="0" bIns="0" rIns="0">
            <a:spAutoFit/>
          </a:bodyPr>
          <a:lstStyle/>
          <a:p>
            <a:pPr algn="l">
              <a:lnSpc>
                <a:spcPts val="1568"/>
              </a:lnSpc>
            </a:pPr>
            <a:r>
              <a:rPr lang="en-US" sz="1400" spc="28" b="true">
                <a:solidFill>
                  <a:srgbClr val="000000"/>
                </a:solidFill>
                <a:latin typeface="Glacial Indifference Bold"/>
                <a:ea typeface="Glacial Indifference Bold"/>
                <a:cs typeface="Glacial Indifference Bold"/>
                <a:sym typeface="Glacial Indifference Bold"/>
              </a:rPr>
              <a:t>Train vs Test</a:t>
            </a:r>
          </a:p>
        </p:txBody>
      </p:sp>
      <p:sp>
        <p:nvSpPr>
          <p:cNvPr name="TextBox 85" id="85"/>
          <p:cNvSpPr txBox="true"/>
          <p:nvPr/>
        </p:nvSpPr>
        <p:spPr>
          <a:xfrm rot="0">
            <a:off x="6242271" y="7221077"/>
            <a:ext cx="1181667" cy="195199"/>
          </a:xfrm>
          <a:prstGeom prst="rect">
            <a:avLst/>
          </a:prstGeom>
        </p:spPr>
        <p:txBody>
          <a:bodyPr anchor="t" rtlCol="false" tIns="0" lIns="0" bIns="0" rIns="0">
            <a:spAutoFit/>
          </a:bodyPr>
          <a:lstStyle/>
          <a:p>
            <a:pPr algn="l">
              <a:lnSpc>
                <a:spcPts val="1568"/>
              </a:lnSpc>
            </a:pPr>
            <a:r>
              <a:rPr lang="en-US" sz="1400" spc="28" b="true">
                <a:solidFill>
                  <a:srgbClr val="000000"/>
                </a:solidFill>
                <a:latin typeface="Glacial Indifference Bold"/>
                <a:ea typeface="Glacial Indifference Bold"/>
                <a:cs typeface="Glacial Indifference Bold"/>
                <a:sym typeface="Glacial Indifference Bold"/>
              </a:rPr>
              <a:t>Methodology</a:t>
            </a:r>
          </a:p>
        </p:txBody>
      </p:sp>
      <p:sp>
        <p:nvSpPr>
          <p:cNvPr name="TextBox 86" id="86"/>
          <p:cNvSpPr txBox="true"/>
          <p:nvPr/>
        </p:nvSpPr>
        <p:spPr>
          <a:xfrm rot="0">
            <a:off x="6160117" y="7640485"/>
            <a:ext cx="4397040" cy="957199"/>
          </a:xfrm>
          <a:prstGeom prst="rect">
            <a:avLst/>
          </a:prstGeom>
        </p:spPr>
        <p:txBody>
          <a:bodyPr anchor="t" rtlCol="false" tIns="0" lIns="0" bIns="0" rIns="0">
            <a:spAutoFit/>
          </a:bodyPr>
          <a:lstStyle/>
          <a:p>
            <a:pPr algn="l">
              <a:lnSpc>
                <a:spcPts val="1568"/>
              </a:lnSpc>
            </a:pPr>
            <a:r>
              <a:rPr lang="en-US" sz="1400" spc="28">
                <a:solidFill>
                  <a:srgbClr val="000000"/>
                </a:solidFill>
                <a:latin typeface="Glacial Indifference"/>
                <a:ea typeface="Glacial Indifference"/>
                <a:cs typeface="Glacial Indifference"/>
                <a:sym typeface="Glacial Indifference"/>
              </a:rPr>
              <a:t>An XGBoost regression model was trained to predict future soil moisture levels. This approach allowed us to examine how projected temperature increases may influence surface soil moisture, which is critical for agricultural productivity and land surface processes.</a:t>
            </a:r>
          </a:p>
        </p:txBody>
      </p:sp>
      <p:sp>
        <p:nvSpPr>
          <p:cNvPr name="TextBox 87" id="87"/>
          <p:cNvSpPr txBox="true"/>
          <p:nvPr/>
        </p:nvSpPr>
        <p:spPr>
          <a:xfrm rot="0">
            <a:off x="13229072" y="6876393"/>
            <a:ext cx="3925089" cy="306705"/>
          </a:xfrm>
          <a:prstGeom prst="rect">
            <a:avLst/>
          </a:prstGeom>
        </p:spPr>
        <p:txBody>
          <a:bodyPr anchor="t" rtlCol="false" tIns="0" lIns="0" bIns="0" rIns="0">
            <a:spAutoFit/>
          </a:bodyPr>
          <a:lstStyle/>
          <a:p>
            <a:pPr algn="ctr">
              <a:lnSpc>
                <a:spcPts val="2519"/>
              </a:lnSpc>
            </a:pPr>
            <a:r>
              <a:rPr lang="en-US" sz="1799" b="true">
                <a:solidFill>
                  <a:srgbClr val="FFFFFF"/>
                </a:solidFill>
                <a:latin typeface="Glacial Indifference Bold"/>
                <a:ea typeface="Glacial Indifference Bold"/>
                <a:cs typeface="Glacial Indifference Bold"/>
                <a:sym typeface="Glacial Indifference Bold"/>
              </a:rPr>
              <a:t>Output</a:t>
            </a:r>
          </a:p>
        </p:txBody>
      </p:sp>
      <p:sp>
        <p:nvSpPr>
          <p:cNvPr name="TextBox 88" id="88"/>
          <p:cNvSpPr txBox="true"/>
          <p:nvPr/>
        </p:nvSpPr>
        <p:spPr>
          <a:xfrm rot="0">
            <a:off x="13298121" y="7486703"/>
            <a:ext cx="3809902" cy="195199"/>
          </a:xfrm>
          <a:prstGeom prst="rect">
            <a:avLst/>
          </a:prstGeom>
        </p:spPr>
        <p:txBody>
          <a:bodyPr anchor="t" rtlCol="false" tIns="0" lIns="0" bIns="0" rIns="0">
            <a:spAutoFit/>
          </a:bodyPr>
          <a:lstStyle/>
          <a:p>
            <a:pPr algn="l">
              <a:lnSpc>
                <a:spcPts val="1568"/>
              </a:lnSpc>
              <a:spcBef>
                <a:spcPct val="0"/>
              </a:spcBef>
            </a:pPr>
            <a:r>
              <a:rPr lang="en-US" sz="1400" spc="28">
                <a:solidFill>
                  <a:srgbClr val="000000"/>
                </a:solidFill>
                <a:latin typeface="Glacial Indifference"/>
                <a:ea typeface="Glacial Indifference"/>
                <a:cs typeface="Glacial Indifference"/>
                <a:sym typeface="Glacial Indifference"/>
              </a:rPr>
              <a:t>Projected soil moisture 2025-2080</a:t>
            </a:r>
          </a:p>
        </p:txBody>
      </p:sp>
      <p:sp>
        <p:nvSpPr>
          <p:cNvPr name="TextBox 89" id="89"/>
          <p:cNvSpPr txBox="true"/>
          <p:nvPr/>
        </p:nvSpPr>
        <p:spPr>
          <a:xfrm rot="0">
            <a:off x="13293663" y="7753148"/>
            <a:ext cx="3809902" cy="957199"/>
          </a:xfrm>
          <a:prstGeom prst="rect">
            <a:avLst/>
          </a:prstGeom>
        </p:spPr>
        <p:txBody>
          <a:bodyPr anchor="t" rtlCol="false" tIns="0" lIns="0" bIns="0" rIns="0">
            <a:spAutoFit/>
          </a:bodyPr>
          <a:lstStyle/>
          <a:p>
            <a:pPr algn="l">
              <a:lnSpc>
                <a:spcPts val="1568"/>
              </a:lnSpc>
              <a:spcBef>
                <a:spcPct val="0"/>
              </a:spcBef>
            </a:pPr>
            <a:r>
              <a:rPr lang="en-US" b="true" sz="1400" spc="28">
                <a:solidFill>
                  <a:srgbClr val="000000"/>
                </a:solidFill>
                <a:latin typeface="Glacial Indifference Bold"/>
                <a:ea typeface="Glacial Indifference Bold"/>
                <a:cs typeface="Glacial Indifference Bold"/>
                <a:sym typeface="Glacial Indifference Bold"/>
              </a:rPr>
              <a:t>Compare this projection with the soil moisture standard from Food and Agriculture Organization (FAO) to see how rising temperature impacts future crop yields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343033" y="423189"/>
            <a:ext cx="0" cy="815143"/>
          </a:xfrm>
          <a:prstGeom prst="line">
            <a:avLst/>
          </a:prstGeom>
          <a:ln cap="flat" w="47625">
            <a:solidFill>
              <a:srgbClr val="206648"/>
            </a:solidFill>
            <a:prstDash val="solid"/>
            <a:headEnd type="none" len="sm" w="sm"/>
            <a:tailEnd type="none" len="sm" w="sm"/>
          </a:ln>
        </p:spPr>
      </p:sp>
      <p:sp>
        <p:nvSpPr>
          <p:cNvPr name="Freeform 3" id="3"/>
          <p:cNvSpPr/>
          <p:nvPr/>
        </p:nvSpPr>
        <p:spPr>
          <a:xfrm flipH="false" flipV="false" rot="0">
            <a:off x="0" y="1947823"/>
            <a:ext cx="6276615" cy="3312361"/>
          </a:xfrm>
          <a:custGeom>
            <a:avLst/>
            <a:gdLst/>
            <a:ahLst/>
            <a:cxnLst/>
            <a:rect r="r" b="b" t="t" l="l"/>
            <a:pathLst>
              <a:path h="3312361" w="6276615">
                <a:moveTo>
                  <a:pt x="0" y="0"/>
                </a:moveTo>
                <a:lnTo>
                  <a:pt x="6276615" y="0"/>
                </a:lnTo>
                <a:lnTo>
                  <a:pt x="6276615" y="3312361"/>
                </a:lnTo>
                <a:lnTo>
                  <a:pt x="0" y="3312361"/>
                </a:lnTo>
                <a:lnTo>
                  <a:pt x="0" y="0"/>
                </a:lnTo>
                <a:close/>
              </a:path>
            </a:pathLst>
          </a:custGeom>
          <a:blipFill>
            <a:blip r:embed="rId2"/>
            <a:stretch>
              <a:fillRect l="-3171" t="0" r="-3171" b="0"/>
            </a:stretch>
          </a:blipFill>
        </p:spPr>
      </p:sp>
      <p:sp>
        <p:nvSpPr>
          <p:cNvPr name="TextBox 4" id="4"/>
          <p:cNvSpPr txBox="true"/>
          <p:nvPr/>
        </p:nvSpPr>
        <p:spPr>
          <a:xfrm rot="0">
            <a:off x="17259300" y="983137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Glacial Indifference Bold"/>
                <a:ea typeface="Glacial Indifference Bold"/>
                <a:cs typeface="Glacial Indifference Bold"/>
                <a:sym typeface="Glacial Indifference Bold"/>
              </a:rPr>
              <a:t>1</a:t>
            </a:r>
          </a:p>
        </p:txBody>
      </p:sp>
      <p:sp>
        <p:nvSpPr>
          <p:cNvPr name="TextBox 5" id="5"/>
          <p:cNvSpPr txBox="true"/>
          <p:nvPr/>
        </p:nvSpPr>
        <p:spPr>
          <a:xfrm rot="0">
            <a:off x="543127" y="366988"/>
            <a:ext cx="15990534"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Forecasting Temperature with 3 models</a:t>
            </a:r>
          </a:p>
        </p:txBody>
      </p:sp>
      <p:sp>
        <p:nvSpPr>
          <p:cNvPr name="TextBox 6" id="6"/>
          <p:cNvSpPr txBox="true"/>
          <p:nvPr/>
        </p:nvSpPr>
        <p:spPr>
          <a:xfrm rot="0">
            <a:off x="543127" y="941786"/>
            <a:ext cx="15311396" cy="296545"/>
          </a:xfrm>
          <a:prstGeom prst="rect">
            <a:avLst/>
          </a:prstGeom>
        </p:spPr>
        <p:txBody>
          <a:bodyPr anchor="t" rtlCol="false" tIns="0" lIns="0" bIns="0" rIns="0">
            <a:spAutoFit/>
          </a:bodyPr>
          <a:lstStyle/>
          <a:p>
            <a:pPr algn="just">
              <a:lnSpc>
                <a:spcPts val="2240"/>
              </a:lnSpc>
            </a:pPr>
            <a:r>
              <a:rPr lang="en-US" sz="2000" spc="40">
                <a:solidFill>
                  <a:srgbClr val="FE763A"/>
                </a:solidFill>
                <a:latin typeface="Glacial Indifference"/>
                <a:ea typeface="Glacial Indifference"/>
                <a:cs typeface="Glacial Indifference"/>
                <a:sym typeface="Glacial Indifference"/>
              </a:rPr>
              <a:t>Modelling Long-Term Trends in Near-Surface Air Temperature (TREFHT)</a:t>
            </a:r>
          </a:p>
        </p:txBody>
      </p:sp>
      <p:sp>
        <p:nvSpPr>
          <p:cNvPr name="Freeform 7" id="7"/>
          <p:cNvSpPr/>
          <p:nvPr/>
        </p:nvSpPr>
        <p:spPr>
          <a:xfrm flipH="false" flipV="false" rot="0">
            <a:off x="6423363" y="1947823"/>
            <a:ext cx="5917920" cy="3195677"/>
          </a:xfrm>
          <a:custGeom>
            <a:avLst/>
            <a:gdLst/>
            <a:ahLst/>
            <a:cxnLst/>
            <a:rect r="r" b="b" t="t" l="l"/>
            <a:pathLst>
              <a:path h="3195677" w="5917920">
                <a:moveTo>
                  <a:pt x="0" y="0"/>
                </a:moveTo>
                <a:lnTo>
                  <a:pt x="5917920" y="0"/>
                </a:lnTo>
                <a:lnTo>
                  <a:pt x="5917920" y="3195677"/>
                </a:lnTo>
                <a:lnTo>
                  <a:pt x="0" y="3195677"/>
                </a:lnTo>
                <a:lnTo>
                  <a:pt x="0" y="0"/>
                </a:lnTo>
                <a:close/>
              </a:path>
            </a:pathLst>
          </a:custGeom>
          <a:blipFill>
            <a:blip r:embed="rId3"/>
            <a:stretch>
              <a:fillRect l="0" t="0" r="0" b="0"/>
            </a:stretch>
          </a:blipFill>
        </p:spPr>
      </p:sp>
      <p:sp>
        <p:nvSpPr>
          <p:cNvPr name="Freeform 8" id="8"/>
          <p:cNvSpPr/>
          <p:nvPr/>
        </p:nvSpPr>
        <p:spPr>
          <a:xfrm flipH="false" flipV="false" rot="0">
            <a:off x="12770110" y="1333581"/>
            <a:ext cx="5213267" cy="4059832"/>
          </a:xfrm>
          <a:custGeom>
            <a:avLst/>
            <a:gdLst/>
            <a:ahLst/>
            <a:cxnLst/>
            <a:rect r="r" b="b" t="t" l="l"/>
            <a:pathLst>
              <a:path h="4059832" w="5213267">
                <a:moveTo>
                  <a:pt x="0" y="0"/>
                </a:moveTo>
                <a:lnTo>
                  <a:pt x="5213268" y="0"/>
                </a:lnTo>
                <a:lnTo>
                  <a:pt x="5213268" y="4059832"/>
                </a:lnTo>
                <a:lnTo>
                  <a:pt x="0" y="4059832"/>
                </a:lnTo>
                <a:lnTo>
                  <a:pt x="0" y="0"/>
                </a:lnTo>
                <a:close/>
              </a:path>
            </a:pathLst>
          </a:custGeom>
          <a:blipFill>
            <a:blip r:embed="rId4"/>
            <a:stretch>
              <a:fillRect l="0" t="0" r="0" b="0"/>
            </a:stretch>
          </a:blipFill>
        </p:spPr>
      </p:sp>
      <p:sp>
        <p:nvSpPr>
          <p:cNvPr name="TextBox 9" id="9"/>
          <p:cNvSpPr txBox="true"/>
          <p:nvPr/>
        </p:nvSpPr>
        <p:spPr>
          <a:xfrm rot="0">
            <a:off x="543127" y="5974559"/>
            <a:ext cx="4406548" cy="2550461"/>
          </a:xfrm>
          <a:prstGeom prst="rect">
            <a:avLst/>
          </a:prstGeom>
        </p:spPr>
        <p:txBody>
          <a:bodyPr anchor="t" rtlCol="false" tIns="0" lIns="0" bIns="0" rIns="0">
            <a:spAutoFit/>
          </a:bodyPr>
          <a:lstStyle/>
          <a:p>
            <a:pPr algn="ctr">
              <a:lnSpc>
                <a:spcPts val="2903"/>
              </a:lnSpc>
              <a:spcBef>
                <a:spcPct val="0"/>
              </a:spcBef>
            </a:pPr>
            <a:r>
              <a:rPr lang="en-US" b="true" sz="2592" spc="51">
                <a:solidFill>
                  <a:srgbClr val="000000"/>
                </a:solidFill>
                <a:latin typeface="Glacial Indifference Bold"/>
                <a:ea typeface="Glacial Indifference Bold"/>
                <a:cs typeface="Glacial Indifference Bold"/>
                <a:sym typeface="Glacial Indifference Bold"/>
              </a:rPr>
              <a:t>Prophet Forecast</a:t>
            </a:r>
          </a:p>
          <a:p>
            <a:pPr algn="l">
              <a:lnSpc>
                <a:spcPts val="2903"/>
              </a:lnSpc>
              <a:spcBef>
                <a:spcPct val="0"/>
              </a:spcBef>
            </a:pPr>
            <a:r>
              <a:rPr lang="en-US" sz="2592" spc="51">
                <a:solidFill>
                  <a:srgbClr val="000000"/>
                </a:solidFill>
                <a:latin typeface="Glacial Indifference"/>
                <a:ea typeface="Glacial Indifference"/>
                <a:cs typeface="Glacial Indifference"/>
                <a:sym typeface="Glacial Indifference"/>
              </a:rPr>
              <a:t>Forecasted average TREFHT with Prophet model. Shows seasonality but weak long-term warming trend. Prediction uncertainty increases sharply over time.</a:t>
            </a:r>
          </a:p>
        </p:txBody>
      </p:sp>
      <p:sp>
        <p:nvSpPr>
          <p:cNvPr name="TextBox 10" id="10"/>
          <p:cNvSpPr txBox="true"/>
          <p:nvPr/>
        </p:nvSpPr>
        <p:spPr>
          <a:xfrm rot="0">
            <a:off x="13543861" y="5974559"/>
            <a:ext cx="4067406" cy="2912411"/>
          </a:xfrm>
          <a:prstGeom prst="rect">
            <a:avLst/>
          </a:prstGeom>
        </p:spPr>
        <p:txBody>
          <a:bodyPr anchor="t" rtlCol="false" tIns="0" lIns="0" bIns="0" rIns="0">
            <a:spAutoFit/>
          </a:bodyPr>
          <a:lstStyle/>
          <a:p>
            <a:pPr algn="ctr">
              <a:lnSpc>
                <a:spcPts val="2903"/>
              </a:lnSpc>
              <a:spcBef>
                <a:spcPct val="0"/>
              </a:spcBef>
            </a:pPr>
            <a:r>
              <a:rPr lang="en-US" b="true" sz="2592" spc="51">
                <a:solidFill>
                  <a:srgbClr val="000000"/>
                </a:solidFill>
                <a:latin typeface="Glacial Indifference Bold"/>
                <a:ea typeface="Glacial Indifference Bold"/>
                <a:cs typeface="Glacial Indifference Bold"/>
                <a:sym typeface="Glacial Indifference Bold"/>
              </a:rPr>
              <a:t>Heatmap from </a:t>
            </a:r>
          </a:p>
          <a:p>
            <a:pPr algn="ctr">
              <a:lnSpc>
                <a:spcPts val="2903"/>
              </a:lnSpc>
              <a:spcBef>
                <a:spcPct val="0"/>
              </a:spcBef>
            </a:pPr>
            <a:r>
              <a:rPr lang="en-US" b="true" sz="2592" spc="51">
                <a:solidFill>
                  <a:srgbClr val="000000"/>
                </a:solidFill>
                <a:latin typeface="Glacial Indifference Bold"/>
                <a:ea typeface="Glacial Indifference Bold"/>
                <a:cs typeface="Glacial Indifference Bold"/>
                <a:sym typeface="Glacial Indifference Bold"/>
              </a:rPr>
              <a:t>XESMF + XGBoost</a:t>
            </a:r>
          </a:p>
          <a:p>
            <a:pPr algn="l">
              <a:lnSpc>
                <a:spcPts val="2903"/>
              </a:lnSpc>
              <a:spcBef>
                <a:spcPct val="0"/>
              </a:spcBef>
            </a:pPr>
            <a:r>
              <a:rPr lang="en-US" sz="2592" spc="51">
                <a:solidFill>
                  <a:srgbClr val="000000"/>
                </a:solidFill>
                <a:latin typeface="Glacial Indifference"/>
                <a:ea typeface="Glacial Indifference"/>
                <a:cs typeface="Glacial Indifference"/>
                <a:sym typeface="Glacial Indifference"/>
              </a:rPr>
              <a:t>Spatial distribution of predicted TREFHT on Jan 1, 2025. Shows geographic variability in near-surface temperature across the region.</a:t>
            </a:r>
          </a:p>
        </p:txBody>
      </p:sp>
      <p:sp>
        <p:nvSpPr>
          <p:cNvPr name="TextBox 11" id="11"/>
          <p:cNvSpPr txBox="true"/>
          <p:nvPr/>
        </p:nvSpPr>
        <p:spPr>
          <a:xfrm rot="0">
            <a:off x="6682004" y="6155534"/>
            <a:ext cx="5400638" cy="2188511"/>
          </a:xfrm>
          <a:prstGeom prst="rect">
            <a:avLst/>
          </a:prstGeom>
        </p:spPr>
        <p:txBody>
          <a:bodyPr anchor="t" rtlCol="false" tIns="0" lIns="0" bIns="0" rIns="0">
            <a:spAutoFit/>
          </a:bodyPr>
          <a:lstStyle/>
          <a:p>
            <a:pPr algn="l">
              <a:lnSpc>
                <a:spcPts val="2903"/>
              </a:lnSpc>
              <a:spcBef>
                <a:spcPct val="0"/>
              </a:spcBef>
            </a:pPr>
            <a:r>
              <a:rPr lang="en-US" b="true" sz="2592" spc="51">
                <a:solidFill>
                  <a:srgbClr val="000000"/>
                </a:solidFill>
                <a:latin typeface="Glacial Indifference Bold"/>
                <a:ea typeface="Glacial Indifference Bold"/>
                <a:cs typeface="Glacial Indifference Bold"/>
                <a:sym typeface="Glacial Indifference Bold"/>
              </a:rPr>
              <a:t>XGBoost Forecast (per location)</a:t>
            </a:r>
          </a:p>
          <a:p>
            <a:pPr algn="l">
              <a:lnSpc>
                <a:spcPts val="2903"/>
              </a:lnSpc>
              <a:spcBef>
                <a:spcPct val="0"/>
              </a:spcBef>
            </a:pPr>
            <a:r>
              <a:rPr lang="en-US" sz="2592" spc="51">
                <a:solidFill>
                  <a:srgbClr val="000000"/>
                </a:solidFill>
                <a:latin typeface="Glacial Indifference"/>
                <a:ea typeface="Glacial Indifference"/>
                <a:cs typeface="Glacial Indifference"/>
                <a:sym typeface="Glacial Indifference"/>
              </a:rPr>
              <a:t>Time series prediction at one grid point (lat 50.42, lon 355.0). Captures seasonal cycles and upward trend more clearly than Prophet.</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343033" y="423189"/>
            <a:ext cx="0" cy="815143"/>
          </a:xfrm>
          <a:prstGeom prst="line">
            <a:avLst/>
          </a:prstGeom>
          <a:ln cap="flat" w="47625">
            <a:solidFill>
              <a:srgbClr val="206648"/>
            </a:solidFill>
            <a:prstDash val="solid"/>
            <a:headEnd type="none" len="sm" w="sm"/>
            <a:tailEnd type="none" len="sm" w="sm"/>
          </a:ln>
        </p:spPr>
      </p:sp>
      <p:sp>
        <p:nvSpPr>
          <p:cNvPr name="Freeform 3" id="3"/>
          <p:cNvSpPr/>
          <p:nvPr/>
        </p:nvSpPr>
        <p:spPr>
          <a:xfrm flipH="false" flipV="false" rot="0">
            <a:off x="7331615" y="2505277"/>
            <a:ext cx="10438717" cy="6472004"/>
          </a:xfrm>
          <a:custGeom>
            <a:avLst/>
            <a:gdLst/>
            <a:ahLst/>
            <a:cxnLst/>
            <a:rect r="r" b="b" t="t" l="l"/>
            <a:pathLst>
              <a:path h="6472004" w="10438717">
                <a:moveTo>
                  <a:pt x="0" y="0"/>
                </a:moveTo>
                <a:lnTo>
                  <a:pt x="10438717" y="0"/>
                </a:lnTo>
                <a:lnTo>
                  <a:pt x="10438717" y="6472004"/>
                </a:lnTo>
                <a:lnTo>
                  <a:pt x="0" y="6472004"/>
                </a:lnTo>
                <a:lnTo>
                  <a:pt x="0" y="0"/>
                </a:lnTo>
                <a:close/>
              </a:path>
            </a:pathLst>
          </a:custGeom>
          <a:blipFill>
            <a:blip r:embed="rId2"/>
            <a:stretch>
              <a:fillRect l="0" t="0" r="0" b="0"/>
            </a:stretch>
          </a:blipFill>
        </p:spPr>
      </p:sp>
      <p:sp>
        <p:nvSpPr>
          <p:cNvPr name="TextBox 4" id="4"/>
          <p:cNvSpPr txBox="true"/>
          <p:nvPr/>
        </p:nvSpPr>
        <p:spPr>
          <a:xfrm rot="0">
            <a:off x="17259300" y="983137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Glacial Indifference Bold"/>
                <a:ea typeface="Glacial Indifference Bold"/>
                <a:cs typeface="Glacial Indifference Bold"/>
                <a:sym typeface="Glacial Indifference Bold"/>
              </a:rPr>
              <a:t>1</a:t>
            </a:r>
          </a:p>
        </p:txBody>
      </p:sp>
      <p:sp>
        <p:nvSpPr>
          <p:cNvPr name="TextBox 5" id="5"/>
          <p:cNvSpPr txBox="true"/>
          <p:nvPr/>
        </p:nvSpPr>
        <p:spPr>
          <a:xfrm rot="0">
            <a:off x="543127" y="366988"/>
            <a:ext cx="15990534"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Comparing Different Models</a:t>
            </a:r>
          </a:p>
        </p:txBody>
      </p:sp>
      <p:sp>
        <p:nvSpPr>
          <p:cNvPr name="TextBox 6" id="6"/>
          <p:cNvSpPr txBox="true"/>
          <p:nvPr/>
        </p:nvSpPr>
        <p:spPr>
          <a:xfrm rot="0">
            <a:off x="543127" y="941786"/>
            <a:ext cx="15311396" cy="296545"/>
          </a:xfrm>
          <a:prstGeom prst="rect">
            <a:avLst/>
          </a:prstGeom>
        </p:spPr>
        <p:txBody>
          <a:bodyPr anchor="t" rtlCol="false" tIns="0" lIns="0" bIns="0" rIns="0">
            <a:spAutoFit/>
          </a:bodyPr>
          <a:lstStyle/>
          <a:p>
            <a:pPr algn="just">
              <a:lnSpc>
                <a:spcPts val="2240"/>
              </a:lnSpc>
            </a:pPr>
            <a:r>
              <a:rPr lang="en-US" sz="2000" spc="40">
                <a:solidFill>
                  <a:srgbClr val="FE763A"/>
                </a:solidFill>
                <a:latin typeface="Glacial Indifference"/>
                <a:ea typeface="Glacial Indifference"/>
                <a:cs typeface="Glacial Indifference"/>
                <a:sym typeface="Glacial Indifference"/>
              </a:rPr>
              <a:t>Choosing the Best Model with the Lowest Error</a:t>
            </a:r>
          </a:p>
        </p:txBody>
      </p:sp>
      <p:grpSp>
        <p:nvGrpSpPr>
          <p:cNvPr name="Group 7" id="7"/>
          <p:cNvGrpSpPr/>
          <p:nvPr/>
        </p:nvGrpSpPr>
        <p:grpSpPr>
          <a:xfrm rot="0">
            <a:off x="117513" y="2945020"/>
            <a:ext cx="6900496" cy="6411092"/>
            <a:chOff x="0" y="0"/>
            <a:chExt cx="1817414" cy="1688518"/>
          </a:xfrm>
        </p:grpSpPr>
        <p:sp>
          <p:nvSpPr>
            <p:cNvPr name="Freeform 8" id="8"/>
            <p:cNvSpPr/>
            <p:nvPr/>
          </p:nvSpPr>
          <p:spPr>
            <a:xfrm flipH="false" flipV="false" rot="0">
              <a:off x="0" y="0"/>
              <a:ext cx="1817414" cy="1688518"/>
            </a:xfrm>
            <a:custGeom>
              <a:avLst/>
              <a:gdLst/>
              <a:ahLst/>
              <a:cxnLst/>
              <a:rect r="r" b="b" t="t" l="l"/>
              <a:pathLst>
                <a:path h="1688518" w="1817414">
                  <a:moveTo>
                    <a:pt x="0" y="0"/>
                  </a:moveTo>
                  <a:lnTo>
                    <a:pt x="1817414" y="0"/>
                  </a:lnTo>
                  <a:lnTo>
                    <a:pt x="1817414" y="1688518"/>
                  </a:lnTo>
                  <a:lnTo>
                    <a:pt x="0" y="1688518"/>
                  </a:lnTo>
                  <a:close/>
                </a:path>
              </a:pathLst>
            </a:custGeom>
            <a:solidFill>
              <a:srgbClr val="000000">
                <a:alpha val="0"/>
              </a:srgbClr>
            </a:solidFill>
            <a:ln w="38100" cap="sq">
              <a:solidFill>
                <a:srgbClr val="BABABA"/>
              </a:solidFill>
              <a:prstDash val="lgDash"/>
              <a:miter/>
            </a:ln>
          </p:spPr>
        </p:sp>
        <p:sp>
          <p:nvSpPr>
            <p:cNvPr name="TextBox 9" id="9"/>
            <p:cNvSpPr txBox="true"/>
            <p:nvPr/>
          </p:nvSpPr>
          <p:spPr>
            <a:xfrm>
              <a:off x="0" y="19050"/>
              <a:ext cx="1817414" cy="1669468"/>
            </a:xfrm>
            <a:prstGeom prst="rect">
              <a:avLst/>
            </a:prstGeom>
          </p:spPr>
          <p:txBody>
            <a:bodyPr anchor="ctr" rtlCol="false" tIns="50800" lIns="50800" bIns="50800" rIns="50800"/>
            <a:lstStyle/>
            <a:p>
              <a:pPr algn="ctr">
                <a:lnSpc>
                  <a:spcPts val="1895"/>
                </a:lnSpc>
              </a:pPr>
            </a:p>
          </p:txBody>
        </p:sp>
      </p:grpSp>
      <p:grpSp>
        <p:nvGrpSpPr>
          <p:cNvPr name="Group 10" id="10"/>
          <p:cNvGrpSpPr/>
          <p:nvPr/>
        </p:nvGrpSpPr>
        <p:grpSpPr>
          <a:xfrm rot="0">
            <a:off x="167862" y="2498869"/>
            <a:ext cx="1721677" cy="446151"/>
            <a:chOff x="0" y="0"/>
            <a:chExt cx="453446" cy="117505"/>
          </a:xfrm>
        </p:grpSpPr>
        <p:sp>
          <p:nvSpPr>
            <p:cNvPr name="Freeform 11" id="11"/>
            <p:cNvSpPr/>
            <p:nvPr/>
          </p:nvSpPr>
          <p:spPr>
            <a:xfrm flipH="false" flipV="false" rot="0">
              <a:off x="0" y="0"/>
              <a:ext cx="453446" cy="117505"/>
            </a:xfrm>
            <a:custGeom>
              <a:avLst/>
              <a:gdLst/>
              <a:ahLst/>
              <a:cxnLst/>
              <a:rect r="r" b="b" t="t" l="l"/>
              <a:pathLst>
                <a:path h="117505" w="453446">
                  <a:moveTo>
                    <a:pt x="35974" y="0"/>
                  </a:moveTo>
                  <a:lnTo>
                    <a:pt x="417472" y="0"/>
                  </a:lnTo>
                  <a:cubicBezTo>
                    <a:pt x="427013" y="0"/>
                    <a:pt x="436163" y="3790"/>
                    <a:pt x="442909" y="10537"/>
                  </a:cubicBezTo>
                  <a:cubicBezTo>
                    <a:pt x="449656" y="17283"/>
                    <a:pt x="453446" y="26433"/>
                    <a:pt x="453446" y="35974"/>
                  </a:cubicBezTo>
                  <a:lnTo>
                    <a:pt x="453446" y="81531"/>
                  </a:lnTo>
                  <a:cubicBezTo>
                    <a:pt x="453446" y="91072"/>
                    <a:pt x="449656" y="100222"/>
                    <a:pt x="442909" y="106968"/>
                  </a:cubicBezTo>
                  <a:cubicBezTo>
                    <a:pt x="436163" y="113715"/>
                    <a:pt x="427013" y="117505"/>
                    <a:pt x="417472" y="117505"/>
                  </a:cubicBezTo>
                  <a:lnTo>
                    <a:pt x="35974" y="117505"/>
                  </a:lnTo>
                  <a:cubicBezTo>
                    <a:pt x="26433" y="117505"/>
                    <a:pt x="17283" y="113715"/>
                    <a:pt x="10537" y="106968"/>
                  </a:cubicBezTo>
                  <a:cubicBezTo>
                    <a:pt x="3790" y="100222"/>
                    <a:pt x="0" y="91072"/>
                    <a:pt x="0" y="81531"/>
                  </a:cubicBezTo>
                  <a:lnTo>
                    <a:pt x="0" y="35974"/>
                  </a:lnTo>
                  <a:cubicBezTo>
                    <a:pt x="0" y="26433"/>
                    <a:pt x="3790" y="17283"/>
                    <a:pt x="10537" y="10537"/>
                  </a:cubicBezTo>
                  <a:cubicBezTo>
                    <a:pt x="17283" y="3790"/>
                    <a:pt x="26433" y="0"/>
                    <a:pt x="35974" y="0"/>
                  </a:cubicBezTo>
                  <a:close/>
                </a:path>
              </a:pathLst>
            </a:custGeom>
            <a:solidFill>
              <a:srgbClr val="F34D24"/>
            </a:solidFill>
          </p:spPr>
        </p:sp>
        <p:sp>
          <p:nvSpPr>
            <p:cNvPr name="TextBox 12" id="12"/>
            <p:cNvSpPr txBox="true"/>
            <p:nvPr/>
          </p:nvSpPr>
          <p:spPr>
            <a:xfrm>
              <a:off x="0" y="0"/>
              <a:ext cx="453446" cy="117505"/>
            </a:xfrm>
            <a:prstGeom prst="rect">
              <a:avLst/>
            </a:prstGeom>
          </p:spPr>
          <p:txBody>
            <a:bodyPr anchor="ctr" rtlCol="false" tIns="50800" lIns="50800" bIns="50800" rIns="50800"/>
            <a:lstStyle/>
            <a:p>
              <a:pPr algn="ctr">
                <a:lnSpc>
                  <a:spcPts val="1680"/>
                </a:lnSpc>
              </a:pPr>
              <a:r>
                <a:rPr lang="en-US" b="true" sz="1500" spc="30">
                  <a:solidFill>
                    <a:srgbClr val="FFFFFF"/>
                  </a:solidFill>
                  <a:latin typeface="Poppins Bold"/>
                  <a:ea typeface="Poppins Bold"/>
                  <a:cs typeface="Poppins Bold"/>
                  <a:sym typeface="Poppins Bold"/>
                </a:rPr>
                <a:t>Key Takeaways</a:t>
              </a:r>
            </a:p>
          </p:txBody>
        </p:sp>
      </p:grpSp>
      <p:sp>
        <p:nvSpPr>
          <p:cNvPr name="TextBox 13" id="13"/>
          <p:cNvSpPr txBox="true"/>
          <p:nvPr/>
        </p:nvSpPr>
        <p:spPr>
          <a:xfrm rot="0">
            <a:off x="274657" y="3288229"/>
            <a:ext cx="6586208" cy="4925150"/>
          </a:xfrm>
          <a:prstGeom prst="rect">
            <a:avLst/>
          </a:prstGeom>
        </p:spPr>
        <p:txBody>
          <a:bodyPr anchor="t" rtlCol="false" tIns="0" lIns="0" bIns="0" rIns="0">
            <a:spAutoFit/>
          </a:bodyPr>
          <a:lstStyle/>
          <a:p>
            <a:pPr algn="l" marL="622618" indent="-311309" lvl="1">
              <a:lnSpc>
                <a:spcPts val="3229"/>
              </a:lnSpc>
              <a:buFont typeface="Arial"/>
              <a:buChar char="•"/>
            </a:pPr>
            <a:r>
              <a:rPr lang="en-US" b="true" sz="2883" spc="57" strike="noStrike" u="none">
                <a:solidFill>
                  <a:srgbClr val="000000"/>
                </a:solidFill>
                <a:latin typeface="Glacial Indifference Bold"/>
                <a:ea typeface="Glacial Indifference Bold"/>
                <a:cs typeface="Glacial Indifference Bold"/>
                <a:sym typeface="Glacial Indifference Bold"/>
              </a:rPr>
              <a:t>Prophet</a:t>
            </a:r>
            <a:r>
              <a:rPr lang="en-US" sz="2883" spc="57" strike="noStrike" u="none">
                <a:solidFill>
                  <a:srgbClr val="000000"/>
                </a:solidFill>
                <a:latin typeface="Glacial Indifference"/>
                <a:ea typeface="Glacial Indifference"/>
                <a:cs typeface="Glacial Indifference"/>
                <a:sym typeface="Glacial Indifference"/>
              </a:rPr>
              <a:t> has the highest error, indicating it struggles with capturing long-term trends accurately</a:t>
            </a:r>
          </a:p>
          <a:p>
            <a:pPr algn="l" marL="622618" indent="-311309" lvl="1">
              <a:lnSpc>
                <a:spcPts val="3229"/>
              </a:lnSpc>
              <a:spcBef>
                <a:spcPct val="0"/>
              </a:spcBef>
              <a:buFont typeface="Arial"/>
              <a:buChar char="•"/>
            </a:pPr>
            <a:r>
              <a:rPr lang="en-US" b="true" sz="2883" spc="57" strike="noStrike" u="none">
                <a:solidFill>
                  <a:srgbClr val="000000"/>
                </a:solidFill>
                <a:latin typeface="Glacial Indifference Bold"/>
                <a:ea typeface="Glacial Indifference Bold"/>
                <a:cs typeface="Glacial Indifference Bold"/>
                <a:sym typeface="Glacial Indifference Bold"/>
              </a:rPr>
              <a:t>XGBoost</a:t>
            </a:r>
            <a:r>
              <a:rPr lang="en-US" sz="2883" spc="57" strike="noStrike" u="none">
                <a:solidFill>
                  <a:srgbClr val="000000"/>
                </a:solidFill>
                <a:latin typeface="Glacial Indifference"/>
                <a:ea typeface="Glacial Indifference"/>
                <a:cs typeface="Glacial Indifference"/>
                <a:sym typeface="Glacial Indifference"/>
              </a:rPr>
              <a:t> performs the best with the lowest error, making it well-suited for modeling complex nonlinear patterns.</a:t>
            </a:r>
          </a:p>
          <a:p>
            <a:pPr algn="l" marL="622618" indent="-311309" lvl="1">
              <a:lnSpc>
                <a:spcPts val="3229"/>
              </a:lnSpc>
              <a:spcBef>
                <a:spcPct val="0"/>
              </a:spcBef>
              <a:buFont typeface="Arial"/>
              <a:buChar char="•"/>
            </a:pPr>
            <a:r>
              <a:rPr lang="en-US" b="true" sz="2883" spc="57" strike="noStrike" u="none">
                <a:solidFill>
                  <a:srgbClr val="000000"/>
                </a:solidFill>
                <a:latin typeface="Glacial Indifference Bold"/>
                <a:ea typeface="Glacial Indifference Bold"/>
                <a:cs typeface="Glacial Indifference Bold"/>
                <a:sym typeface="Glacial Indifference Bold"/>
              </a:rPr>
              <a:t>XESMF + XGBoost </a:t>
            </a:r>
            <a:r>
              <a:rPr lang="en-US" sz="2883" spc="57" strike="noStrike" u="none">
                <a:solidFill>
                  <a:srgbClr val="000000"/>
                </a:solidFill>
                <a:latin typeface="Glacial Indifference"/>
                <a:ea typeface="Glacial Indifference"/>
                <a:cs typeface="Glacial Indifference"/>
                <a:sym typeface="Glacial Indifference"/>
              </a:rPr>
              <a:t>falls in between in terms of accuracy, possibly trading off some precision for better spatial consistency.</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343033" y="423189"/>
            <a:ext cx="0" cy="815143"/>
          </a:xfrm>
          <a:prstGeom prst="line">
            <a:avLst/>
          </a:prstGeom>
          <a:ln cap="flat" w="47625">
            <a:solidFill>
              <a:srgbClr val="206648"/>
            </a:solidFill>
            <a:prstDash val="solid"/>
            <a:headEnd type="none" len="sm" w="sm"/>
            <a:tailEnd type="none" len="sm" w="sm"/>
          </a:ln>
        </p:spPr>
      </p:sp>
      <p:sp>
        <p:nvSpPr>
          <p:cNvPr name="Freeform 3" id="3"/>
          <p:cNvSpPr/>
          <p:nvPr/>
        </p:nvSpPr>
        <p:spPr>
          <a:xfrm flipH="false" flipV="false" rot="0">
            <a:off x="343033" y="1413982"/>
            <a:ext cx="7266058" cy="5589275"/>
          </a:xfrm>
          <a:custGeom>
            <a:avLst/>
            <a:gdLst/>
            <a:ahLst/>
            <a:cxnLst/>
            <a:rect r="r" b="b" t="t" l="l"/>
            <a:pathLst>
              <a:path h="5589275" w="7266058">
                <a:moveTo>
                  <a:pt x="0" y="0"/>
                </a:moveTo>
                <a:lnTo>
                  <a:pt x="7266058" y="0"/>
                </a:lnTo>
                <a:lnTo>
                  <a:pt x="7266058" y="5589275"/>
                </a:lnTo>
                <a:lnTo>
                  <a:pt x="0" y="5589275"/>
                </a:lnTo>
                <a:lnTo>
                  <a:pt x="0" y="0"/>
                </a:lnTo>
                <a:close/>
              </a:path>
            </a:pathLst>
          </a:custGeom>
          <a:blipFill>
            <a:blip r:embed="rId2"/>
            <a:stretch>
              <a:fillRect l="0" t="0" r="0" b="0"/>
            </a:stretch>
          </a:blipFill>
        </p:spPr>
      </p:sp>
      <p:sp>
        <p:nvSpPr>
          <p:cNvPr name="Freeform 4" id="4"/>
          <p:cNvSpPr/>
          <p:nvPr/>
        </p:nvSpPr>
        <p:spPr>
          <a:xfrm flipH="false" flipV="false" rot="0">
            <a:off x="7860575" y="1281857"/>
            <a:ext cx="10275213" cy="5445863"/>
          </a:xfrm>
          <a:custGeom>
            <a:avLst/>
            <a:gdLst/>
            <a:ahLst/>
            <a:cxnLst/>
            <a:rect r="r" b="b" t="t" l="l"/>
            <a:pathLst>
              <a:path h="5445863" w="10275213">
                <a:moveTo>
                  <a:pt x="0" y="0"/>
                </a:moveTo>
                <a:lnTo>
                  <a:pt x="10275212" y="0"/>
                </a:lnTo>
                <a:lnTo>
                  <a:pt x="10275212" y="5445862"/>
                </a:lnTo>
                <a:lnTo>
                  <a:pt x="0" y="5445862"/>
                </a:lnTo>
                <a:lnTo>
                  <a:pt x="0" y="0"/>
                </a:lnTo>
                <a:close/>
              </a:path>
            </a:pathLst>
          </a:custGeom>
          <a:blipFill>
            <a:blip r:embed="rId3"/>
            <a:stretch>
              <a:fillRect l="0" t="0" r="0" b="0"/>
            </a:stretch>
          </a:blipFill>
        </p:spPr>
      </p:sp>
      <p:sp>
        <p:nvSpPr>
          <p:cNvPr name="Freeform 5" id="5"/>
          <p:cNvSpPr/>
          <p:nvPr/>
        </p:nvSpPr>
        <p:spPr>
          <a:xfrm flipH="false" flipV="false" rot="0">
            <a:off x="137526" y="7003257"/>
            <a:ext cx="8400868" cy="3034814"/>
          </a:xfrm>
          <a:custGeom>
            <a:avLst/>
            <a:gdLst/>
            <a:ahLst/>
            <a:cxnLst/>
            <a:rect r="r" b="b" t="t" l="l"/>
            <a:pathLst>
              <a:path h="3034814" w="8400868">
                <a:moveTo>
                  <a:pt x="0" y="0"/>
                </a:moveTo>
                <a:lnTo>
                  <a:pt x="8400868" y="0"/>
                </a:lnTo>
                <a:lnTo>
                  <a:pt x="8400868" y="3034814"/>
                </a:lnTo>
                <a:lnTo>
                  <a:pt x="0" y="3034814"/>
                </a:lnTo>
                <a:lnTo>
                  <a:pt x="0" y="0"/>
                </a:lnTo>
                <a:close/>
              </a:path>
            </a:pathLst>
          </a:custGeom>
          <a:blipFill>
            <a:blip r:embed="rId4"/>
            <a:stretch>
              <a:fillRect l="0" t="0" r="0" b="0"/>
            </a:stretch>
          </a:blipFill>
        </p:spPr>
      </p:sp>
      <p:sp>
        <p:nvSpPr>
          <p:cNvPr name="Freeform 6" id="6"/>
          <p:cNvSpPr/>
          <p:nvPr/>
        </p:nvSpPr>
        <p:spPr>
          <a:xfrm flipH="false" flipV="false" rot="0">
            <a:off x="8758257" y="6771245"/>
            <a:ext cx="8784063" cy="3639465"/>
          </a:xfrm>
          <a:custGeom>
            <a:avLst/>
            <a:gdLst/>
            <a:ahLst/>
            <a:cxnLst/>
            <a:rect r="r" b="b" t="t" l="l"/>
            <a:pathLst>
              <a:path h="3639465" w="8784063">
                <a:moveTo>
                  <a:pt x="0" y="0"/>
                </a:moveTo>
                <a:lnTo>
                  <a:pt x="8784063" y="0"/>
                </a:lnTo>
                <a:lnTo>
                  <a:pt x="8784063" y="3639464"/>
                </a:lnTo>
                <a:lnTo>
                  <a:pt x="0" y="3639464"/>
                </a:lnTo>
                <a:lnTo>
                  <a:pt x="0" y="0"/>
                </a:lnTo>
                <a:close/>
              </a:path>
            </a:pathLst>
          </a:custGeom>
          <a:blipFill>
            <a:blip r:embed="rId5"/>
            <a:stretch>
              <a:fillRect l="0" t="0" r="-442" b="0"/>
            </a:stretch>
          </a:blipFill>
        </p:spPr>
      </p:sp>
      <p:sp>
        <p:nvSpPr>
          <p:cNvPr name="TextBox 7" id="7"/>
          <p:cNvSpPr txBox="true"/>
          <p:nvPr/>
        </p:nvSpPr>
        <p:spPr>
          <a:xfrm rot="0">
            <a:off x="17259300" y="983137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Glacial Indifference Bold"/>
                <a:ea typeface="Glacial Indifference Bold"/>
                <a:cs typeface="Glacial Indifference Bold"/>
                <a:sym typeface="Glacial Indifference Bold"/>
              </a:rPr>
              <a:t>1</a:t>
            </a:r>
          </a:p>
        </p:txBody>
      </p:sp>
      <p:sp>
        <p:nvSpPr>
          <p:cNvPr name="TextBox 8" id="8"/>
          <p:cNvSpPr txBox="true"/>
          <p:nvPr/>
        </p:nvSpPr>
        <p:spPr>
          <a:xfrm rot="0">
            <a:off x="543127" y="366988"/>
            <a:ext cx="15990534"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Projection of Soil Moisture 2025-2080</a:t>
            </a:r>
          </a:p>
        </p:txBody>
      </p:sp>
      <p:sp>
        <p:nvSpPr>
          <p:cNvPr name="TextBox 9" id="9"/>
          <p:cNvSpPr txBox="true"/>
          <p:nvPr/>
        </p:nvSpPr>
        <p:spPr>
          <a:xfrm rot="0">
            <a:off x="543127" y="941786"/>
            <a:ext cx="15311396" cy="296545"/>
          </a:xfrm>
          <a:prstGeom prst="rect">
            <a:avLst/>
          </a:prstGeom>
        </p:spPr>
        <p:txBody>
          <a:bodyPr anchor="t" rtlCol="false" tIns="0" lIns="0" bIns="0" rIns="0">
            <a:spAutoFit/>
          </a:bodyPr>
          <a:lstStyle/>
          <a:p>
            <a:pPr algn="just">
              <a:lnSpc>
                <a:spcPts val="2240"/>
              </a:lnSpc>
            </a:pPr>
            <a:r>
              <a:rPr lang="en-US" sz="2000" spc="40">
                <a:solidFill>
                  <a:srgbClr val="FE763A"/>
                </a:solidFill>
                <a:latin typeface="Glacial Indifference"/>
                <a:ea typeface="Glacial Indifference"/>
                <a:cs typeface="Glacial Indifference"/>
                <a:sym typeface="Glacial Indifference"/>
              </a:rPr>
              <a:t>Use the Predicted TREFHT for Soil Moisture Projection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86806" y="2307906"/>
            <a:ext cx="573153" cy="57315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1</a:t>
              </a:r>
            </a:p>
          </p:txBody>
        </p:sp>
      </p:grpSp>
      <p:sp>
        <p:nvSpPr>
          <p:cNvPr name="TextBox 5" id="5"/>
          <p:cNvSpPr txBox="true"/>
          <p:nvPr/>
        </p:nvSpPr>
        <p:spPr>
          <a:xfrm rot="0">
            <a:off x="1786806" y="581025"/>
            <a:ext cx="16262613" cy="1149348"/>
          </a:xfrm>
          <a:prstGeom prst="rect">
            <a:avLst/>
          </a:prstGeom>
        </p:spPr>
        <p:txBody>
          <a:bodyPr anchor="t" rtlCol="false" tIns="0" lIns="0" bIns="0" rIns="0">
            <a:spAutoFit/>
          </a:bodyPr>
          <a:lstStyle/>
          <a:p>
            <a:pPr algn="l" marL="0" indent="0" lvl="0">
              <a:lnSpc>
                <a:spcPts val="8799"/>
              </a:lnSpc>
            </a:pPr>
            <a:r>
              <a:rPr lang="en-US" b="true" sz="7999">
                <a:solidFill>
                  <a:srgbClr val="004247"/>
                </a:solidFill>
                <a:latin typeface="Glacial Indifference Bold"/>
                <a:ea typeface="Glacial Indifference Bold"/>
                <a:cs typeface="Glacial Indifference Bold"/>
                <a:sym typeface="Glacial Indifference Bold"/>
              </a:rPr>
              <a:t>Agenda</a:t>
            </a:r>
          </a:p>
        </p:txBody>
      </p:sp>
      <p:sp>
        <p:nvSpPr>
          <p:cNvPr name="TextBox 6" id="6"/>
          <p:cNvSpPr txBox="true"/>
          <p:nvPr/>
        </p:nvSpPr>
        <p:spPr>
          <a:xfrm rot="0">
            <a:off x="2854410" y="2410014"/>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Background</a:t>
            </a:r>
          </a:p>
        </p:txBody>
      </p:sp>
      <p:sp>
        <p:nvSpPr>
          <p:cNvPr name="TextBox 7" id="7"/>
          <p:cNvSpPr txBox="true"/>
          <p:nvPr/>
        </p:nvSpPr>
        <p:spPr>
          <a:xfrm rot="0">
            <a:off x="2854410" y="3089656"/>
            <a:ext cx="11195719"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Scope</a:t>
            </a:r>
          </a:p>
        </p:txBody>
      </p:sp>
      <p:sp>
        <p:nvSpPr>
          <p:cNvPr name="TextBox 8" id="8"/>
          <p:cNvSpPr txBox="true"/>
          <p:nvPr/>
        </p:nvSpPr>
        <p:spPr>
          <a:xfrm rot="0">
            <a:off x="2854410" y="3772916"/>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Methodology</a:t>
            </a:r>
          </a:p>
        </p:txBody>
      </p:sp>
      <p:sp>
        <p:nvSpPr>
          <p:cNvPr name="TextBox 9" id="9"/>
          <p:cNvSpPr txBox="true"/>
          <p:nvPr/>
        </p:nvSpPr>
        <p:spPr>
          <a:xfrm rot="0">
            <a:off x="2854410" y="4445511"/>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The Datasets</a:t>
            </a:r>
          </a:p>
        </p:txBody>
      </p:sp>
      <p:sp>
        <p:nvSpPr>
          <p:cNvPr name="TextBox 10" id="10"/>
          <p:cNvSpPr txBox="true"/>
          <p:nvPr/>
        </p:nvSpPr>
        <p:spPr>
          <a:xfrm rot="0">
            <a:off x="2854410" y="518077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Data Preprocessing</a:t>
            </a:r>
          </a:p>
        </p:txBody>
      </p:sp>
      <p:sp>
        <p:nvSpPr>
          <p:cNvPr name="TextBox 11" id="11"/>
          <p:cNvSpPr txBox="true"/>
          <p:nvPr/>
        </p:nvSpPr>
        <p:spPr>
          <a:xfrm rot="0">
            <a:off x="2854410" y="5911662"/>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Exploratory Data Analysis</a:t>
            </a:r>
          </a:p>
        </p:txBody>
      </p:sp>
      <p:sp>
        <p:nvSpPr>
          <p:cNvPr name="TextBox 12" id="12"/>
          <p:cNvSpPr txBox="true"/>
          <p:nvPr/>
        </p:nvSpPr>
        <p:spPr>
          <a:xfrm rot="0">
            <a:off x="2854410" y="6589590"/>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Model Development</a:t>
            </a:r>
          </a:p>
        </p:txBody>
      </p:sp>
      <p:sp>
        <p:nvSpPr>
          <p:cNvPr name="TextBox 13" id="13"/>
          <p:cNvSpPr txBox="true"/>
          <p:nvPr/>
        </p:nvSpPr>
        <p:spPr>
          <a:xfrm rot="0">
            <a:off x="2854410" y="7324667"/>
            <a:ext cx="14621406" cy="397510"/>
          </a:xfrm>
          <a:prstGeom prst="rect">
            <a:avLst/>
          </a:prstGeom>
        </p:spPr>
        <p:txBody>
          <a:bodyPr anchor="t" rtlCol="false" tIns="0" lIns="0" bIns="0" rIns="0">
            <a:spAutoFit/>
          </a:bodyPr>
          <a:lstStyle/>
          <a:p>
            <a:pPr algn="l" marL="0" indent="0" lvl="0">
              <a:lnSpc>
                <a:spcPts val="3080"/>
              </a:lnSpc>
            </a:pPr>
            <a:r>
              <a:rPr lang="en-US" b="true" sz="2800">
                <a:solidFill>
                  <a:srgbClr val="000000"/>
                </a:solidFill>
                <a:latin typeface="Glacial Indifference Bold"/>
                <a:ea typeface="Glacial Indifference Bold"/>
                <a:cs typeface="Glacial Indifference Bold"/>
                <a:sym typeface="Glacial Indifference Bold"/>
              </a:rPr>
              <a:t>Key Findings </a:t>
            </a:r>
          </a:p>
        </p:txBody>
      </p:sp>
      <p:sp>
        <p:nvSpPr>
          <p:cNvPr name="TextBox 14" id="14"/>
          <p:cNvSpPr txBox="true"/>
          <p:nvPr/>
        </p:nvSpPr>
        <p:spPr>
          <a:xfrm rot="0">
            <a:off x="2854410" y="8023604"/>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Further Research</a:t>
            </a:r>
          </a:p>
        </p:txBody>
      </p:sp>
      <p:grpSp>
        <p:nvGrpSpPr>
          <p:cNvPr name="Group 15" id="15"/>
          <p:cNvGrpSpPr/>
          <p:nvPr/>
        </p:nvGrpSpPr>
        <p:grpSpPr>
          <a:xfrm rot="0">
            <a:off x="1786806" y="2987547"/>
            <a:ext cx="573153" cy="57315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2</a:t>
              </a:r>
            </a:p>
          </p:txBody>
        </p:sp>
      </p:grpSp>
      <p:grpSp>
        <p:nvGrpSpPr>
          <p:cNvPr name="Group 18" id="18"/>
          <p:cNvGrpSpPr/>
          <p:nvPr/>
        </p:nvGrpSpPr>
        <p:grpSpPr>
          <a:xfrm rot="0">
            <a:off x="1786806" y="3665475"/>
            <a:ext cx="573153" cy="57315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0" id="20"/>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3</a:t>
              </a:r>
            </a:p>
          </p:txBody>
        </p:sp>
      </p:grpSp>
      <p:grpSp>
        <p:nvGrpSpPr>
          <p:cNvPr name="Group 21" id="21"/>
          <p:cNvGrpSpPr/>
          <p:nvPr/>
        </p:nvGrpSpPr>
        <p:grpSpPr>
          <a:xfrm rot="0">
            <a:off x="1786806" y="4343402"/>
            <a:ext cx="573153" cy="57315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3" id="23"/>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4</a:t>
              </a:r>
            </a:p>
          </p:txBody>
        </p:sp>
      </p:grpSp>
      <p:grpSp>
        <p:nvGrpSpPr>
          <p:cNvPr name="Group 24" id="24"/>
          <p:cNvGrpSpPr/>
          <p:nvPr/>
        </p:nvGrpSpPr>
        <p:grpSpPr>
          <a:xfrm rot="0">
            <a:off x="1786806" y="5074476"/>
            <a:ext cx="573153" cy="57315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6" id="26"/>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5</a:t>
              </a:r>
            </a:p>
          </p:txBody>
        </p:sp>
      </p:grpSp>
      <p:grpSp>
        <p:nvGrpSpPr>
          <p:cNvPr name="Group 27" id="27"/>
          <p:cNvGrpSpPr/>
          <p:nvPr/>
        </p:nvGrpSpPr>
        <p:grpSpPr>
          <a:xfrm rot="0">
            <a:off x="1786806" y="5809553"/>
            <a:ext cx="573153" cy="57315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9" id="29"/>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6</a:t>
              </a:r>
            </a:p>
          </p:txBody>
        </p:sp>
      </p:grpSp>
      <p:grpSp>
        <p:nvGrpSpPr>
          <p:cNvPr name="Group 30" id="30"/>
          <p:cNvGrpSpPr/>
          <p:nvPr/>
        </p:nvGrpSpPr>
        <p:grpSpPr>
          <a:xfrm rot="0">
            <a:off x="1786806" y="6487481"/>
            <a:ext cx="573153" cy="57315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F9A"/>
            </a:solidFill>
          </p:spPr>
        </p:sp>
        <p:sp>
          <p:nvSpPr>
            <p:cNvPr name="TextBox 32" id="32"/>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7</a:t>
              </a:r>
            </a:p>
          </p:txBody>
        </p:sp>
      </p:grpSp>
      <p:grpSp>
        <p:nvGrpSpPr>
          <p:cNvPr name="Group 33" id="33"/>
          <p:cNvGrpSpPr/>
          <p:nvPr/>
        </p:nvGrpSpPr>
        <p:grpSpPr>
          <a:xfrm rot="0">
            <a:off x="1786806" y="7222558"/>
            <a:ext cx="573153" cy="573153"/>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4D24"/>
            </a:solidFill>
          </p:spPr>
        </p:sp>
        <p:sp>
          <p:nvSpPr>
            <p:cNvPr name="TextBox 35" id="35"/>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8</a:t>
              </a:r>
            </a:p>
          </p:txBody>
        </p:sp>
      </p:grpSp>
      <p:grpSp>
        <p:nvGrpSpPr>
          <p:cNvPr name="Group 36" id="36"/>
          <p:cNvGrpSpPr/>
          <p:nvPr/>
        </p:nvGrpSpPr>
        <p:grpSpPr>
          <a:xfrm rot="0">
            <a:off x="1786806" y="7921495"/>
            <a:ext cx="573153" cy="57315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38" id="38"/>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9</a:t>
              </a:r>
            </a:p>
          </p:txBody>
        </p:sp>
      </p:grpSp>
      <p:pic>
        <p:nvPicPr>
          <p:cNvPr name="Picture 39" id="39"/>
          <p:cNvPicPr>
            <a:picLocks noChangeAspect="true"/>
          </p:cNvPicPr>
          <p:nvPr/>
        </p:nvPicPr>
        <p:blipFill>
          <a:blip r:embed="rId2"/>
          <a:stretch>
            <a:fillRect/>
          </a:stretch>
        </p:blipFill>
        <p:spPr>
          <a:xfrm rot="0">
            <a:off x="5718054" y="312264"/>
            <a:ext cx="5116406" cy="1620195"/>
          </a:xfrm>
          <a:prstGeom prst="rect">
            <a:avLst/>
          </a:prstGeom>
        </p:spPr>
      </p:pic>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343033" y="423189"/>
            <a:ext cx="0" cy="815143"/>
          </a:xfrm>
          <a:prstGeom prst="line">
            <a:avLst/>
          </a:prstGeom>
          <a:ln cap="flat" w="47625">
            <a:solidFill>
              <a:srgbClr val="206648"/>
            </a:solidFill>
            <a:prstDash val="solid"/>
            <a:headEnd type="none" len="sm" w="sm"/>
            <a:tailEnd type="none" len="sm" w="sm"/>
          </a:ln>
        </p:spPr>
      </p:sp>
      <p:sp>
        <p:nvSpPr>
          <p:cNvPr name="TextBox 3" id="3"/>
          <p:cNvSpPr txBox="true"/>
          <p:nvPr/>
        </p:nvSpPr>
        <p:spPr>
          <a:xfrm rot="0">
            <a:off x="543127" y="366988"/>
            <a:ext cx="15990534"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Result Interpretations: Climate Impacts on Soil Moisture and Agriculture</a:t>
            </a:r>
          </a:p>
        </p:txBody>
      </p:sp>
      <p:sp>
        <p:nvSpPr>
          <p:cNvPr name="TextBox 4" id="4"/>
          <p:cNvSpPr txBox="true"/>
          <p:nvPr/>
        </p:nvSpPr>
        <p:spPr>
          <a:xfrm rot="0">
            <a:off x="543127" y="941786"/>
            <a:ext cx="15311396" cy="296545"/>
          </a:xfrm>
          <a:prstGeom prst="rect">
            <a:avLst/>
          </a:prstGeom>
        </p:spPr>
        <p:txBody>
          <a:bodyPr anchor="t" rtlCol="false" tIns="0" lIns="0" bIns="0" rIns="0">
            <a:spAutoFit/>
          </a:bodyPr>
          <a:lstStyle/>
          <a:p>
            <a:pPr algn="just">
              <a:lnSpc>
                <a:spcPts val="2240"/>
              </a:lnSpc>
            </a:pPr>
            <a:r>
              <a:rPr lang="en-US" sz="2000" spc="40">
                <a:solidFill>
                  <a:srgbClr val="FE763A"/>
                </a:solidFill>
                <a:latin typeface="Glacial Indifference"/>
                <a:ea typeface="Glacial Indifference"/>
                <a:cs typeface="Glacial Indifference"/>
                <a:sym typeface="Glacial Indifference"/>
              </a:rPr>
              <a:t>From Rising Temperatures to Drying Soils: Implications for Crop Health and Ecosystem Stability</a:t>
            </a:r>
          </a:p>
        </p:txBody>
      </p:sp>
      <p:grpSp>
        <p:nvGrpSpPr>
          <p:cNvPr name="Group 5" id="5"/>
          <p:cNvGrpSpPr/>
          <p:nvPr/>
        </p:nvGrpSpPr>
        <p:grpSpPr>
          <a:xfrm rot="0">
            <a:off x="343033" y="1986697"/>
            <a:ext cx="4711515" cy="1532981"/>
            <a:chOff x="0" y="0"/>
            <a:chExt cx="1240893" cy="403748"/>
          </a:xfrm>
        </p:grpSpPr>
        <p:sp>
          <p:nvSpPr>
            <p:cNvPr name="Freeform 6" id="6"/>
            <p:cNvSpPr/>
            <p:nvPr/>
          </p:nvSpPr>
          <p:spPr>
            <a:xfrm flipH="false" flipV="false" rot="0">
              <a:off x="0" y="0"/>
              <a:ext cx="1240893" cy="403748"/>
            </a:xfrm>
            <a:custGeom>
              <a:avLst/>
              <a:gdLst/>
              <a:ahLst/>
              <a:cxnLst/>
              <a:rect r="r" b="b" t="t" l="l"/>
              <a:pathLst>
                <a:path h="403748" w="1240893">
                  <a:moveTo>
                    <a:pt x="0" y="0"/>
                  </a:moveTo>
                  <a:lnTo>
                    <a:pt x="1240893" y="0"/>
                  </a:lnTo>
                  <a:lnTo>
                    <a:pt x="1240893" y="403748"/>
                  </a:lnTo>
                  <a:lnTo>
                    <a:pt x="0" y="403748"/>
                  </a:lnTo>
                  <a:close/>
                </a:path>
              </a:pathLst>
            </a:custGeom>
            <a:solidFill>
              <a:srgbClr val="000000">
                <a:alpha val="0"/>
              </a:srgbClr>
            </a:solidFill>
            <a:ln w="9525" cap="sq">
              <a:solidFill>
                <a:srgbClr val="BABABA"/>
              </a:solidFill>
              <a:prstDash val="solid"/>
              <a:miter/>
            </a:ln>
          </p:spPr>
        </p:sp>
        <p:sp>
          <p:nvSpPr>
            <p:cNvPr name="TextBox 7" id="7"/>
            <p:cNvSpPr txBox="true"/>
            <p:nvPr/>
          </p:nvSpPr>
          <p:spPr>
            <a:xfrm>
              <a:off x="0" y="19050"/>
              <a:ext cx="1240893" cy="384698"/>
            </a:xfrm>
            <a:prstGeom prst="rect">
              <a:avLst/>
            </a:prstGeom>
          </p:spPr>
          <p:txBody>
            <a:bodyPr anchor="ctr" rtlCol="false" tIns="50800" lIns="50800" bIns="50800" rIns="50800"/>
            <a:lstStyle/>
            <a:p>
              <a:pPr algn="ctr">
                <a:lnSpc>
                  <a:spcPts val="1895"/>
                </a:lnSpc>
              </a:pPr>
            </a:p>
          </p:txBody>
        </p:sp>
      </p:grpSp>
      <p:grpSp>
        <p:nvGrpSpPr>
          <p:cNvPr name="Group 8" id="8"/>
          <p:cNvGrpSpPr/>
          <p:nvPr/>
        </p:nvGrpSpPr>
        <p:grpSpPr>
          <a:xfrm rot="0">
            <a:off x="626451" y="1742984"/>
            <a:ext cx="4255233" cy="470302"/>
            <a:chOff x="0" y="0"/>
            <a:chExt cx="1120720" cy="123866"/>
          </a:xfrm>
        </p:grpSpPr>
        <p:sp>
          <p:nvSpPr>
            <p:cNvPr name="Freeform 9" id="9"/>
            <p:cNvSpPr/>
            <p:nvPr/>
          </p:nvSpPr>
          <p:spPr>
            <a:xfrm flipH="false" flipV="false" rot="0">
              <a:off x="0" y="0"/>
              <a:ext cx="1120720" cy="123866"/>
            </a:xfrm>
            <a:custGeom>
              <a:avLst/>
              <a:gdLst/>
              <a:ahLst/>
              <a:cxnLst/>
              <a:rect r="r" b="b" t="t" l="l"/>
              <a:pathLst>
                <a:path h="123866" w="1120720">
                  <a:moveTo>
                    <a:pt x="14555" y="0"/>
                  </a:moveTo>
                  <a:lnTo>
                    <a:pt x="1106165" y="0"/>
                  </a:lnTo>
                  <a:cubicBezTo>
                    <a:pt x="1110025" y="0"/>
                    <a:pt x="1113727" y="1533"/>
                    <a:pt x="1116457" y="4263"/>
                  </a:cubicBezTo>
                  <a:cubicBezTo>
                    <a:pt x="1119186" y="6993"/>
                    <a:pt x="1120720" y="10695"/>
                    <a:pt x="1120720" y="14555"/>
                  </a:cubicBezTo>
                  <a:lnTo>
                    <a:pt x="1120720" y="109310"/>
                  </a:lnTo>
                  <a:cubicBezTo>
                    <a:pt x="1120720" y="113171"/>
                    <a:pt x="1119186" y="116873"/>
                    <a:pt x="1116457" y="119602"/>
                  </a:cubicBezTo>
                  <a:cubicBezTo>
                    <a:pt x="1113727" y="122332"/>
                    <a:pt x="1110025" y="123866"/>
                    <a:pt x="1106165" y="123866"/>
                  </a:cubicBezTo>
                  <a:lnTo>
                    <a:pt x="14555" y="123866"/>
                  </a:lnTo>
                  <a:cubicBezTo>
                    <a:pt x="10695" y="123866"/>
                    <a:pt x="6993" y="122332"/>
                    <a:pt x="4263" y="119602"/>
                  </a:cubicBezTo>
                  <a:cubicBezTo>
                    <a:pt x="1533" y="116873"/>
                    <a:pt x="0" y="113171"/>
                    <a:pt x="0" y="109310"/>
                  </a:cubicBezTo>
                  <a:lnTo>
                    <a:pt x="0" y="14555"/>
                  </a:lnTo>
                  <a:cubicBezTo>
                    <a:pt x="0" y="10695"/>
                    <a:pt x="1533" y="6993"/>
                    <a:pt x="4263" y="4263"/>
                  </a:cubicBezTo>
                  <a:cubicBezTo>
                    <a:pt x="6993" y="1533"/>
                    <a:pt x="10695" y="0"/>
                    <a:pt x="14555" y="0"/>
                  </a:cubicBezTo>
                  <a:close/>
                </a:path>
              </a:pathLst>
            </a:custGeom>
            <a:solidFill>
              <a:srgbClr val="184047"/>
            </a:solidFill>
          </p:spPr>
        </p:sp>
        <p:sp>
          <p:nvSpPr>
            <p:cNvPr name="TextBox 10" id="10"/>
            <p:cNvSpPr txBox="true"/>
            <p:nvPr/>
          </p:nvSpPr>
          <p:spPr>
            <a:xfrm>
              <a:off x="0" y="9525"/>
              <a:ext cx="1120720" cy="114341"/>
            </a:xfrm>
            <a:prstGeom prst="rect">
              <a:avLst/>
            </a:prstGeom>
          </p:spPr>
          <p:txBody>
            <a:bodyPr anchor="ctr" rtlCol="false" tIns="50800" lIns="50800" bIns="50800" rIns="50800"/>
            <a:lstStyle/>
            <a:p>
              <a:pPr algn="ctr">
                <a:lnSpc>
                  <a:spcPts val="2015"/>
                </a:lnSpc>
              </a:pPr>
              <a:r>
                <a:rPr lang="en-US" b="true" sz="1799" spc="35">
                  <a:solidFill>
                    <a:srgbClr val="FFFFFF"/>
                  </a:solidFill>
                  <a:latin typeface="Glacial Indifference Bold"/>
                  <a:ea typeface="Glacial Indifference Bold"/>
                  <a:cs typeface="Glacial Indifference Bold"/>
                  <a:sym typeface="Glacial Indifference Bold"/>
                </a:rPr>
                <a:t>Temperature</a:t>
              </a:r>
            </a:p>
          </p:txBody>
        </p:sp>
      </p:grpSp>
      <p:sp>
        <p:nvSpPr>
          <p:cNvPr name="Freeform 11" id="11"/>
          <p:cNvSpPr/>
          <p:nvPr/>
        </p:nvSpPr>
        <p:spPr>
          <a:xfrm flipH="false" flipV="false" rot="0">
            <a:off x="453589" y="2490371"/>
            <a:ext cx="222842" cy="206392"/>
          </a:xfrm>
          <a:custGeom>
            <a:avLst/>
            <a:gdLst/>
            <a:ahLst/>
            <a:cxnLst/>
            <a:rect r="r" b="b" t="t" l="l"/>
            <a:pathLst>
              <a:path h="206392" w="222842">
                <a:moveTo>
                  <a:pt x="0" y="0"/>
                </a:moveTo>
                <a:lnTo>
                  <a:pt x="222841" y="0"/>
                </a:lnTo>
                <a:lnTo>
                  <a:pt x="222841" y="206393"/>
                </a:lnTo>
                <a:lnTo>
                  <a:pt x="0" y="2063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15133" y="2402632"/>
            <a:ext cx="4166552" cy="1341120"/>
          </a:xfrm>
          <a:prstGeom prst="rect">
            <a:avLst/>
          </a:prstGeom>
        </p:spPr>
        <p:txBody>
          <a:bodyPr anchor="t" rtlCol="false" tIns="0" lIns="0" bIns="0" rIns="0">
            <a:spAutoFit/>
          </a:bodyPr>
          <a:lstStyle/>
          <a:p>
            <a:pPr algn="l">
              <a:lnSpc>
                <a:spcPts val="2640"/>
              </a:lnSpc>
            </a:pPr>
            <a:r>
              <a:rPr lang="en-US" sz="2000">
                <a:solidFill>
                  <a:srgbClr val="000000"/>
                </a:solidFill>
                <a:latin typeface="Glacial Indifference"/>
                <a:ea typeface="Glacial Indifference"/>
                <a:cs typeface="Glacial Indifference"/>
                <a:sym typeface="Glacial Indifference"/>
              </a:rPr>
              <a:t>TRFHT is projected to rise steadily through 2080 across all areas in the UK</a:t>
            </a:r>
          </a:p>
          <a:p>
            <a:pPr algn="l">
              <a:lnSpc>
                <a:spcPts val="2640"/>
              </a:lnSpc>
            </a:pPr>
          </a:p>
        </p:txBody>
      </p:sp>
      <p:grpSp>
        <p:nvGrpSpPr>
          <p:cNvPr name="Group 13" id="13"/>
          <p:cNvGrpSpPr/>
          <p:nvPr/>
        </p:nvGrpSpPr>
        <p:grpSpPr>
          <a:xfrm rot="0">
            <a:off x="175763" y="1815027"/>
            <a:ext cx="367364" cy="326216"/>
            <a:chOff x="0" y="0"/>
            <a:chExt cx="489819" cy="434955"/>
          </a:xfrm>
        </p:grpSpPr>
        <p:grpSp>
          <p:nvGrpSpPr>
            <p:cNvPr name="Group 14" id="14"/>
            <p:cNvGrpSpPr/>
            <p:nvPr/>
          </p:nvGrpSpPr>
          <p:grpSpPr>
            <a:xfrm rot="0">
              <a:off x="0" y="0"/>
              <a:ext cx="489819" cy="434955"/>
              <a:chOff x="0" y="0"/>
              <a:chExt cx="812800" cy="721760"/>
            </a:xfrm>
          </p:grpSpPr>
          <p:sp>
            <p:nvSpPr>
              <p:cNvPr name="Freeform 15" id="15"/>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solidFill>
                <a:srgbClr val="E25B36"/>
              </a:solidFill>
            </p:spPr>
          </p:sp>
          <p:sp>
            <p:nvSpPr>
              <p:cNvPr name="TextBox 16" id="16"/>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17" id="17"/>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1</a:t>
              </a:r>
            </a:p>
          </p:txBody>
        </p:sp>
      </p:grpSp>
      <p:grpSp>
        <p:nvGrpSpPr>
          <p:cNvPr name="Group 18" id="18"/>
          <p:cNvGrpSpPr/>
          <p:nvPr/>
        </p:nvGrpSpPr>
        <p:grpSpPr>
          <a:xfrm rot="0">
            <a:off x="343033" y="4568490"/>
            <a:ext cx="4711515" cy="3090556"/>
            <a:chOff x="0" y="0"/>
            <a:chExt cx="1240893" cy="813974"/>
          </a:xfrm>
        </p:grpSpPr>
        <p:sp>
          <p:nvSpPr>
            <p:cNvPr name="Freeform 19" id="19"/>
            <p:cNvSpPr/>
            <p:nvPr/>
          </p:nvSpPr>
          <p:spPr>
            <a:xfrm flipH="false" flipV="false" rot="0">
              <a:off x="0" y="0"/>
              <a:ext cx="1240893" cy="813973"/>
            </a:xfrm>
            <a:custGeom>
              <a:avLst/>
              <a:gdLst/>
              <a:ahLst/>
              <a:cxnLst/>
              <a:rect r="r" b="b" t="t" l="l"/>
              <a:pathLst>
                <a:path h="813973" w="1240893">
                  <a:moveTo>
                    <a:pt x="0" y="0"/>
                  </a:moveTo>
                  <a:lnTo>
                    <a:pt x="1240893" y="0"/>
                  </a:lnTo>
                  <a:lnTo>
                    <a:pt x="1240893" y="813973"/>
                  </a:lnTo>
                  <a:lnTo>
                    <a:pt x="0" y="813973"/>
                  </a:lnTo>
                  <a:close/>
                </a:path>
              </a:pathLst>
            </a:custGeom>
            <a:solidFill>
              <a:srgbClr val="000000">
                <a:alpha val="0"/>
              </a:srgbClr>
            </a:solidFill>
            <a:ln w="9525" cap="sq">
              <a:solidFill>
                <a:srgbClr val="BABABA"/>
              </a:solidFill>
              <a:prstDash val="solid"/>
              <a:miter/>
            </a:ln>
          </p:spPr>
        </p:sp>
        <p:sp>
          <p:nvSpPr>
            <p:cNvPr name="TextBox 20" id="20"/>
            <p:cNvSpPr txBox="true"/>
            <p:nvPr/>
          </p:nvSpPr>
          <p:spPr>
            <a:xfrm>
              <a:off x="0" y="19050"/>
              <a:ext cx="1240893" cy="794924"/>
            </a:xfrm>
            <a:prstGeom prst="rect">
              <a:avLst/>
            </a:prstGeom>
          </p:spPr>
          <p:txBody>
            <a:bodyPr anchor="ctr" rtlCol="false" tIns="50800" lIns="50800" bIns="50800" rIns="50800"/>
            <a:lstStyle/>
            <a:p>
              <a:pPr algn="ctr">
                <a:lnSpc>
                  <a:spcPts val="1895"/>
                </a:lnSpc>
              </a:pPr>
            </a:p>
          </p:txBody>
        </p:sp>
      </p:grpSp>
      <p:grpSp>
        <p:nvGrpSpPr>
          <p:cNvPr name="Group 21" id="21"/>
          <p:cNvGrpSpPr/>
          <p:nvPr/>
        </p:nvGrpSpPr>
        <p:grpSpPr>
          <a:xfrm rot="0">
            <a:off x="626451" y="4324777"/>
            <a:ext cx="4255233" cy="470302"/>
            <a:chOff x="0" y="0"/>
            <a:chExt cx="1120720" cy="123866"/>
          </a:xfrm>
        </p:grpSpPr>
        <p:sp>
          <p:nvSpPr>
            <p:cNvPr name="Freeform 22" id="22"/>
            <p:cNvSpPr/>
            <p:nvPr/>
          </p:nvSpPr>
          <p:spPr>
            <a:xfrm flipH="false" flipV="false" rot="0">
              <a:off x="0" y="0"/>
              <a:ext cx="1120720" cy="123866"/>
            </a:xfrm>
            <a:custGeom>
              <a:avLst/>
              <a:gdLst/>
              <a:ahLst/>
              <a:cxnLst/>
              <a:rect r="r" b="b" t="t" l="l"/>
              <a:pathLst>
                <a:path h="123866" w="1120720">
                  <a:moveTo>
                    <a:pt x="14555" y="0"/>
                  </a:moveTo>
                  <a:lnTo>
                    <a:pt x="1106165" y="0"/>
                  </a:lnTo>
                  <a:cubicBezTo>
                    <a:pt x="1110025" y="0"/>
                    <a:pt x="1113727" y="1533"/>
                    <a:pt x="1116457" y="4263"/>
                  </a:cubicBezTo>
                  <a:cubicBezTo>
                    <a:pt x="1119186" y="6993"/>
                    <a:pt x="1120720" y="10695"/>
                    <a:pt x="1120720" y="14555"/>
                  </a:cubicBezTo>
                  <a:lnTo>
                    <a:pt x="1120720" y="109310"/>
                  </a:lnTo>
                  <a:cubicBezTo>
                    <a:pt x="1120720" y="113171"/>
                    <a:pt x="1119186" y="116873"/>
                    <a:pt x="1116457" y="119602"/>
                  </a:cubicBezTo>
                  <a:cubicBezTo>
                    <a:pt x="1113727" y="122332"/>
                    <a:pt x="1110025" y="123866"/>
                    <a:pt x="1106165" y="123866"/>
                  </a:cubicBezTo>
                  <a:lnTo>
                    <a:pt x="14555" y="123866"/>
                  </a:lnTo>
                  <a:cubicBezTo>
                    <a:pt x="10695" y="123866"/>
                    <a:pt x="6993" y="122332"/>
                    <a:pt x="4263" y="119602"/>
                  </a:cubicBezTo>
                  <a:cubicBezTo>
                    <a:pt x="1533" y="116873"/>
                    <a:pt x="0" y="113171"/>
                    <a:pt x="0" y="109310"/>
                  </a:cubicBezTo>
                  <a:lnTo>
                    <a:pt x="0" y="14555"/>
                  </a:lnTo>
                  <a:cubicBezTo>
                    <a:pt x="0" y="10695"/>
                    <a:pt x="1533" y="6993"/>
                    <a:pt x="4263" y="4263"/>
                  </a:cubicBezTo>
                  <a:cubicBezTo>
                    <a:pt x="6993" y="1533"/>
                    <a:pt x="10695" y="0"/>
                    <a:pt x="14555" y="0"/>
                  </a:cubicBezTo>
                  <a:close/>
                </a:path>
              </a:pathLst>
            </a:custGeom>
            <a:solidFill>
              <a:srgbClr val="184047"/>
            </a:solidFill>
          </p:spPr>
        </p:sp>
        <p:sp>
          <p:nvSpPr>
            <p:cNvPr name="TextBox 23" id="23"/>
            <p:cNvSpPr txBox="true"/>
            <p:nvPr/>
          </p:nvSpPr>
          <p:spPr>
            <a:xfrm>
              <a:off x="0" y="9525"/>
              <a:ext cx="1120720" cy="114341"/>
            </a:xfrm>
            <a:prstGeom prst="rect">
              <a:avLst/>
            </a:prstGeom>
          </p:spPr>
          <p:txBody>
            <a:bodyPr anchor="ctr" rtlCol="false" tIns="50800" lIns="50800" bIns="50800" rIns="50800"/>
            <a:lstStyle/>
            <a:p>
              <a:pPr algn="ctr">
                <a:lnSpc>
                  <a:spcPts val="2015"/>
                </a:lnSpc>
              </a:pPr>
              <a:r>
                <a:rPr lang="en-US" b="true" sz="1799" spc="35">
                  <a:solidFill>
                    <a:srgbClr val="FFFFFF"/>
                  </a:solidFill>
                  <a:latin typeface="Glacial Indifference Bold"/>
                  <a:ea typeface="Glacial Indifference Bold"/>
                  <a:cs typeface="Glacial Indifference Bold"/>
                  <a:sym typeface="Glacial Indifference Bold"/>
                </a:rPr>
                <a:t>Soil Moisture</a:t>
              </a:r>
            </a:p>
          </p:txBody>
        </p:sp>
      </p:grpSp>
      <p:sp>
        <p:nvSpPr>
          <p:cNvPr name="Freeform 24" id="24"/>
          <p:cNvSpPr/>
          <p:nvPr/>
        </p:nvSpPr>
        <p:spPr>
          <a:xfrm flipH="false" flipV="false" rot="0">
            <a:off x="453589" y="5072164"/>
            <a:ext cx="222842" cy="206392"/>
          </a:xfrm>
          <a:custGeom>
            <a:avLst/>
            <a:gdLst/>
            <a:ahLst/>
            <a:cxnLst/>
            <a:rect r="r" b="b" t="t" l="l"/>
            <a:pathLst>
              <a:path h="206392" w="222842">
                <a:moveTo>
                  <a:pt x="0" y="0"/>
                </a:moveTo>
                <a:lnTo>
                  <a:pt x="222841" y="0"/>
                </a:lnTo>
                <a:lnTo>
                  <a:pt x="222841" y="206393"/>
                </a:lnTo>
                <a:lnTo>
                  <a:pt x="0" y="2063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5" id="25"/>
          <p:cNvSpPr txBox="true"/>
          <p:nvPr/>
        </p:nvSpPr>
        <p:spPr>
          <a:xfrm rot="0">
            <a:off x="715133" y="4984425"/>
            <a:ext cx="4166552" cy="2674620"/>
          </a:xfrm>
          <a:prstGeom prst="rect">
            <a:avLst/>
          </a:prstGeom>
        </p:spPr>
        <p:txBody>
          <a:bodyPr anchor="t" rtlCol="false" tIns="0" lIns="0" bIns="0" rIns="0">
            <a:spAutoFit/>
          </a:bodyPr>
          <a:lstStyle/>
          <a:p>
            <a:pPr algn="l">
              <a:lnSpc>
                <a:spcPts val="2640"/>
              </a:lnSpc>
            </a:pPr>
            <a:r>
              <a:rPr lang="en-US" sz="2000">
                <a:solidFill>
                  <a:srgbClr val="000000"/>
                </a:solidFill>
                <a:latin typeface="Glacial Indifference"/>
                <a:ea typeface="Glacial Indifference"/>
                <a:cs typeface="Glacial Indifference"/>
                <a:sym typeface="Glacial Indifference"/>
              </a:rPr>
              <a:t>The rising temperature is closely linked to the decline in soil moisture from 0.218 in 2006 to a projection of 0.18 in 2080</a:t>
            </a:r>
          </a:p>
          <a:p>
            <a:pPr algn="l">
              <a:lnSpc>
                <a:spcPts val="2640"/>
              </a:lnSpc>
            </a:pPr>
            <a:r>
              <a:rPr lang="en-US" sz="2000">
                <a:solidFill>
                  <a:srgbClr val="000000"/>
                </a:solidFill>
                <a:latin typeface="Glacial Indifference"/>
                <a:ea typeface="Glacial Indifference"/>
                <a:cs typeface="Glacial Indifference"/>
                <a:sym typeface="Glacial Indifference"/>
              </a:rPr>
              <a:t>Seasonal pattern persists until 2080: higher moisture in summer, but the overall trend is decreasing</a:t>
            </a:r>
          </a:p>
          <a:p>
            <a:pPr algn="l">
              <a:lnSpc>
                <a:spcPts val="2640"/>
              </a:lnSpc>
            </a:pPr>
          </a:p>
        </p:txBody>
      </p:sp>
      <p:grpSp>
        <p:nvGrpSpPr>
          <p:cNvPr name="Group 26" id="26"/>
          <p:cNvGrpSpPr/>
          <p:nvPr/>
        </p:nvGrpSpPr>
        <p:grpSpPr>
          <a:xfrm rot="0">
            <a:off x="175763" y="4396820"/>
            <a:ext cx="367364" cy="326216"/>
            <a:chOff x="0" y="0"/>
            <a:chExt cx="489819" cy="434955"/>
          </a:xfrm>
        </p:grpSpPr>
        <p:grpSp>
          <p:nvGrpSpPr>
            <p:cNvPr name="Group 27" id="27"/>
            <p:cNvGrpSpPr/>
            <p:nvPr/>
          </p:nvGrpSpPr>
          <p:grpSpPr>
            <a:xfrm rot="0">
              <a:off x="0" y="0"/>
              <a:ext cx="489819" cy="434955"/>
              <a:chOff x="0" y="0"/>
              <a:chExt cx="812800" cy="721760"/>
            </a:xfrm>
          </p:grpSpPr>
          <p:sp>
            <p:nvSpPr>
              <p:cNvPr name="Freeform 28" id="28"/>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solidFill>
                <a:srgbClr val="E25B36"/>
              </a:solidFill>
            </p:spPr>
          </p:sp>
          <p:sp>
            <p:nvSpPr>
              <p:cNvPr name="TextBox 29" id="29"/>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30" id="30"/>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2</a:t>
              </a:r>
            </a:p>
          </p:txBody>
        </p:sp>
      </p:grpSp>
      <p:sp>
        <p:nvSpPr>
          <p:cNvPr name="Freeform 31" id="31"/>
          <p:cNvSpPr/>
          <p:nvPr/>
        </p:nvSpPr>
        <p:spPr>
          <a:xfrm flipH="false" flipV="false" rot="0">
            <a:off x="453589" y="6421557"/>
            <a:ext cx="222842" cy="206392"/>
          </a:xfrm>
          <a:custGeom>
            <a:avLst/>
            <a:gdLst/>
            <a:ahLst/>
            <a:cxnLst/>
            <a:rect r="r" b="b" t="t" l="l"/>
            <a:pathLst>
              <a:path h="206392" w="222842">
                <a:moveTo>
                  <a:pt x="0" y="0"/>
                </a:moveTo>
                <a:lnTo>
                  <a:pt x="222841" y="0"/>
                </a:lnTo>
                <a:lnTo>
                  <a:pt x="222841" y="206392"/>
                </a:lnTo>
                <a:lnTo>
                  <a:pt x="0" y="206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2" id="32"/>
          <p:cNvGrpSpPr/>
          <p:nvPr/>
        </p:nvGrpSpPr>
        <p:grpSpPr>
          <a:xfrm rot="0">
            <a:off x="5926703" y="2684445"/>
            <a:ext cx="11173996" cy="4663797"/>
            <a:chOff x="0" y="0"/>
            <a:chExt cx="2942945" cy="1228325"/>
          </a:xfrm>
        </p:grpSpPr>
        <p:sp>
          <p:nvSpPr>
            <p:cNvPr name="Freeform 33" id="33"/>
            <p:cNvSpPr/>
            <p:nvPr/>
          </p:nvSpPr>
          <p:spPr>
            <a:xfrm flipH="false" flipV="false" rot="0">
              <a:off x="0" y="0"/>
              <a:ext cx="2942945" cy="1228325"/>
            </a:xfrm>
            <a:custGeom>
              <a:avLst/>
              <a:gdLst/>
              <a:ahLst/>
              <a:cxnLst/>
              <a:rect r="r" b="b" t="t" l="l"/>
              <a:pathLst>
                <a:path h="1228325" w="2942945">
                  <a:moveTo>
                    <a:pt x="0" y="0"/>
                  </a:moveTo>
                  <a:lnTo>
                    <a:pt x="2942945" y="0"/>
                  </a:lnTo>
                  <a:lnTo>
                    <a:pt x="2942945" y="1228325"/>
                  </a:lnTo>
                  <a:lnTo>
                    <a:pt x="0" y="1228325"/>
                  </a:lnTo>
                  <a:close/>
                </a:path>
              </a:pathLst>
            </a:custGeom>
            <a:solidFill>
              <a:srgbClr val="000000">
                <a:alpha val="0"/>
              </a:srgbClr>
            </a:solidFill>
            <a:ln w="9525" cap="sq">
              <a:solidFill>
                <a:srgbClr val="BABABA"/>
              </a:solidFill>
              <a:prstDash val="solid"/>
              <a:miter/>
            </a:ln>
          </p:spPr>
        </p:sp>
        <p:sp>
          <p:nvSpPr>
            <p:cNvPr name="TextBox 34" id="34"/>
            <p:cNvSpPr txBox="true"/>
            <p:nvPr/>
          </p:nvSpPr>
          <p:spPr>
            <a:xfrm>
              <a:off x="0" y="19050"/>
              <a:ext cx="2942945" cy="1209275"/>
            </a:xfrm>
            <a:prstGeom prst="rect">
              <a:avLst/>
            </a:prstGeom>
          </p:spPr>
          <p:txBody>
            <a:bodyPr anchor="ctr" rtlCol="false" tIns="50800" lIns="50800" bIns="50800" rIns="50800"/>
            <a:lstStyle/>
            <a:p>
              <a:pPr algn="ctr">
                <a:lnSpc>
                  <a:spcPts val="1895"/>
                </a:lnSpc>
              </a:pPr>
            </a:p>
          </p:txBody>
        </p:sp>
      </p:grpSp>
      <p:grpSp>
        <p:nvGrpSpPr>
          <p:cNvPr name="Group 35" id="35"/>
          <p:cNvGrpSpPr/>
          <p:nvPr/>
        </p:nvGrpSpPr>
        <p:grpSpPr>
          <a:xfrm rot="0">
            <a:off x="6210122" y="2440732"/>
            <a:ext cx="4255233" cy="470302"/>
            <a:chOff x="0" y="0"/>
            <a:chExt cx="1120720" cy="123866"/>
          </a:xfrm>
        </p:grpSpPr>
        <p:sp>
          <p:nvSpPr>
            <p:cNvPr name="Freeform 36" id="36"/>
            <p:cNvSpPr/>
            <p:nvPr/>
          </p:nvSpPr>
          <p:spPr>
            <a:xfrm flipH="false" flipV="false" rot="0">
              <a:off x="0" y="0"/>
              <a:ext cx="1120720" cy="123866"/>
            </a:xfrm>
            <a:custGeom>
              <a:avLst/>
              <a:gdLst/>
              <a:ahLst/>
              <a:cxnLst/>
              <a:rect r="r" b="b" t="t" l="l"/>
              <a:pathLst>
                <a:path h="123866" w="1120720">
                  <a:moveTo>
                    <a:pt x="14555" y="0"/>
                  </a:moveTo>
                  <a:lnTo>
                    <a:pt x="1106165" y="0"/>
                  </a:lnTo>
                  <a:cubicBezTo>
                    <a:pt x="1110025" y="0"/>
                    <a:pt x="1113727" y="1533"/>
                    <a:pt x="1116457" y="4263"/>
                  </a:cubicBezTo>
                  <a:cubicBezTo>
                    <a:pt x="1119186" y="6993"/>
                    <a:pt x="1120720" y="10695"/>
                    <a:pt x="1120720" y="14555"/>
                  </a:cubicBezTo>
                  <a:lnTo>
                    <a:pt x="1120720" y="109310"/>
                  </a:lnTo>
                  <a:cubicBezTo>
                    <a:pt x="1120720" y="113171"/>
                    <a:pt x="1119186" y="116873"/>
                    <a:pt x="1116457" y="119602"/>
                  </a:cubicBezTo>
                  <a:cubicBezTo>
                    <a:pt x="1113727" y="122332"/>
                    <a:pt x="1110025" y="123866"/>
                    <a:pt x="1106165" y="123866"/>
                  </a:cubicBezTo>
                  <a:lnTo>
                    <a:pt x="14555" y="123866"/>
                  </a:lnTo>
                  <a:cubicBezTo>
                    <a:pt x="10695" y="123866"/>
                    <a:pt x="6993" y="122332"/>
                    <a:pt x="4263" y="119602"/>
                  </a:cubicBezTo>
                  <a:cubicBezTo>
                    <a:pt x="1533" y="116873"/>
                    <a:pt x="0" y="113171"/>
                    <a:pt x="0" y="109310"/>
                  </a:cubicBezTo>
                  <a:lnTo>
                    <a:pt x="0" y="14555"/>
                  </a:lnTo>
                  <a:cubicBezTo>
                    <a:pt x="0" y="10695"/>
                    <a:pt x="1533" y="6993"/>
                    <a:pt x="4263" y="4263"/>
                  </a:cubicBezTo>
                  <a:cubicBezTo>
                    <a:pt x="6993" y="1533"/>
                    <a:pt x="10695" y="0"/>
                    <a:pt x="14555" y="0"/>
                  </a:cubicBezTo>
                  <a:close/>
                </a:path>
              </a:pathLst>
            </a:custGeom>
            <a:solidFill>
              <a:srgbClr val="184047"/>
            </a:solidFill>
          </p:spPr>
        </p:sp>
        <p:sp>
          <p:nvSpPr>
            <p:cNvPr name="TextBox 37" id="37"/>
            <p:cNvSpPr txBox="true"/>
            <p:nvPr/>
          </p:nvSpPr>
          <p:spPr>
            <a:xfrm>
              <a:off x="0" y="9525"/>
              <a:ext cx="1120720" cy="114341"/>
            </a:xfrm>
            <a:prstGeom prst="rect">
              <a:avLst/>
            </a:prstGeom>
          </p:spPr>
          <p:txBody>
            <a:bodyPr anchor="ctr" rtlCol="false" tIns="50800" lIns="50800" bIns="50800" rIns="50800"/>
            <a:lstStyle/>
            <a:p>
              <a:pPr algn="ctr">
                <a:lnSpc>
                  <a:spcPts val="2015"/>
                </a:lnSpc>
              </a:pPr>
              <a:r>
                <a:rPr lang="en-US" b="true" sz="1799" spc="35">
                  <a:solidFill>
                    <a:srgbClr val="FFFFFF"/>
                  </a:solidFill>
                  <a:latin typeface="Glacial Indifference Bold"/>
                  <a:ea typeface="Glacial Indifference Bold"/>
                  <a:cs typeface="Glacial Indifference Bold"/>
                  <a:sym typeface="Glacial Indifference Bold"/>
                </a:rPr>
                <a:t>Agricultural Impact</a:t>
              </a:r>
            </a:p>
          </p:txBody>
        </p:sp>
      </p:grpSp>
      <p:sp>
        <p:nvSpPr>
          <p:cNvPr name="Freeform 38" id="38"/>
          <p:cNvSpPr/>
          <p:nvPr/>
        </p:nvSpPr>
        <p:spPr>
          <a:xfrm flipH="false" flipV="false" rot="0">
            <a:off x="6037259" y="3188119"/>
            <a:ext cx="222842" cy="206392"/>
          </a:xfrm>
          <a:custGeom>
            <a:avLst/>
            <a:gdLst/>
            <a:ahLst/>
            <a:cxnLst/>
            <a:rect r="r" b="b" t="t" l="l"/>
            <a:pathLst>
              <a:path h="206392" w="222842">
                <a:moveTo>
                  <a:pt x="0" y="0"/>
                </a:moveTo>
                <a:lnTo>
                  <a:pt x="222842" y="0"/>
                </a:lnTo>
                <a:lnTo>
                  <a:pt x="222842" y="206393"/>
                </a:lnTo>
                <a:lnTo>
                  <a:pt x="0" y="2063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9" id="39"/>
          <p:cNvSpPr txBox="true"/>
          <p:nvPr/>
        </p:nvSpPr>
        <p:spPr>
          <a:xfrm rot="0">
            <a:off x="6298803" y="3100380"/>
            <a:ext cx="10563313" cy="4674870"/>
          </a:xfrm>
          <a:prstGeom prst="rect">
            <a:avLst/>
          </a:prstGeom>
        </p:spPr>
        <p:txBody>
          <a:bodyPr anchor="t" rtlCol="false" tIns="0" lIns="0" bIns="0" rIns="0">
            <a:spAutoFit/>
          </a:bodyPr>
          <a:lstStyle/>
          <a:p>
            <a:pPr algn="l">
              <a:lnSpc>
                <a:spcPts val="2640"/>
              </a:lnSpc>
            </a:pPr>
            <a:r>
              <a:rPr lang="en-US" sz="2000" spc="40">
                <a:solidFill>
                  <a:srgbClr val="000000"/>
                </a:solidFill>
                <a:latin typeface="Glacial Indifference"/>
                <a:ea typeface="Glacial Indifference"/>
                <a:cs typeface="Glacial Indifference"/>
                <a:sym typeface="Glacial Indifference"/>
              </a:rPr>
              <a:t>Soil</a:t>
            </a:r>
            <a:r>
              <a:rPr lang="en-US" sz="2000" spc="40">
                <a:solidFill>
                  <a:srgbClr val="000000"/>
                </a:solidFill>
                <a:latin typeface="Glacial Indifference"/>
                <a:ea typeface="Glacial Indifference"/>
                <a:cs typeface="Glacial Indifference"/>
                <a:sym typeface="Glacial Indifference"/>
              </a:rPr>
              <a:t> Moisture Benchmarks (FAO):</a:t>
            </a:r>
          </a:p>
          <a:p>
            <a:pPr algn="l" marL="431801" indent="-215900" lvl="1">
              <a:lnSpc>
                <a:spcPts val="2640"/>
              </a:lnSpc>
              <a:buFont typeface="Arial"/>
              <a:buChar char="•"/>
            </a:pPr>
            <a:r>
              <a:rPr lang="en-US" sz="2000">
                <a:solidFill>
                  <a:srgbClr val="000000"/>
                </a:solidFill>
                <a:latin typeface="Glacial Indifference"/>
                <a:ea typeface="Glacial Indifference"/>
                <a:cs typeface="Glacial Indifference"/>
                <a:sym typeface="Glacial Indifference"/>
              </a:rPr>
              <a:t>🌱 0.3–0.4 m³/m³ → Field capacity (ideal for crops, balanced water cycle)</a:t>
            </a:r>
          </a:p>
          <a:p>
            <a:pPr algn="l" marL="431801" indent="-215900" lvl="1">
              <a:lnSpc>
                <a:spcPts val="2640"/>
              </a:lnSpc>
              <a:buFont typeface="Arial"/>
              <a:buChar char="•"/>
            </a:pPr>
            <a:r>
              <a:rPr lang="en-US" sz="2000">
                <a:solidFill>
                  <a:srgbClr val="000000"/>
                </a:solidFill>
                <a:latin typeface="Glacial Indifference"/>
                <a:ea typeface="Glacial Indifference"/>
                <a:cs typeface="Glacial Indifference"/>
                <a:sym typeface="Glacial Indifference"/>
              </a:rPr>
              <a:t>🌤 0.2 m³/m³ → Below field capacity (risk of water stress)</a:t>
            </a:r>
          </a:p>
          <a:p>
            <a:pPr algn="l" marL="431801" indent="-215900" lvl="1">
              <a:lnSpc>
                <a:spcPts val="2640"/>
              </a:lnSpc>
              <a:buFont typeface="Arial"/>
              <a:buChar char="•"/>
            </a:pPr>
            <a:r>
              <a:rPr lang="en-US" sz="2000">
                <a:solidFill>
                  <a:srgbClr val="000000"/>
                </a:solidFill>
                <a:latin typeface="Glacial Indifference"/>
                <a:ea typeface="Glacial Indifference"/>
                <a:cs typeface="Glacial Indifference"/>
                <a:sym typeface="Glacial Indifference"/>
              </a:rPr>
              <a:t>🔻 0.1 m³/m³ → Approaching wilting point (plants can’t extract water)</a:t>
            </a:r>
          </a:p>
          <a:p>
            <a:pPr algn="l" marL="431801" indent="-215900" lvl="1">
              <a:lnSpc>
                <a:spcPts val="2640"/>
              </a:lnSpc>
              <a:buFont typeface="Arial"/>
              <a:buChar char="•"/>
            </a:pPr>
            <a:r>
              <a:rPr lang="en-US" sz="2000">
                <a:solidFill>
                  <a:srgbClr val="000000"/>
                </a:solidFill>
                <a:latin typeface="Glacial Indifference"/>
                <a:ea typeface="Glacial Indifference"/>
                <a:cs typeface="Glacial Indifference"/>
                <a:sym typeface="Glacial Indifference"/>
              </a:rPr>
              <a:t>🛑 0.1 m³/m³ → Severe drought stress, crop failure, and land degradation</a:t>
            </a:r>
          </a:p>
          <a:p>
            <a:pPr algn="l">
              <a:lnSpc>
                <a:spcPts val="2640"/>
              </a:lnSpc>
            </a:pPr>
          </a:p>
          <a:p>
            <a:pPr algn="l">
              <a:lnSpc>
                <a:spcPts val="2640"/>
              </a:lnSpc>
            </a:pPr>
            <a:r>
              <a:rPr lang="en-US" sz="2000" spc="40">
                <a:solidFill>
                  <a:srgbClr val="000000"/>
                </a:solidFill>
                <a:latin typeface="Glacial Indifference"/>
                <a:ea typeface="Glacial Indifference"/>
                <a:cs typeface="Glacial Indifference"/>
                <a:sym typeface="Glacial Indifference"/>
              </a:rPr>
              <a:t>Agricultural &amp; Environmental Impact</a:t>
            </a:r>
          </a:p>
          <a:p>
            <a:pPr algn="l" marL="431801" indent="-215900" lvl="1">
              <a:lnSpc>
                <a:spcPts val="2640"/>
              </a:lnSpc>
              <a:buFont typeface="Arial"/>
              <a:buChar char="•"/>
            </a:pPr>
            <a:r>
              <a:rPr lang="en-US" sz="2000">
                <a:solidFill>
                  <a:srgbClr val="000000"/>
                </a:solidFill>
                <a:latin typeface="Glacial Indifference"/>
                <a:ea typeface="Glacial Indifference"/>
                <a:cs typeface="Glacial Indifference"/>
                <a:sym typeface="Glacial Indifference"/>
              </a:rPr>
              <a:t>⚠️ Crop yields may decline, increasing irrigation demands.</a:t>
            </a:r>
          </a:p>
          <a:p>
            <a:pPr algn="l" marL="431801" indent="-215900" lvl="1">
              <a:lnSpc>
                <a:spcPts val="2640"/>
              </a:lnSpc>
              <a:buFont typeface="Arial"/>
              <a:buChar char="•"/>
            </a:pPr>
            <a:r>
              <a:rPr lang="en-US" sz="2000">
                <a:solidFill>
                  <a:srgbClr val="000000"/>
                </a:solidFill>
                <a:latin typeface="Glacial Indifference"/>
                <a:ea typeface="Glacial Indifference"/>
                <a:cs typeface="Glacial Indifference"/>
                <a:sym typeface="Glacial Indifference"/>
              </a:rPr>
              <a:t>💧 Reduced groundwater recharge and potential hydrological imbalance.</a:t>
            </a:r>
          </a:p>
          <a:p>
            <a:pPr algn="l" marL="431801" indent="-215900" lvl="1">
              <a:lnSpc>
                <a:spcPts val="2640"/>
              </a:lnSpc>
              <a:buFont typeface="Arial"/>
              <a:buChar char="•"/>
            </a:pPr>
            <a:r>
              <a:rPr lang="en-US" sz="2000">
                <a:solidFill>
                  <a:srgbClr val="000000"/>
                </a:solidFill>
                <a:latin typeface="Glacial Indifference"/>
                <a:ea typeface="Glacial Indifference"/>
                <a:cs typeface="Glacial Indifference"/>
                <a:sym typeface="Glacial Indifference"/>
              </a:rPr>
              <a:t>🌿 Ecosystem vulnerability through vegetation loss, erosion, and soil degradation.</a:t>
            </a:r>
          </a:p>
          <a:p>
            <a:pPr algn="l" marL="431801" indent="-215900" lvl="1">
              <a:lnSpc>
                <a:spcPts val="2640"/>
              </a:lnSpc>
              <a:buFont typeface="Arial"/>
              <a:buChar char="•"/>
            </a:pPr>
            <a:r>
              <a:rPr lang="en-US" sz="2000">
                <a:solidFill>
                  <a:srgbClr val="000000"/>
                </a:solidFill>
                <a:latin typeface="Glacial Indifference"/>
                <a:ea typeface="Glacial Indifference"/>
                <a:cs typeface="Glacial Indifference"/>
                <a:sym typeface="Glacial Indifference"/>
              </a:rPr>
              <a:t>🔁 Feedback loop: Dryer soils intensify heatwaves, escalating climate impacts (Saxton et al., 2006).</a:t>
            </a:r>
          </a:p>
          <a:p>
            <a:pPr algn="l">
              <a:lnSpc>
                <a:spcPts val="2640"/>
              </a:lnSpc>
            </a:pPr>
          </a:p>
          <a:p>
            <a:pPr algn="ctr">
              <a:lnSpc>
                <a:spcPts val="2640"/>
              </a:lnSpc>
            </a:pPr>
          </a:p>
        </p:txBody>
      </p:sp>
      <p:grpSp>
        <p:nvGrpSpPr>
          <p:cNvPr name="Group 40" id="40"/>
          <p:cNvGrpSpPr/>
          <p:nvPr/>
        </p:nvGrpSpPr>
        <p:grpSpPr>
          <a:xfrm rot="0">
            <a:off x="5759433" y="2512775"/>
            <a:ext cx="367364" cy="326216"/>
            <a:chOff x="0" y="0"/>
            <a:chExt cx="489819" cy="434955"/>
          </a:xfrm>
        </p:grpSpPr>
        <p:grpSp>
          <p:nvGrpSpPr>
            <p:cNvPr name="Group 41" id="41"/>
            <p:cNvGrpSpPr/>
            <p:nvPr/>
          </p:nvGrpSpPr>
          <p:grpSpPr>
            <a:xfrm rot="0">
              <a:off x="0" y="0"/>
              <a:ext cx="489819" cy="434955"/>
              <a:chOff x="0" y="0"/>
              <a:chExt cx="812800" cy="721760"/>
            </a:xfrm>
          </p:grpSpPr>
          <p:sp>
            <p:nvSpPr>
              <p:cNvPr name="Freeform 42" id="42"/>
              <p:cNvSpPr/>
              <p:nvPr/>
            </p:nvSpPr>
            <p:spPr>
              <a:xfrm flipH="false" flipV="false" rot="0">
                <a:off x="0" y="0"/>
                <a:ext cx="812800" cy="721759"/>
              </a:xfrm>
              <a:custGeom>
                <a:avLst/>
                <a:gdLst/>
                <a:ahLst/>
                <a:cxnLst/>
                <a:rect r="r" b="b" t="t" l="l"/>
                <a:pathLst>
                  <a:path h="721759" w="812800">
                    <a:moveTo>
                      <a:pt x="406400" y="0"/>
                    </a:moveTo>
                    <a:cubicBezTo>
                      <a:pt x="181951" y="0"/>
                      <a:pt x="0" y="161571"/>
                      <a:pt x="0" y="360880"/>
                    </a:cubicBezTo>
                    <a:cubicBezTo>
                      <a:pt x="0" y="560188"/>
                      <a:pt x="181951" y="721759"/>
                      <a:pt x="406400" y="721759"/>
                    </a:cubicBezTo>
                    <a:cubicBezTo>
                      <a:pt x="630849" y="721759"/>
                      <a:pt x="812800" y="560188"/>
                      <a:pt x="812800" y="360880"/>
                    </a:cubicBezTo>
                    <a:cubicBezTo>
                      <a:pt x="812800" y="161571"/>
                      <a:pt x="630849" y="0"/>
                      <a:pt x="406400" y="0"/>
                    </a:cubicBezTo>
                    <a:close/>
                  </a:path>
                </a:pathLst>
              </a:custGeom>
              <a:solidFill>
                <a:srgbClr val="E25B36"/>
              </a:solidFill>
            </p:spPr>
          </p:sp>
          <p:sp>
            <p:nvSpPr>
              <p:cNvPr name="TextBox 43" id="43"/>
              <p:cNvSpPr txBox="true"/>
              <p:nvPr/>
            </p:nvSpPr>
            <p:spPr>
              <a:xfrm>
                <a:off x="76200" y="86715"/>
                <a:ext cx="660400" cy="567380"/>
              </a:xfrm>
              <a:prstGeom prst="rect">
                <a:avLst/>
              </a:prstGeom>
            </p:spPr>
            <p:txBody>
              <a:bodyPr anchor="ctr" rtlCol="false" tIns="50800" lIns="50800" bIns="50800" rIns="50800"/>
              <a:lstStyle/>
              <a:p>
                <a:pPr algn="ctr">
                  <a:lnSpc>
                    <a:spcPts val="1895"/>
                  </a:lnSpc>
                </a:pPr>
              </a:p>
            </p:txBody>
          </p:sp>
        </p:grpSp>
        <p:sp>
          <p:nvSpPr>
            <p:cNvPr name="TextBox 44" id="44"/>
            <p:cNvSpPr txBox="true"/>
            <p:nvPr/>
          </p:nvSpPr>
          <p:spPr>
            <a:xfrm rot="0">
              <a:off x="152735" y="97547"/>
              <a:ext cx="92174" cy="263440"/>
            </a:xfrm>
            <a:prstGeom prst="rect">
              <a:avLst/>
            </a:prstGeom>
          </p:spPr>
          <p:txBody>
            <a:bodyPr anchor="t" rtlCol="false" tIns="0" lIns="0" bIns="0" rIns="0">
              <a:spAutoFit/>
            </a:bodyPr>
            <a:lstStyle/>
            <a:p>
              <a:pPr algn="ctr">
                <a:lnSpc>
                  <a:spcPts val="1568"/>
                </a:lnSpc>
                <a:spcBef>
                  <a:spcPct val="0"/>
                </a:spcBef>
              </a:pPr>
              <a:r>
                <a:rPr lang="en-US" b="true" sz="1400" spc="28">
                  <a:solidFill>
                    <a:srgbClr val="FFFFFF"/>
                  </a:solidFill>
                  <a:latin typeface="HK Grotesk Bold"/>
                  <a:ea typeface="HK Grotesk Bold"/>
                  <a:cs typeface="HK Grotesk Bold"/>
                  <a:sym typeface="HK Grotesk Bold"/>
                </a:rPr>
                <a:t>3</a:t>
              </a:r>
            </a:p>
          </p:txBody>
        </p:sp>
      </p:grpSp>
      <p:grpSp>
        <p:nvGrpSpPr>
          <p:cNvPr name="Group 45" id="45"/>
          <p:cNvGrpSpPr/>
          <p:nvPr/>
        </p:nvGrpSpPr>
        <p:grpSpPr>
          <a:xfrm rot="0">
            <a:off x="6260101" y="3743752"/>
            <a:ext cx="8807734" cy="734058"/>
            <a:chOff x="0" y="0"/>
            <a:chExt cx="2319732" cy="193332"/>
          </a:xfrm>
        </p:grpSpPr>
        <p:sp>
          <p:nvSpPr>
            <p:cNvPr name="Freeform 46" id="46"/>
            <p:cNvSpPr/>
            <p:nvPr/>
          </p:nvSpPr>
          <p:spPr>
            <a:xfrm flipH="false" flipV="false" rot="0">
              <a:off x="0" y="0"/>
              <a:ext cx="2319732" cy="193332"/>
            </a:xfrm>
            <a:custGeom>
              <a:avLst/>
              <a:gdLst/>
              <a:ahLst/>
              <a:cxnLst/>
              <a:rect r="r" b="b" t="t" l="l"/>
              <a:pathLst>
                <a:path h="193332" w="2319732">
                  <a:moveTo>
                    <a:pt x="0" y="0"/>
                  </a:moveTo>
                  <a:lnTo>
                    <a:pt x="2319732" y="0"/>
                  </a:lnTo>
                  <a:lnTo>
                    <a:pt x="2319732" y="193332"/>
                  </a:lnTo>
                  <a:lnTo>
                    <a:pt x="0" y="193332"/>
                  </a:lnTo>
                  <a:close/>
                </a:path>
              </a:pathLst>
            </a:custGeom>
            <a:solidFill>
              <a:srgbClr val="000000">
                <a:alpha val="0"/>
              </a:srgbClr>
            </a:solidFill>
            <a:ln w="19050" cap="sq">
              <a:solidFill>
                <a:srgbClr val="E12424"/>
              </a:solidFill>
              <a:prstDash val="lgDash"/>
              <a:miter/>
            </a:ln>
          </p:spPr>
        </p:sp>
        <p:sp>
          <p:nvSpPr>
            <p:cNvPr name="TextBox 47" id="47"/>
            <p:cNvSpPr txBox="true"/>
            <p:nvPr/>
          </p:nvSpPr>
          <p:spPr>
            <a:xfrm>
              <a:off x="0" y="19050"/>
              <a:ext cx="2319732" cy="174282"/>
            </a:xfrm>
            <a:prstGeom prst="rect">
              <a:avLst/>
            </a:prstGeom>
          </p:spPr>
          <p:txBody>
            <a:bodyPr anchor="ctr" rtlCol="false" tIns="50800" lIns="50800" bIns="50800" rIns="50800"/>
            <a:lstStyle/>
            <a:p>
              <a:pPr algn="ctr">
                <a:lnSpc>
                  <a:spcPts val="1895"/>
                </a:lnSpc>
              </a:pPr>
            </a:p>
          </p:txBody>
        </p:sp>
      </p:grpSp>
      <p:sp>
        <p:nvSpPr>
          <p:cNvPr name="Freeform 48" id="48"/>
          <p:cNvSpPr/>
          <p:nvPr/>
        </p:nvSpPr>
        <p:spPr>
          <a:xfrm flipH="false" flipV="false" rot="0">
            <a:off x="6037259" y="5175360"/>
            <a:ext cx="222842" cy="206392"/>
          </a:xfrm>
          <a:custGeom>
            <a:avLst/>
            <a:gdLst/>
            <a:ahLst/>
            <a:cxnLst/>
            <a:rect r="r" b="b" t="t" l="l"/>
            <a:pathLst>
              <a:path h="206392" w="222842">
                <a:moveTo>
                  <a:pt x="0" y="0"/>
                </a:moveTo>
                <a:lnTo>
                  <a:pt x="222842" y="0"/>
                </a:lnTo>
                <a:lnTo>
                  <a:pt x="222842" y="206393"/>
                </a:lnTo>
                <a:lnTo>
                  <a:pt x="0" y="2063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86806" y="2307906"/>
            <a:ext cx="573153" cy="57315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4" id="4"/>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1</a:t>
              </a:r>
            </a:p>
          </p:txBody>
        </p:sp>
      </p:grpSp>
      <p:sp>
        <p:nvSpPr>
          <p:cNvPr name="TextBox 5" id="5"/>
          <p:cNvSpPr txBox="true"/>
          <p:nvPr/>
        </p:nvSpPr>
        <p:spPr>
          <a:xfrm rot="0">
            <a:off x="1786806" y="581025"/>
            <a:ext cx="16262613" cy="1149348"/>
          </a:xfrm>
          <a:prstGeom prst="rect">
            <a:avLst/>
          </a:prstGeom>
        </p:spPr>
        <p:txBody>
          <a:bodyPr anchor="t" rtlCol="false" tIns="0" lIns="0" bIns="0" rIns="0">
            <a:spAutoFit/>
          </a:bodyPr>
          <a:lstStyle/>
          <a:p>
            <a:pPr algn="l" marL="0" indent="0" lvl="0">
              <a:lnSpc>
                <a:spcPts val="8799"/>
              </a:lnSpc>
            </a:pPr>
            <a:r>
              <a:rPr lang="en-US" b="true" sz="7999">
                <a:solidFill>
                  <a:srgbClr val="004247"/>
                </a:solidFill>
                <a:latin typeface="Glacial Indifference Bold"/>
                <a:ea typeface="Glacial Indifference Bold"/>
                <a:cs typeface="Glacial Indifference Bold"/>
                <a:sym typeface="Glacial Indifference Bold"/>
              </a:rPr>
              <a:t>Agenda</a:t>
            </a:r>
          </a:p>
        </p:txBody>
      </p:sp>
      <p:sp>
        <p:nvSpPr>
          <p:cNvPr name="TextBox 6" id="6"/>
          <p:cNvSpPr txBox="true"/>
          <p:nvPr/>
        </p:nvSpPr>
        <p:spPr>
          <a:xfrm rot="0">
            <a:off x="2854410" y="2410014"/>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Background</a:t>
            </a:r>
          </a:p>
        </p:txBody>
      </p:sp>
      <p:sp>
        <p:nvSpPr>
          <p:cNvPr name="TextBox 7" id="7"/>
          <p:cNvSpPr txBox="true"/>
          <p:nvPr/>
        </p:nvSpPr>
        <p:spPr>
          <a:xfrm rot="0">
            <a:off x="2854410" y="3089656"/>
            <a:ext cx="11195719"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Project Scope</a:t>
            </a:r>
          </a:p>
        </p:txBody>
      </p:sp>
      <p:sp>
        <p:nvSpPr>
          <p:cNvPr name="TextBox 8" id="8"/>
          <p:cNvSpPr txBox="true"/>
          <p:nvPr/>
        </p:nvSpPr>
        <p:spPr>
          <a:xfrm rot="0">
            <a:off x="2854410" y="3772916"/>
            <a:ext cx="7063703"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Methodology</a:t>
            </a:r>
          </a:p>
        </p:txBody>
      </p:sp>
      <p:sp>
        <p:nvSpPr>
          <p:cNvPr name="TextBox 9" id="9"/>
          <p:cNvSpPr txBox="true"/>
          <p:nvPr/>
        </p:nvSpPr>
        <p:spPr>
          <a:xfrm rot="0">
            <a:off x="2854410" y="4445511"/>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The Datasets</a:t>
            </a:r>
          </a:p>
        </p:txBody>
      </p:sp>
      <p:sp>
        <p:nvSpPr>
          <p:cNvPr name="TextBox 10" id="10"/>
          <p:cNvSpPr txBox="true"/>
          <p:nvPr/>
        </p:nvSpPr>
        <p:spPr>
          <a:xfrm rot="0">
            <a:off x="2854410" y="518077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Data Preprocessing</a:t>
            </a:r>
          </a:p>
        </p:txBody>
      </p:sp>
      <p:sp>
        <p:nvSpPr>
          <p:cNvPr name="TextBox 11" id="11"/>
          <p:cNvSpPr txBox="true"/>
          <p:nvPr/>
        </p:nvSpPr>
        <p:spPr>
          <a:xfrm rot="0">
            <a:off x="2854410" y="5911662"/>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Exploratory Data Analysis</a:t>
            </a:r>
          </a:p>
        </p:txBody>
      </p:sp>
      <p:sp>
        <p:nvSpPr>
          <p:cNvPr name="TextBox 12" id="12"/>
          <p:cNvSpPr txBox="true"/>
          <p:nvPr/>
        </p:nvSpPr>
        <p:spPr>
          <a:xfrm rot="0">
            <a:off x="2854410" y="6589590"/>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Model Development</a:t>
            </a:r>
          </a:p>
        </p:txBody>
      </p:sp>
      <p:sp>
        <p:nvSpPr>
          <p:cNvPr name="TextBox 13" id="13"/>
          <p:cNvSpPr txBox="true"/>
          <p:nvPr/>
        </p:nvSpPr>
        <p:spPr>
          <a:xfrm rot="0">
            <a:off x="2854410" y="7324667"/>
            <a:ext cx="14621406" cy="397510"/>
          </a:xfrm>
          <a:prstGeom prst="rect">
            <a:avLst/>
          </a:prstGeom>
        </p:spPr>
        <p:txBody>
          <a:bodyPr anchor="t" rtlCol="false" tIns="0" lIns="0" bIns="0" rIns="0">
            <a:spAutoFit/>
          </a:bodyPr>
          <a:lstStyle/>
          <a:p>
            <a:pPr algn="l" marL="0" indent="0" lvl="0">
              <a:lnSpc>
                <a:spcPts val="3080"/>
              </a:lnSpc>
            </a:pPr>
            <a:r>
              <a:rPr lang="en-US" sz="2800">
                <a:solidFill>
                  <a:srgbClr val="BABABA"/>
                </a:solidFill>
                <a:latin typeface="Glacial Indifference"/>
                <a:ea typeface="Glacial Indifference"/>
                <a:cs typeface="Glacial Indifference"/>
                <a:sym typeface="Glacial Indifference"/>
              </a:rPr>
              <a:t>Key Findings </a:t>
            </a:r>
          </a:p>
        </p:txBody>
      </p:sp>
      <p:sp>
        <p:nvSpPr>
          <p:cNvPr name="TextBox 14" id="14"/>
          <p:cNvSpPr txBox="true"/>
          <p:nvPr/>
        </p:nvSpPr>
        <p:spPr>
          <a:xfrm rot="0">
            <a:off x="2854410" y="8023604"/>
            <a:ext cx="14621406" cy="397510"/>
          </a:xfrm>
          <a:prstGeom prst="rect">
            <a:avLst/>
          </a:prstGeom>
        </p:spPr>
        <p:txBody>
          <a:bodyPr anchor="t" rtlCol="false" tIns="0" lIns="0" bIns="0" rIns="0">
            <a:spAutoFit/>
          </a:bodyPr>
          <a:lstStyle/>
          <a:p>
            <a:pPr algn="l" marL="0" indent="0" lvl="0">
              <a:lnSpc>
                <a:spcPts val="3080"/>
              </a:lnSpc>
            </a:pPr>
            <a:r>
              <a:rPr lang="en-US" b="true" sz="2800">
                <a:solidFill>
                  <a:srgbClr val="000000"/>
                </a:solidFill>
                <a:latin typeface="Glacial Indifference Bold"/>
                <a:ea typeface="Glacial Indifference Bold"/>
                <a:cs typeface="Glacial Indifference Bold"/>
                <a:sym typeface="Glacial Indifference Bold"/>
              </a:rPr>
              <a:t>Further Research</a:t>
            </a:r>
          </a:p>
        </p:txBody>
      </p:sp>
      <p:grpSp>
        <p:nvGrpSpPr>
          <p:cNvPr name="Group 15" id="15"/>
          <p:cNvGrpSpPr/>
          <p:nvPr/>
        </p:nvGrpSpPr>
        <p:grpSpPr>
          <a:xfrm rot="0">
            <a:off x="1786806" y="2987547"/>
            <a:ext cx="573153" cy="57315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17" id="17"/>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2</a:t>
              </a:r>
            </a:p>
          </p:txBody>
        </p:sp>
      </p:grpSp>
      <p:grpSp>
        <p:nvGrpSpPr>
          <p:cNvPr name="Group 18" id="18"/>
          <p:cNvGrpSpPr/>
          <p:nvPr/>
        </p:nvGrpSpPr>
        <p:grpSpPr>
          <a:xfrm rot="0">
            <a:off x="1786806" y="3665475"/>
            <a:ext cx="573153" cy="57315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0" id="20"/>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3</a:t>
              </a:r>
            </a:p>
          </p:txBody>
        </p:sp>
      </p:grpSp>
      <p:grpSp>
        <p:nvGrpSpPr>
          <p:cNvPr name="Group 21" id="21"/>
          <p:cNvGrpSpPr/>
          <p:nvPr/>
        </p:nvGrpSpPr>
        <p:grpSpPr>
          <a:xfrm rot="0">
            <a:off x="1786806" y="4343402"/>
            <a:ext cx="573153" cy="57315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3" id="23"/>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4</a:t>
              </a:r>
            </a:p>
          </p:txBody>
        </p:sp>
      </p:grpSp>
      <p:grpSp>
        <p:nvGrpSpPr>
          <p:cNvPr name="Group 24" id="24"/>
          <p:cNvGrpSpPr/>
          <p:nvPr/>
        </p:nvGrpSpPr>
        <p:grpSpPr>
          <a:xfrm rot="0">
            <a:off x="1786806" y="5074476"/>
            <a:ext cx="573153" cy="57315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6" id="26"/>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5</a:t>
              </a:r>
            </a:p>
          </p:txBody>
        </p:sp>
      </p:grpSp>
      <p:grpSp>
        <p:nvGrpSpPr>
          <p:cNvPr name="Group 27" id="27"/>
          <p:cNvGrpSpPr/>
          <p:nvPr/>
        </p:nvGrpSpPr>
        <p:grpSpPr>
          <a:xfrm rot="0">
            <a:off x="1786806" y="5809553"/>
            <a:ext cx="573153" cy="57315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E9A"/>
            </a:solidFill>
          </p:spPr>
        </p:sp>
        <p:sp>
          <p:nvSpPr>
            <p:cNvPr name="TextBox 29" id="29"/>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6</a:t>
              </a:r>
            </a:p>
          </p:txBody>
        </p:sp>
      </p:grpSp>
      <p:grpSp>
        <p:nvGrpSpPr>
          <p:cNvPr name="Group 30" id="30"/>
          <p:cNvGrpSpPr/>
          <p:nvPr/>
        </p:nvGrpSpPr>
        <p:grpSpPr>
          <a:xfrm rot="0">
            <a:off x="1786806" y="6487481"/>
            <a:ext cx="573153" cy="57315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F9A"/>
            </a:solidFill>
          </p:spPr>
        </p:sp>
        <p:sp>
          <p:nvSpPr>
            <p:cNvPr name="TextBox 32" id="32"/>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7</a:t>
              </a:r>
            </a:p>
          </p:txBody>
        </p:sp>
      </p:grpSp>
      <p:grpSp>
        <p:nvGrpSpPr>
          <p:cNvPr name="Group 33" id="33"/>
          <p:cNvGrpSpPr/>
          <p:nvPr/>
        </p:nvGrpSpPr>
        <p:grpSpPr>
          <a:xfrm rot="0">
            <a:off x="1786806" y="7222558"/>
            <a:ext cx="573153" cy="573153"/>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F9A"/>
            </a:solidFill>
          </p:spPr>
        </p:sp>
        <p:sp>
          <p:nvSpPr>
            <p:cNvPr name="TextBox 35" id="35"/>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8</a:t>
              </a:r>
            </a:p>
          </p:txBody>
        </p:sp>
      </p:grpSp>
      <p:grpSp>
        <p:nvGrpSpPr>
          <p:cNvPr name="Group 36" id="36"/>
          <p:cNvGrpSpPr/>
          <p:nvPr/>
        </p:nvGrpSpPr>
        <p:grpSpPr>
          <a:xfrm rot="0">
            <a:off x="1786806" y="7921495"/>
            <a:ext cx="573153" cy="57315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4D24"/>
            </a:solidFill>
          </p:spPr>
        </p:sp>
        <p:sp>
          <p:nvSpPr>
            <p:cNvPr name="TextBox 38" id="38"/>
            <p:cNvSpPr txBox="true"/>
            <p:nvPr/>
          </p:nvSpPr>
          <p:spPr>
            <a:xfrm>
              <a:off x="76200" y="76200"/>
              <a:ext cx="660400" cy="660400"/>
            </a:xfrm>
            <a:prstGeom prst="rect">
              <a:avLst/>
            </a:prstGeom>
          </p:spPr>
          <p:txBody>
            <a:bodyPr anchor="ctr" rtlCol="false" tIns="50800" lIns="50800" bIns="50800" rIns="50800"/>
            <a:lstStyle/>
            <a:p>
              <a:pPr algn="ctr">
                <a:lnSpc>
                  <a:spcPts val="2231"/>
                </a:lnSpc>
              </a:pPr>
              <a:r>
                <a:rPr lang="en-US" b="true" sz="1992" spc="39">
                  <a:solidFill>
                    <a:srgbClr val="FFFFFF"/>
                  </a:solidFill>
                  <a:latin typeface="Glacial Indifference Bold"/>
                  <a:ea typeface="Glacial Indifference Bold"/>
                  <a:cs typeface="Glacial Indifference Bold"/>
                  <a:sym typeface="Glacial Indifference Bold"/>
                </a:rPr>
                <a:t>9</a:t>
              </a:r>
            </a:p>
          </p:txBody>
        </p:sp>
      </p:grpSp>
      <p:pic>
        <p:nvPicPr>
          <p:cNvPr name="Picture 39" id="39"/>
          <p:cNvPicPr>
            <a:picLocks noChangeAspect="true"/>
          </p:cNvPicPr>
          <p:nvPr/>
        </p:nvPicPr>
        <p:blipFill>
          <a:blip r:embed="rId2"/>
          <a:stretch>
            <a:fillRect/>
          </a:stretch>
        </p:blipFill>
        <p:spPr>
          <a:xfrm rot="0">
            <a:off x="5718054" y="312264"/>
            <a:ext cx="5116406" cy="1620195"/>
          </a:xfrm>
          <a:prstGeom prst="rect">
            <a:avLst/>
          </a:prstGeom>
        </p:spPr>
      </p:pic>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862314"/>
            <a:ext cx="7028710" cy="1704975"/>
          </a:xfrm>
          <a:prstGeom prst="rect">
            <a:avLst/>
          </a:prstGeom>
        </p:spPr>
        <p:txBody>
          <a:bodyPr anchor="t" rtlCol="false" tIns="0" lIns="0" bIns="0" rIns="0">
            <a:spAutoFit/>
          </a:bodyPr>
          <a:lstStyle/>
          <a:p>
            <a:pPr algn="l" marL="0" indent="0" lvl="0">
              <a:lnSpc>
                <a:spcPts val="6720"/>
              </a:lnSpc>
              <a:spcBef>
                <a:spcPct val="0"/>
              </a:spcBef>
            </a:pPr>
            <a:r>
              <a:rPr lang="en-US" b="true" sz="5600">
                <a:solidFill>
                  <a:srgbClr val="000000"/>
                </a:solidFill>
                <a:latin typeface="Glacial Indifference Bold"/>
                <a:ea typeface="Glacial Indifference Bold"/>
                <a:cs typeface="Glacial Indifference Bold"/>
                <a:sym typeface="Glacial Indifference Bold"/>
              </a:rPr>
              <a:t>Recommendations for Further Research</a:t>
            </a:r>
          </a:p>
        </p:txBody>
      </p:sp>
      <p:sp>
        <p:nvSpPr>
          <p:cNvPr name="TextBox 3" id="3"/>
          <p:cNvSpPr txBox="true"/>
          <p:nvPr/>
        </p:nvSpPr>
        <p:spPr>
          <a:xfrm rot="0">
            <a:off x="1028700" y="4394834"/>
            <a:ext cx="8684322" cy="4863466"/>
          </a:xfrm>
          <a:prstGeom prst="rect">
            <a:avLst/>
          </a:prstGeom>
        </p:spPr>
        <p:txBody>
          <a:bodyPr anchor="t" rtlCol="false" tIns="0" lIns="0" bIns="0" rIns="0">
            <a:spAutoFit/>
          </a:bodyPr>
          <a:lstStyle/>
          <a:p>
            <a:pPr algn="l" marL="582927" indent="-291463" lvl="1">
              <a:lnSpc>
                <a:spcPts val="4319"/>
              </a:lnSpc>
              <a:spcBef>
                <a:spcPct val="0"/>
              </a:spcBef>
              <a:buFont typeface="Arial"/>
              <a:buChar char="•"/>
            </a:pPr>
            <a:r>
              <a:rPr lang="en-US" sz="2699" spc="53">
                <a:solidFill>
                  <a:srgbClr val="000000"/>
                </a:solidFill>
                <a:latin typeface="Glacial Indifference"/>
                <a:ea typeface="Glacial Indifference"/>
                <a:cs typeface="Glacial Indifference"/>
                <a:sym typeface="Glacial Indifference"/>
              </a:rPr>
              <a:t>Consider more features for the model when predicting soil moisture (e.g. top soil temperature) when modelling future projections.</a:t>
            </a:r>
          </a:p>
          <a:p>
            <a:pPr algn="l" marL="582927" indent="-291463" lvl="1">
              <a:lnSpc>
                <a:spcPts val="4319"/>
              </a:lnSpc>
              <a:spcBef>
                <a:spcPct val="0"/>
              </a:spcBef>
              <a:buFont typeface="Arial"/>
              <a:buChar char="•"/>
            </a:pPr>
            <a:r>
              <a:rPr lang="en-US" sz="2699" spc="53">
                <a:solidFill>
                  <a:srgbClr val="000000"/>
                </a:solidFill>
                <a:latin typeface="Glacial Indifference"/>
                <a:ea typeface="Glacial Indifference"/>
                <a:cs typeface="Glacial Indifference"/>
                <a:sym typeface="Glacial Indifference"/>
              </a:rPr>
              <a:t>Remove the winter months before rerunning the model to focus on crop-growing seasons.</a:t>
            </a:r>
          </a:p>
          <a:p>
            <a:pPr algn="l" marL="582927" indent="-291463" lvl="1">
              <a:lnSpc>
                <a:spcPts val="4319"/>
              </a:lnSpc>
              <a:spcBef>
                <a:spcPct val="0"/>
              </a:spcBef>
              <a:buFont typeface="Arial"/>
              <a:buChar char="•"/>
            </a:pPr>
            <a:r>
              <a:rPr lang="en-US" sz="2699" spc="53">
                <a:solidFill>
                  <a:srgbClr val="000000"/>
                </a:solidFill>
                <a:latin typeface="Glacial Indifference"/>
                <a:ea typeface="Glacial Indifference"/>
                <a:cs typeface="Glacial Indifference"/>
                <a:sym typeface="Glacial Indifference"/>
              </a:rPr>
              <a:t>How might rising temperatures affect other industries?</a:t>
            </a:r>
          </a:p>
          <a:p>
            <a:pPr algn="l" marL="582927" indent="-291463" lvl="1">
              <a:lnSpc>
                <a:spcPts val="4319"/>
              </a:lnSpc>
              <a:spcBef>
                <a:spcPct val="0"/>
              </a:spcBef>
              <a:buFont typeface="Arial"/>
              <a:buChar char="•"/>
            </a:pPr>
            <a:r>
              <a:rPr lang="en-US" sz="2699" spc="53">
                <a:solidFill>
                  <a:srgbClr val="000000"/>
                </a:solidFill>
                <a:latin typeface="Glacial Indifference"/>
                <a:ea typeface="Glacial Indifference"/>
                <a:cs typeface="Glacial Indifference"/>
                <a:sym typeface="Glacial Indifference"/>
              </a:rPr>
              <a:t>Expand the area of analysis to a wider range of geographical coordinates.</a:t>
            </a:r>
          </a:p>
        </p:txBody>
      </p:sp>
      <p:sp>
        <p:nvSpPr>
          <p:cNvPr name="AutoShape 4" id="4"/>
          <p:cNvSpPr/>
          <p:nvPr/>
        </p:nvSpPr>
        <p:spPr>
          <a:xfrm rot="0">
            <a:off x="9713022" y="0"/>
            <a:ext cx="8574978" cy="10287000"/>
          </a:xfrm>
          <a:prstGeom prst="rect">
            <a:avLst/>
          </a:prstGeom>
          <a:solidFill>
            <a:srgbClr val="FFFFFF"/>
          </a:solidFill>
        </p:spPr>
      </p:sp>
      <p:sp>
        <p:nvSpPr>
          <p:cNvPr name="Freeform 5" id="5"/>
          <p:cNvSpPr/>
          <p:nvPr/>
        </p:nvSpPr>
        <p:spPr>
          <a:xfrm flipH="false" flipV="false" rot="0">
            <a:off x="11636650" y="5334000"/>
            <a:ext cx="4158699" cy="3924300"/>
          </a:xfrm>
          <a:custGeom>
            <a:avLst/>
            <a:gdLst/>
            <a:ahLst/>
            <a:cxnLst/>
            <a:rect r="r" b="b" t="t" l="l"/>
            <a:pathLst>
              <a:path h="3924300" w="4158699">
                <a:moveTo>
                  <a:pt x="0" y="0"/>
                </a:moveTo>
                <a:lnTo>
                  <a:pt x="4158700" y="0"/>
                </a:lnTo>
                <a:lnTo>
                  <a:pt x="4158700" y="3924300"/>
                </a:lnTo>
                <a:lnTo>
                  <a:pt x="0" y="3924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753850" y="1028700"/>
            <a:ext cx="3924300" cy="3924300"/>
          </a:xfrm>
          <a:custGeom>
            <a:avLst/>
            <a:gdLst/>
            <a:ahLst/>
            <a:cxnLst/>
            <a:rect r="r" b="b" t="t" l="l"/>
            <a:pathLst>
              <a:path h="3924300" w="3924300">
                <a:moveTo>
                  <a:pt x="0" y="0"/>
                </a:moveTo>
                <a:lnTo>
                  <a:pt x="3924300" y="0"/>
                </a:lnTo>
                <a:lnTo>
                  <a:pt x="3924300" y="3924300"/>
                </a:lnTo>
                <a:lnTo>
                  <a:pt x="0" y="3924300"/>
                </a:lnTo>
                <a:lnTo>
                  <a:pt x="0" y="0"/>
                </a:lnTo>
                <a:close/>
              </a:path>
            </a:pathLst>
          </a:custGeom>
          <a:blipFill>
            <a:blip r:embed="rId4"/>
            <a:stretch>
              <a:fillRect l="0" t="0" r="0" b="0"/>
            </a:stretch>
          </a:blipFill>
        </p:spPr>
      </p:sp>
      <p:sp>
        <p:nvSpPr>
          <p:cNvPr name="TextBox 7" id="7"/>
          <p:cNvSpPr txBox="true"/>
          <p:nvPr/>
        </p:nvSpPr>
        <p:spPr>
          <a:xfrm rot="0">
            <a:off x="17259300" y="983137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253439"/>
                </a:solidFill>
                <a:latin typeface="Glacial Indifference Bold"/>
                <a:ea typeface="Glacial Indifference Bold"/>
                <a:cs typeface="Glacial Indifference Bold"/>
                <a:sym typeface="Glacial Indifference Bold"/>
              </a:rPr>
              <a:t>1</a:t>
            </a: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343033" y="423189"/>
            <a:ext cx="0" cy="815143"/>
          </a:xfrm>
          <a:prstGeom prst="line">
            <a:avLst/>
          </a:prstGeom>
          <a:ln cap="flat" w="47625">
            <a:solidFill>
              <a:srgbClr val="206648"/>
            </a:solidFill>
            <a:prstDash val="solid"/>
            <a:headEnd type="none" len="sm" w="sm"/>
            <a:tailEnd type="none" len="sm" w="sm"/>
          </a:ln>
        </p:spPr>
      </p:sp>
      <p:sp>
        <p:nvSpPr>
          <p:cNvPr name="TextBox 3" id="3"/>
          <p:cNvSpPr txBox="true"/>
          <p:nvPr/>
        </p:nvSpPr>
        <p:spPr>
          <a:xfrm rot="0">
            <a:off x="17259300" y="9831378"/>
            <a:ext cx="1448155"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Glacial Indifference Bold"/>
                <a:ea typeface="Glacial Indifference Bold"/>
                <a:cs typeface="Glacial Indifference Bold"/>
                <a:sym typeface="Glacial Indifference Bold"/>
              </a:rPr>
              <a:t>1</a:t>
            </a:r>
          </a:p>
        </p:txBody>
      </p:sp>
      <p:sp>
        <p:nvSpPr>
          <p:cNvPr name="TextBox 4" id="4"/>
          <p:cNvSpPr txBox="true"/>
          <p:nvPr/>
        </p:nvSpPr>
        <p:spPr>
          <a:xfrm rot="0">
            <a:off x="543127" y="549148"/>
            <a:ext cx="15990534" cy="479552"/>
          </a:xfrm>
          <a:prstGeom prst="rect">
            <a:avLst/>
          </a:prstGeom>
        </p:spPr>
        <p:txBody>
          <a:bodyPr anchor="t" rtlCol="false" tIns="0" lIns="0" bIns="0" rIns="0">
            <a:spAutoFit/>
          </a:bodyPr>
          <a:lstStyle/>
          <a:p>
            <a:pPr algn="l">
              <a:lnSpc>
                <a:spcPts val="3604"/>
              </a:lnSpc>
            </a:pPr>
            <a:r>
              <a:rPr lang="en-US" sz="3400" b="true">
                <a:solidFill>
                  <a:srgbClr val="253439"/>
                </a:solidFill>
                <a:latin typeface="Glacial Indifference Bold"/>
                <a:ea typeface="Glacial Indifference Bold"/>
                <a:cs typeface="Glacial Indifference Bold"/>
                <a:sym typeface="Glacial Indifference Bold"/>
              </a:rPr>
              <a:t>References</a:t>
            </a:r>
          </a:p>
        </p:txBody>
      </p:sp>
      <p:sp>
        <p:nvSpPr>
          <p:cNvPr name="TextBox 5" id="5"/>
          <p:cNvSpPr txBox="true"/>
          <p:nvPr/>
        </p:nvSpPr>
        <p:spPr>
          <a:xfrm rot="0">
            <a:off x="343033" y="1581838"/>
            <a:ext cx="17240630" cy="4378706"/>
          </a:xfrm>
          <a:prstGeom prst="rect">
            <a:avLst/>
          </a:prstGeom>
        </p:spPr>
        <p:txBody>
          <a:bodyPr anchor="t" rtlCol="false" tIns="0" lIns="0" bIns="0" rIns="0">
            <a:spAutoFit/>
          </a:bodyPr>
          <a:lstStyle/>
          <a:p>
            <a:pPr algn="l" marL="345441" indent="-172721" lvl="1">
              <a:lnSpc>
                <a:spcPts val="1792"/>
              </a:lnSpc>
              <a:buFont typeface="Arial"/>
              <a:buChar char="•"/>
            </a:pPr>
            <a:r>
              <a:rPr lang="en-US" sz="1600" spc="32">
                <a:solidFill>
                  <a:srgbClr val="000000"/>
                </a:solidFill>
                <a:latin typeface="Glacial Indifference"/>
                <a:ea typeface="Glacial Indifference"/>
                <a:cs typeface="Glacial Indifference"/>
                <a:sym typeface="Glacial Indifference"/>
              </a:rPr>
              <a:t>D. Hillel, 2005. Thermal Properties And Processes. In: Encyclopedia of Soils in the Environment. Elsevier. Pages: 156-163. ISBN 9780123485304. https://doi.org/10.1016/B0-12-348530-4/00523-3.</a:t>
            </a:r>
          </a:p>
          <a:p>
            <a:pPr algn="l">
              <a:lnSpc>
                <a:spcPts val="1792"/>
              </a:lnSpc>
            </a:pPr>
          </a:p>
          <a:p>
            <a:pPr algn="l" marL="345441" indent="-172721" lvl="1">
              <a:lnSpc>
                <a:spcPts val="1792"/>
              </a:lnSpc>
              <a:buFont typeface="Arial"/>
              <a:buChar char="•"/>
            </a:pPr>
            <a:r>
              <a:rPr lang="en-US" sz="1600" spc="32">
                <a:solidFill>
                  <a:srgbClr val="000000"/>
                </a:solidFill>
                <a:latin typeface="Glacial Indifference"/>
                <a:ea typeface="Glacial Indifference"/>
                <a:cs typeface="Glacial Indifference"/>
                <a:sym typeface="Glacial Indifference"/>
              </a:rPr>
              <a:t>European Centre for Medium-Range Weather Forecasts, no date. ERA5 climate reanalysis data documentation. [online] ECMWF. Available at: https://confluence.ecmwf.int/pages/viewpage.action?pageId=197702790 [Accessed 25 Mar. 2025].</a:t>
            </a:r>
          </a:p>
          <a:p>
            <a:pPr algn="l">
              <a:lnSpc>
                <a:spcPts val="1792"/>
              </a:lnSpc>
            </a:pPr>
          </a:p>
          <a:p>
            <a:pPr algn="l" marL="345441" indent="-172721" lvl="1">
              <a:lnSpc>
                <a:spcPts val="1792"/>
              </a:lnSpc>
              <a:buFont typeface="Arial"/>
              <a:buChar char="•"/>
            </a:pPr>
            <a:r>
              <a:rPr lang="en-US" sz="1600" spc="32">
                <a:solidFill>
                  <a:srgbClr val="000000"/>
                </a:solidFill>
                <a:latin typeface="Glacial Indifference"/>
                <a:ea typeface="Glacial Indifference"/>
                <a:cs typeface="Glacial Indifference"/>
                <a:sym typeface="Glacial Indifference"/>
              </a:rPr>
              <a:t>European Environment Agency, 2021. Soil moisture deficit. [online]. Available at: https://www.eea.europa.eu/en/analysis/indicators/soil-moisture-deficit?activeAccordion=ecdb3bcf-bbe9-4978-b5cf-0b136399d9f8.</a:t>
            </a:r>
          </a:p>
          <a:p>
            <a:pPr algn="l">
              <a:lnSpc>
                <a:spcPts val="1792"/>
              </a:lnSpc>
            </a:pPr>
          </a:p>
          <a:p>
            <a:pPr algn="l" marL="345441" indent="-172721" lvl="1">
              <a:lnSpc>
                <a:spcPts val="1792"/>
              </a:lnSpc>
              <a:buFont typeface="Arial"/>
              <a:buChar char="•"/>
            </a:pPr>
            <a:r>
              <a:rPr lang="en-US" sz="1600" spc="32">
                <a:solidFill>
                  <a:srgbClr val="000000"/>
                </a:solidFill>
                <a:latin typeface="Glacial Indifference"/>
                <a:ea typeface="Glacial Indifference"/>
                <a:cs typeface="Glacial Indifference"/>
                <a:sym typeface="Glacial Indifference"/>
              </a:rPr>
              <a:t>IPCC, 2013. Summary for Policymakers. In: Stocker, T.F., Qin, D., Plattner, G.-K., Tignor, M., Allen, S.K., Boschung, J., Nauels, A., Xia, Y., Bex, V. and Midgley, P.M. (eds.) Climate Change 2013: The Physical Science Basis. Contribution of Working Group I to the Fifth Assessment Report of the Intergovernmental Panel on Climate Change. Cambridge: Cambridge University Press.</a:t>
            </a:r>
          </a:p>
          <a:p>
            <a:pPr algn="l">
              <a:lnSpc>
                <a:spcPts val="1792"/>
              </a:lnSpc>
            </a:pPr>
          </a:p>
          <a:p>
            <a:pPr algn="l" marL="345441" indent="-172721" lvl="1">
              <a:lnSpc>
                <a:spcPts val="1792"/>
              </a:lnSpc>
              <a:buFont typeface="Arial"/>
              <a:buChar char="•"/>
            </a:pPr>
            <a:r>
              <a:rPr lang="en-US" sz="1600" spc="32">
                <a:solidFill>
                  <a:srgbClr val="000000"/>
                </a:solidFill>
                <a:latin typeface="Glacial Indifference"/>
                <a:ea typeface="Glacial Indifference"/>
                <a:cs typeface="Glacial Indifference"/>
                <a:sym typeface="Glacial Indifference"/>
              </a:rPr>
              <a:t>IPCC, 2021. Summary for Policymakers. In: Climate Change 2021: The Physical Science Basis. Contribution of Working Group I to the Sixth Assessment Report of the Intergovernmental Panel on Climate Change. Cambridge University Press. https://www.ipcc.ch/report/ar6/wg1/.</a:t>
            </a:r>
          </a:p>
          <a:p>
            <a:pPr algn="l">
              <a:lnSpc>
                <a:spcPts val="1792"/>
              </a:lnSpc>
            </a:pPr>
          </a:p>
          <a:p>
            <a:pPr algn="l" marL="345441" indent="-172721" lvl="1">
              <a:lnSpc>
                <a:spcPts val="1792"/>
              </a:lnSpc>
              <a:buFont typeface="Arial"/>
              <a:buChar char="•"/>
            </a:pPr>
            <a:r>
              <a:rPr lang="en-US" sz="1600" spc="32">
                <a:solidFill>
                  <a:srgbClr val="000000"/>
                </a:solidFill>
                <a:latin typeface="Glacial Indifference"/>
                <a:ea typeface="Glacial Indifference"/>
                <a:cs typeface="Glacial Indifference"/>
                <a:sym typeface="Glacial Indifference"/>
              </a:rPr>
              <a:t>Qian, B., De Jong, R., Gameda, S., Huffman, T., &amp; Neilsen, D. (2010). Temporal and spatial patterns of soil temperature in Canada. Agriculture, Ecosystems &amp; Environment, 138(3-4), 373–382. https://doi.org/10.1016/j.agee.2010.05.013</a:t>
            </a:r>
          </a:p>
          <a:p>
            <a:pPr algn="l">
              <a:lnSpc>
                <a:spcPts val="1792"/>
              </a:lnSpc>
            </a:pPr>
          </a:p>
          <a:p>
            <a:pPr algn="l" marL="345441" indent="-172721" lvl="1">
              <a:lnSpc>
                <a:spcPts val="1792"/>
              </a:lnSpc>
              <a:buFont typeface="Arial"/>
              <a:buChar char="•"/>
            </a:pPr>
            <a:r>
              <a:rPr lang="en-US" sz="1600" spc="32">
                <a:solidFill>
                  <a:srgbClr val="000000"/>
                </a:solidFill>
                <a:latin typeface="Glacial Indifference"/>
                <a:ea typeface="Glacial Indifference"/>
                <a:cs typeface="Glacial Indifference"/>
                <a:sym typeface="Glacial Indifference"/>
              </a:rPr>
              <a:t>Saxton, K. E., &amp; Rawls, W. J. (2006). Soil water characteristic estimates by texture and organic matter for hydrologic solutions. Soil Science Society of America Journal, 70(5), 1569–1578.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DAGhsoCOptI</dc:identifier>
  <dcterms:modified xsi:type="dcterms:W3CDTF">2011-08-01T06:04:30Z</dcterms:modified>
  <cp:revision>1</cp:revision>
  <dc:title>EEDS_Project2_Group2</dc:title>
</cp:coreProperties>
</file>